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SI秒的重新定义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alibri Light"/>
              </a:defRPr>
            </a:pPr>
            <a:r>
              <a:t>   意义 · 进程 · 条件 · 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 Light"/>
              </a:defRPr>
            </a:pPr>
            <a:r>
              <a:t>聚焦光钟与比对实验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基于 sci-logic-kb 知识库及 2024-2026 最新进展 |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报告主线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一条逻辑线贯穿始终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01168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秒为什么重要？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SI基石单位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8920"/>
            <a:ext cx="2743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286000"/>
            <a:ext cx="2011680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为什么要重定义？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Cs已达极限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788920"/>
            <a:ext cx="274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2286000"/>
            <a:ext cx="2011680" cy="109728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路线图与判据？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CCTF 10条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788920"/>
            <a:ext cx="274320" cy="36576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286000"/>
            <a:ext cx="201168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现在到哪了？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判据满足状态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788920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2286000"/>
            <a:ext cx="2011680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挑战与展望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核光钟未来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秒：SI体系的基石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7个基本单位中，6个溯源至秒 | 2018年量子计量革命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9184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米 (m)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95728"/>
            <a:ext cx="3291840" cy="10058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c·ΔνCs⁻¹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时间 + 光速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2918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0299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千克 (kg)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395728"/>
            <a:ext cx="3291840" cy="10058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468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B8A6"/>
                </a:solidFill>
                <a:latin typeface="Microsoft YaHei"/>
              </a:defRPr>
            </a:pPr>
            <a:r>
              <a:t>h·ΔνCs·c⁻²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基布尔秤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2011680"/>
            <a:ext cx="3291840" cy="384048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20299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安培 (A)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2395728"/>
            <a:ext cx="3291840" cy="10058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8" y="2468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CCC00"/>
                </a:solidFill>
                <a:latin typeface="Microsoft YaHei"/>
              </a:defRPr>
            </a:pPr>
            <a:r>
              <a:t>e·ΔνCs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单电子泵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3291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75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开尔文 (K)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41648"/>
            <a:ext cx="3291840" cy="10058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ΔνCs·h/k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E=hν=kT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3657600"/>
            <a:ext cx="32918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675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坎德拉 (cd)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4041648"/>
            <a:ext cx="3291840" cy="10058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A855F7"/>
                </a:solidFill>
                <a:latin typeface="Microsoft YaHei"/>
              </a:defRPr>
            </a:pPr>
            <a:r>
              <a:t>Kcd·h·ΔνCs²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频率→辐射功率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3657600"/>
            <a:ext cx="32918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3675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摩尔 (mol)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4041648"/>
            <a:ext cx="3291840" cy="10058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8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Nₐ (独立)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唯一不溯源秒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86400"/>
            <a:ext cx="11247120" cy="36576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CC00"/>
                </a:solidFill>
                <a:latin typeface="Microsoft YaHei"/>
              </a:defRPr>
            </a:pPr>
            <a:r>
              <a:t>2018 SI重新定义: 实物基准 → 基本物理常数 → 量子技术主导计量学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为什么需要重新定义秒？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Cs微波秒已达量子极限 — 光钟已精确200-500倍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当前 Cs 微波秒 (1967–)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ΔνCs = 9,192,631,770 Hz (9.2 GHz)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最佳Cs喷泉钟: ~2×10⁻¹⁶ (FO2-Cs)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已触及量子投影噪声极限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EF4444"/>
                </a:solidFill>
                <a:latin typeface="Microsoft YaHei"/>
              </a:defRPr>
            </a:pPr>
            <a:r>
              <a:t>→ 无法再有数量级提升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光学频率标准 (未来)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Al⁺ 量子逻辑钟: 5.5×10⁻¹⁹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Sr 光晶格钟: 8×10⁻¹⁹ (JILA 2024)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频率比测量: ≤3.2×10⁻¹⁸ (BACON 2025)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22C55E"/>
                </a:solidFill>
                <a:latin typeface="Microsoft YaHei"/>
              </a:defRPr>
            </a:pPr>
            <a:r>
              <a:t>→ 比Cs钟精确 200-500倍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CCC00"/>
                </a:solidFill>
                <a:latin typeface="Microsoft YaHei"/>
              </a:defRPr>
            </a:pPr>
            <a:r>
              <a:t>不确定度提升:  2×10⁻¹⁶  →  8×10⁻¹⁹  →  10⁻²⁰(目标)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重定义路线图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CCTF / CGPM — 从2016到2030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41732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第1版</a:t>
            </a:r>
            <a:br/>
            <a:r>
              <a:t>路线图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651760"/>
            <a:ext cx="228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286000"/>
            <a:ext cx="141732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工作组</a:t>
            </a:r>
            <a:br/>
            <a:r>
              <a:t>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651760"/>
            <a:ext cx="228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2286000"/>
            <a:ext cx="141732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发布</a:t>
            </a:r>
            <a:br/>
            <a:r>
              <a:t>强制判据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228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2286000"/>
            <a:ext cx="141732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Dimarcq</a:t>
            </a:r>
            <a:br/>
            <a:r>
              <a:t>路线图论文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2651760"/>
            <a:ext cx="228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286000"/>
            <a:ext cx="141732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CCTF评估</a:t>
            </a:r>
            <a:br/>
            <a:r>
              <a:t>确认2030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651760"/>
            <a:ext cx="228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2286000"/>
            <a:ext cx="14173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CGPM #28</a:t>
            </a:r>
            <a:br/>
            <a:r>
              <a:t>提交草案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2651760"/>
            <a:ext cx="228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2286000"/>
            <a:ext cx="141732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237744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2030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3749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CGPM #29</a:t>
            </a:r>
            <a:br/>
            <a:r>
              <a:t>批准新定义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29768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CCC00"/>
                </a:solidFill>
                <a:latin typeface="Microsoft YaHei"/>
              </a:defRPr>
            </a:pPr>
            <a:r>
              <a:t>三个候选方案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方案1（最受关注）: 选单一光学跃迁替代 ΔνCs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方案2: 多跃迁频率的加权几何平均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方案3: 固定另一基本常数 (目前不现实)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强制性判据 (CCTF 2022/2024)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5条频率标准 + 5条时频传递 — 全部必须满足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972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02920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频率标准条件 I.1–I.5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时频传递条件 II.1–II.5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≥3种光钟, 不确定度 &lt;2×10⁻¹⁸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国家/大陆尺度可互比, &lt;5×10⁻¹⁸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≥5个频率比, 每≥2次验证, &lt;5×10⁻¹⁸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至少部分钟跨机构已验证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≥3次OFS与TAI/Cs比对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大地水准面差已知到&lt;5×10⁻¹⁸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≥5台OFS对TAI常态贡献 ≥1年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T/F链路支持5×10⁻¹⁸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光钟TRL&gt;4, 连续运行&gt;10天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T/F链路TRL&gt;6, 连续&gt;30天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判据满足状态 — CCTF 2025 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🟢 已满足  🟡 接近  🔴 未满足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4592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097280"/>
                <a:gridCol w="365760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判据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当前进展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主要瓶颈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I.1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≥3种钟&lt;2×10⁻¹⁸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 8×10⁻¹⁹,Al⁺ 5.5×10⁻¹⁹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系统不一致性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I.2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≥5频率比&lt;5×10⁻¹⁸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BACON 3比≤3.2×10⁻¹⁸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Sr偏差~10⁻¹⁶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I.3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OFS vs TAI比对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多NMI已启动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TAI噪声限制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I.4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OFS贡献TAI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OFS未常态化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可靠性不足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I.5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TRL&gt;4,&gt;10天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可搬运钟已演示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工程化待提升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II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时频传递条件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光纤达10⁻¹⁹级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大地水准面精度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主要光钟类型与最佳性能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光晶格钟 / 单离子钟 / 核光钟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9659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⁸⁷Sr</a:t>
            </a:r>
            <a:br/>
            <a:r>
              <a:t>光晶格钟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965960" cy="13716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JILA: 8×10⁻¹⁹</a:t>
            </a:r>
            <a:br/>
            <a:r>
              <a:t>NTSC: 4.8×10⁻¹⁸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011680"/>
            <a:ext cx="1965960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1031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¹⁷¹Yb</a:t>
            </a:r>
            <a:br/>
            <a:r>
              <a:t>光晶格钟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3108960"/>
            <a:ext cx="1965960" cy="13716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2918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NIST: ~1×10⁻¹⁸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011680"/>
            <a:ext cx="1965960" cy="109728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1031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²⁷Al⁺</a:t>
            </a:r>
            <a:br/>
            <a:r>
              <a:t>量子逻辑钟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3108960"/>
            <a:ext cx="1965960" cy="13716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2918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NIST: 5.5×10⁻¹⁹</a:t>
            </a:r>
            <a:br/>
            <a:r>
              <a:t>(当前最佳!)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011680"/>
            <a:ext cx="196596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1031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¹⁷¹Yb⁺ E3</a:t>
            </a:r>
            <a:br/>
            <a:r>
              <a:t>单离子钟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3108960"/>
            <a:ext cx="1965960" cy="13716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2918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PTB: ~3×10⁻¹⁸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011680"/>
            <a:ext cx="1965960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1031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²²⁹Th</a:t>
            </a:r>
            <a:br/>
            <a:r>
              <a:t>核光钟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108960"/>
            <a:ext cx="1965960" cy="13716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32918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JILA 2024:</a:t>
            </a:r>
            <a:br/>
            <a:r>
              <a:t>概念验证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光钟不确定度进化史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2008 → 2025: 从 10⁻¹⁸ 到 10⁻¹⁹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4592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828800"/>
                <a:gridCol w="274320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钟型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实验室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系统不确定度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里程碑意义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Al⁺量子逻辑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8.6×10⁻¹⁸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离子光钟首达10⁻¹⁸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2014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Sr光晶格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JILA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6.4×10⁻¹⁸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Sr钟进入10⁻¹⁸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Sr光晶格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JILA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2.1×10⁻¹⁸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首次突破2×10⁻¹⁸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Sr光晶格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JILA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2.0×10⁻¹⁸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BBR建模改进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Al⁺/Yb/Sr BACON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NIST+JILA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6-8×10⁻¹⁸(比)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首次三钟网络比对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Sr光晶格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JILA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8×10⁻¹⁹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三维晶格+低温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Al⁺/Yb/Sr BACON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NIST+JILA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≤3.2×10⁻¹⁸(比)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低温Si腔参考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BACON: Boulder光钟网络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三种原子 · 光纤+自由空间 · 世界最精确频率比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16459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FCCC00"/>
                </a:solidFill>
                <a:latin typeface="Microsoft YaHei"/>
              </a:defRPr>
            </a:pPr>
            <a:r>
              <a:t>三台光钟:  Al⁺ (NIST)  ·  Yb (NIST)  ·  Sr (JILA, 1.5km外)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比对链路:  3.6 km 光纤  +  1.5 km 自由空间双向飞秒激光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2025升级:  低温单晶Si腔 → 共同超稳参考 → 比对速度提升 2-3倍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0728655" cy="25603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101800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22C55E"/>
                </a:solidFill>
                <a:latin typeface="Microsoft YaHei"/>
              </a:defRPr>
            </a:pPr>
            <a:r>
              <a:t>2025 频率比测量结果 (arXiv:2512.21428)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400" b="0">
                <a:solidFill>
                  <a:srgbClr val="CBD5E1"/>
                </a:solidFill>
                <a:latin typeface="Microsoft YaHei"/>
              </a:defRPr>
            </a:pPr>
            <a:r>
              <a:t>  Al⁺ / Yb :  ≤ 3.2 × 10⁻¹⁸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CBD5E1"/>
                </a:solidFill>
                <a:latin typeface="Microsoft YaHei"/>
              </a:defRPr>
            </a:pPr>
            <a:r>
              <a:t>  Al⁺ / Sr :  ≤ 3.2 × 10⁻¹⁸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CBD5E1"/>
                </a:solidFill>
                <a:latin typeface="Microsoft YaHei"/>
              </a:defRPr>
            </a:pPr>
            <a:r>
              <a:t>  Yb  / Sr :  ≤ 3.2 × 10⁻¹⁸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EF4444"/>
                </a:solidFill>
                <a:latin typeface="Microsoft YaHei"/>
              </a:defRPr>
            </a:pPr>
            <a:r>
              <a:t>  ⚠️ Sr频率比存在 ~1×10⁻¹⁶ 偏差 — 必须在重定义前解决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国际光钟比对活动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全球协调 — 满足判据 I.2 和 II.1 的必由之路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45920"/>
          <a:ext cx="114300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011680"/>
                <a:gridCol w="274320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网络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参与方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钟类型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比对方式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成果/精度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BACON (美)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NIST+JILA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Al⁺,Yb,Sr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光纤+自由空间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≤3.2×10⁻¹⁸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欧洲光纤网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PTB,SYRTE,...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Sr,Yb⁺,Cs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光纤2220km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~10⁻¹⁷级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PTB Yb⁺/Sr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PTB (德)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Yb⁺E3,Sr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本地直比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2.5×10⁻¹⁷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RIKEN (日)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RIKEN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Sr(可搬运)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晴空塔450m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~5×10⁻¹⁸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NTSC (中)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授时中心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Sr(NimSrI)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本地双钟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4.8×10⁻¹⁸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VLBI 洲际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INAF+NICT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Sr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VLBI 9000km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2-4×10⁻¹⁶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时频传递 — 比对的物理桥梁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光纤 vs 自由空间 — 两条互补的技术路线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光纤相干传递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31546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PTB↔MPQ: 920km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  MDEV 5×10⁻¹⁵@1s → 1×10⁻¹⁸@&lt;1000s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SYRTE↔PTB: 1415km 国际链路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1400km Brillouin放大: 残余10⁻²⁰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NTSC: 112-490km 城市/噪声链路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22C55E"/>
                </a:solidFill>
                <a:latin typeface="Microsoft YaHei"/>
              </a:defRPr>
            </a:pPr>
            <a:r>
              <a:t>已成熟 — 大陆尺度无问题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自由空间 O-TWTFT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31546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BACON: 1.5km, &lt;1×10⁻¹⁸@1000s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强湍流12km: TDEV ~165as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UWA 2.4km: 6.1×10⁻²¹@300s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中国113km: CLS增强探测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运动平台: 四旋翼&lt;1fs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14B8A6"/>
                </a:solidFill>
                <a:latin typeface="Microsoft YaHei"/>
              </a:defRPr>
            </a:pPr>
            <a:r>
              <a:t>发展中 — 远程跨海方案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最大瓶颈: 大地水准面 (30-50cm → 3-5×10⁻¹⁷) — 需cm级全球模型才能实现10⁻¹⁸比对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核心挑战: 系统不一致性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CCTF 2025 — 必须在2030年前解决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Sr光钟频率比偏差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CCC00"/>
                </a:solidFill>
                <a:latin typeface="Microsoft YaHei"/>
              </a:defRPr>
            </a:pPr>
            <a:r>
              <a:t>~1×10⁻¹⁶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3291840" cy="13716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BACON 2021 vs 2025</a:t>
            </a:r>
            <a:br/>
            <a:r>
              <a:t>BBR/晶格/碰撞效应?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011680"/>
            <a:ext cx="329184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Al⁺/Yb频率比偏差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651760"/>
            <a:ext cx="3291840" cy="457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CCC00"/>
                </a:solidFill>
                <a:latin typeface="Microsoft YaHei"/>
              </a:defRPr>
            </a:pPr>
            <a:r>
              <a:t>~1.5×10⁻¹⁷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108960"/>
            <a:ext cx="3291840" cy="13716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3246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BACON 2025 vs 2021</a:t>
            </a:r>
            <a:br/>
            <a:r>
              <a:t>不明系统效应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2011680"/>
            <a:ext cx="329184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8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Yb⁺/Sr长期波动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2651760"/>
            <a:ext cx="3291840" cy="457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8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CCC00"/>
                </a:solidFill>
                <a:latin typeface="Microsoft YaHei"/>
              </a:defRPr>
            </a:pPr>
            <a:r>
              <a:t>&gt;10⁻¹⁷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3108960"/>
            <a:ext cx="3291840" cy="13716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8" y="3246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PTB 2012-2019</a:t>
            </a:r>
            <a:br/>
            <a:r>
              <a:t>107次,原因不明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10728655" cy="21945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97680"/>
            <a:ext cx="101800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CCTF 应对: 扩大国际比对 · 公开不确定度预算 · BBR/碰撞重点排查 · 晶格模式优化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EF4444"/>
                </a:solidFill>
                <a:latin typeface="Microsoft YaHei"/>
              </a:defRPr>
            </a:pPr>
            <a:r>
              <a:t>时间表:  2030年 CGPM 投票前必须解决 — 否则无法满足 I.2 一致性判据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核光钟 — 下一代频率标准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²²⁹Th: 唯一激光可及核跃迁, Q~2×10¹⁹, 理论不确定度 10⁻²⁰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为什么是核跃迁?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核比原子小10⁵倍 → 环境敏感度极低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电子壳层天然屏蔽外部电磁场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核电磁矩极小于原子 → 频移极小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²²⁹Th 关键参数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5029200" cy="17830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激发能 8.36 eV ≈ 148.38 nm (VUV)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寿命641s,线宽~100μHz,Q~2×10¹⁹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α敏感度 K=5900 (远超原子钟!)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50292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离子阱方案 (Th³⁺)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83480"/>
            <a:ext cx="5029200" cy="1143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最纯净,自然线宽~100μHz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预计不确定度10⁻¹⁹或更好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80560"/>
            <a:ext cx="5029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526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固态方案 (Th⁴⁺:CaF₂)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983480"/>
            <a:ext cx="5029200" cy="1143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07492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10¹⁵个核量子发射体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紧凑/可搬运,Lamb-Dicke囚禁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核光钟 2024-2026 突破性进展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从概念验证到核心技术突破 — 中国在光源领域的世界级贡献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" y="1645920"/>
          <a:ext cx="116128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828800"/>
                <a:gridCol w="3200400"/>
                <a:gridCol w="45720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期刊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团队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2024.04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PRL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PTB/TU Wien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脉冲FWM+荧光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首次激光激发核跃迁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2024.09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Nature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JILA (Ye)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Zhang et al.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VUV频率梳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第7次谐波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首次核-原子钟频率比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2025.07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arXiv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清华 丁世谦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莫宇翔等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Cd蒸气FWM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CW 148nm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首个窄线宽CW VUV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线宽提升5个量级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2026.02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Nature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清华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Tian/Ding/Mo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空间分辨零差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&gt;100nW &lt;100Hz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NSFC: "攻破最后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核心瓶颈"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2026.02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Nature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JILA (Ye)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Ooi et al.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VUV梳+温控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196K最优温度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固态复现性1.1×10⁻¹³</a:t>
                      </a:r>
                    </a:p>
                    <a:p>
                      <a:pPr algn="ctr">
                        <a:defRPr sz="9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系统化表征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中国的光钟与比对能力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国家授时中心 (NTSC) — 国际第二梯队前列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45920"/>
          <a:ext cx="113385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097280"/>
                <a:gridCol w="274320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机构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关键指标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地位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NimSrI Sr光晶格钟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NTSC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4.8×10⁻¹⁸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亚洲领先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⁴⁰Ca⁺双离子钟比对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WIPM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10⁻¹⁷级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亚洲首个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490km光纤传递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NTSC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496km噪声链路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国际先进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113km自由空间DCS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NTSC/USTC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CLS增强0.1nW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全球最远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5分支全PM NALM梳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NTSC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5.5×10⁻¹⁹@4000s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接近国际先进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优势: 光纤梳+光纤传递+自由空间DCS自主可控 | 差距: 尚未参与国际比对网络,多类型光钟积累薄弱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总结: 通向2030的路线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光钟技术已足够精确 — 系统可靠性、比对一致性和TAI集成仍需努力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9184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已达成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29184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光钟 8×10⁻¹⁹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BACON频率比 ≤3.2×10⁻¹⁸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光纤链路达10⁻¹⁹级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可搬运钟已演示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核光钟概念验证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286000"/>
            <a:ext cx="329184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进行中 ⚠️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2926080"/>
            <a:ext cx="329184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系统不一致性排查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频率比独立验证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OFS对TAI贡献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大地水准面精度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光钟工程化TRL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2286000"/>
            <a:ext cx="32918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8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2030前要做 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2926080"/>
            <a:ext cx="329184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8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扩大国际比对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解决系统偏差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选择重定义方案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确定候选跃迁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  •  CGPM投票批准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2026 CGPM 提交草案  →  2030 CGPM 正式批准  →  过渡期(数年)  →  光秒时代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数据来源: sci-logic-kb | BIPM/CCTF | BACON | arXiv | Nature/PRL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https://github.com/hjiang555-a11y/presentation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