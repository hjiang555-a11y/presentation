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1371600"/>
                <a:ext cx="12191695" cy="32004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371600"/>
                <a:ext cx="12191695" cy="457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914400" y="2103120"/>
                <a:ext cx="10058400" cy="914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42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第五部分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914400" y="3200400"/>
                <a:ext cx="10058400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0">
                    <a:solidFill>
                      <a:srgbClr val="CBD5E1"/>
                    </a:solidFill>
                    <a:latin typeface="Calibri Light"/>
                  </a:defRPr>
                </a:pPr>
                <a:r>
                  <a:t>光钟比对中的频率梳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22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914400" y="4572000"/>
                <a:ext cx="10058400" cy="548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光频除法器 · 钟频测量 · 比对桥梁 · OFD微波生成 · TAI贡献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频率梳: 光钟的"齿轮箱"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光频 (~500 THz) → 微波 (~10 GHz) 的频率下转换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23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31520" y="1828800"/>
                <a:ext cx="5029200" cy="5029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6868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为什么光钟需要OFC?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31520" y="2331720"/>
                <a:ext cx="5029200" cy="17830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68680" y="2423160"/>
                <a:ext cx="4754880" cy="1600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光钟频率(~10¹⁴Hz)无法被电子器件计数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OFC桥接: 光钟↔梳齿拍频→f_beat(~20-80MHz)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f_beat可被电子器件计数</a:t>
                </a:r>
              </a:p>
              <a:p>
                <a:pPr algn="l">
                  <a:spcAft>
                    <a:spcPts val="400"/>
                  </a:spcAft>
                  <a:defRPr sz="2200" b="0">
                    <a:solidFill>
                      <a:srgbClr val="FCCC00"/>
                    </a:solidFill>
                    <a:latin typeface="Microsoft YaHei"/>
                  </a:defRPr>
                </a:pPr>
                <a:r>
                  <a:t>光钟绝对频率 = n×f_rep ± f_beat ± f_CEO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400800" y="1828800"/>
                <a:ext cx="5029200" cy="502920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53796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梳在光钟测量链中的四重角色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400800" y="2331720"/>
                <a:ext cx="5029200" cy="17830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537960" y="2423160"/>
                <a:ext cx="4754880" cy="1600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① 绝对频率测量: 梳↔Cs/TAI → Hz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② 频率比测量: 共同梳↔两钟 → 无量纲比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③ 光→微波下转换: OFD → 超低噪声微波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④ TAI校准: 光钟→梳→TAI链路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731520" y="4572000"/>
                <a:ext cx="10728655" cy="16459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005840" y="4663440"/>
                <a:ext cx="10180015" cy="1463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400" b="1">
                    <a:solidFill>
                      <a:srgbClr val="FCCC00"/>
                    </a:solidFill>
                    <a:latin typeface="Microsoft YaHei"/>
                  </a:defRPr>
                </a:pPr>
                <a:r>
                  <a:t>光频率分频 (OFD):  ν_opt / N = f_rep  (N~10⁴-10⁵)</a:t>
                </a:r>
              </a:p>
              <a:p>
                <a:pPr algn="l">
                  <a:spcAft>
                    <a:spcPts val="400"/>
                  </a:spcAft>
                  <a:defRPr sz="22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σ_y(f_rep) ≈ σ_y(ν_opt) — 稳定度在除法中理论上不退化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梳中介的光钟比对方案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五种方案 — 从本地到远程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24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31520" y="2011680"/>
                <a:ext cx="2468880" cy="5029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22960" y="2057400"/>
                <a:ext cx="2286000" cy="411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方案1: 共同时钟激光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31520" y="2514600"/>
                <a:ext cx="2468880" cy="9144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22960" y="2606040"/>
                <a:ext cx="2286000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共享同一超稳激光</a:t>
                </a:r>
                <a:br/>
                <a:r>
                  <a:t>BACON 2025方案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731520" y="3429000"/>
                <a:ext cx="2468880" cy="91440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822960" y="3520440"/>
                <a:ext cx="2286000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300" b="0">
                    <a:solidFill>
                      <a:srgbClr val="FCCC00"/>
                    </a:solidFill>
                    <a:latin typeface="Microsoft YaHei"/>
                  </a:defRPr>
                </a:pPr>
                <a:r>
                  <a:t>3.6km光纤分发至三钟</a:t>
                </a:r>
                <a:br/>
                <a:r>
                  <a:t>比对1.3×10⁻¹⁶@1s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566160" y="2011680"/>
                <a:ext cx="2468880" cy="502920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657600" y="2057400"/>
                <a:ext cx="2286000" cy="411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方案2: 共同频率梳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566160" y="2514600"/>
                <a:ext cx="2468880" cy="9144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657600" y="2606040"/>
                <a:ext cx="2286000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一个梳连接两台钟</a:t>
                </a:r>
                <a:br/>
                <a:r>
                  <a:t>共模噪声自抵消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566160" y="3429000"/>
                <a:ext cx="2468880" cy="91440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657600" y="3520440"/>
                <a:ext cx="2286000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300" b="0">
                    <a:solidFill>
                      <a:srgbClr val="FCCC00"/>
                    </a:solidFill>
                    <a:latin typeface="Microsoft YaHei"/>
                  </a:defRPr>
                </a:pPr>
                <a:r>
                  <a:t>适用于同实验室</a:t>
                </a:r>
                <a:br/>
                <a:r>
                  <a:t>本地比对</a:t>
                </a: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6400800" y="2011680"/>
                <a:ext cx="2468880" cy="502920"/>
              </a:xfrm>
              <a:prstGeom prst="rect">
                <a:avLst/>
              </a:prstGeom>
              <a:solidFill>
                <a:srgbClr val="FCCC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492240" y="2057400"/>
                <a:ext cx="2286000" cy="411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方案3: 双向光纤链路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6400800" y="2514600"/>
                <a:ext cx="2468880" cy="9144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6492240" y="2606040"/>
                <a:ext cx="2286000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光钟→梳→光纤→接收端</a:t>
                </a:r>
                <a:br/>
                <a:r>
                  <a:t>相位噪声主动补偿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6400800" y="3429000"/>
                <a:ext cx="2468880" cy="91440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492240" y="3520440"/>
                <a:ext cx="2286000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300" b="0">
                    <a:solidFill>
                      <a:srgbClr val="FCCC00"/>
                    </a:solidFill>
                    <a:latin typeface="Microsoft YaHei"/>
                  </a:defRPr>
                </a:pPr>
                <a:r>
                  <a:t>大陆尺度(&gt;1000km)</a:t>
                </a:r>
                <a:br/>
                <a:r>
                  <a:t>不确定度10⁻¹⁹级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9235440" y="2011680"/>
                <a:ext cx="2468880" cy="502920"/>
              </a:xfrm>
              <a:prstGeom prst="rect">
                <a:avLst/>
              </a:prstGeom>
              <a:solidFill>
                <a:srgbClr val="F59E0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9326880" y="2057400"/>
                <a:ext cx="2286000" cy="411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方案4: 自由空间O-TWTFT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9235440" y="2514600"/>
                <a:ext cx="2468880" cy="9144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9326880" y="2606040"/>
                <a:ext cx="2286000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双梳飞秒激光双向传递</a:t>
                </a:r>
                <a:br/>
                <a:r>
                  <a:t>大气湍流被动抵消</a:t>
                </a: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9235440" y="3429000"/>
                <a:ext cx="2468880" cy="91440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9326880" y="3520440"/>
                <a:ext cx="2286000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300" b="0">
                    <a:solidFill>
                      <a:srgbClr val="FCCC00"/>
                    </a:solidFill>
                    <a:latin typeface="Microsoft YaHei"/>
                  </a:defRPr>
                </a:pPr>
                <a:r>
                  <a:t>1.5km(BACON)</a:t>
                </a:r>
                <a:br/>
                <a:r>
                  <a:t>~1×10⁻¹⁸@1000s</a:t>
                </a: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731520" y="4114800"/>
                <a:ext cx="10728655" cy="5029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868680" y="4160520"/>
                <a:ext cx="10454335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核心结论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731520" y="4617720"/>
                <a:ext cx="10728655" cy="17830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868680" y="4709160"/>
                <a:ext cx="10454335" cy="1600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400" b="0">
                    <a:solidFill>
                      <a:srgbClr val="22C55E"/>
                    </a:solidFill>
                    <a:latin typeface="Microsoft YaHei"/>
                  </a:defRPr>
                </a:pPr>
                <a:r>
                  <a:t>梳不再是多光钟比对的限制因素</a:t>
                </a:r>
              </a:p>
              <a:p>
                <a:pPr algn="l">
                  <a:spcAft>
                    <a:spcPts val="400"/>
                  </a:spcAft>
                  <a:defRPr sz="22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真正限制: 光钟自身的系统不确定度评估和远程传递链路</a:t>
                </a:r>
              </a:p>
              <a:p>
                <a:pPr algn="l">
                  <a:spcAft>
                    <a:spcPts val="400"/>
                  </a:spcAft>
                  <a:defRPr sz="22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梳的稳定度(10⁻¹⁹-10⁻²²)已全面超越光钟比对的10⁻¹⁸需求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OFD: 光学→微波的相干下转换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将光钟稳定度"复制"到微波 — 比任何电子振荡器更低的噪声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25</a:t>
                </a:r>
              </a:p>
            </p:txBody>
          </p:sp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182880" y="1645920"/>
              <a:ext cx="11064240" cy="17556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1600"/>
                    <a:gridCol w="1188720"/>
                    <a:gridCol w="1645920"/>
                    <a:gridCol w="2286000"/>
                    <a:gridCol w="2286000"/>
                    <a:gridCol w="2286000"/>
                  </a:tblGrid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2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系统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2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载波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2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10GHz 相噪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2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定时抖动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2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σ_y@1s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2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机构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Fortier 2011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10GHz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-104@1Hz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760as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≤8×10⁻¹⁶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NIST Ti:Sa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Fortier 2013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10GHz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-171@1Hz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&lt;500as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—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NIST MUTC PD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Xie 2016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10GHz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&lt;-173@1Hz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&lt;41zs/√Hz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&lt;6.5×10⁻¹⁶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SYRTE/Menlo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Giunta 2020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10GHz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-171@1Hz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—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—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NPL/Menlo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Kudelin 2024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20GHz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-96@100Hz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—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—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0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芯片OFD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8" name="TextBox 7"/>
              <p:cNvSpPr txBox="1"/>
              <p:nvPr/>
            </p:nvSpPr>
            <p:spPr>
              <a:xfrm>
                <a:off x="731520" y="4754880"/>
                <a:ext cx="10728655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1">
                    <a:solidFill>
                      <a:srgbClr val="FCCC00"/>
                    </a:solidFill>
                    <a:latin typeface="Microsoft YaHei"/>
                  </a:defRPr>
                </a:pPr>
                <a:r>
                  <a:t>OFD 对SI秒的意义: 超低噪声微波 → 替代传统微波综合器驱动Cs喷泉钟 → 满足判据I.3的关键技术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1371600"/>
                <a:ext cx="12191695" cy="32004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371600"/>
                <a:ext cx="12191695" cy="457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914400" y="2103120"/>
                <a:ext cx="10058400" cy="914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42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第六部分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914400" y="3200400"/>
                <a:ext cx="10058400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0">
                    <a:solidFill>
                      <a:srgbClr val="CBD5E1"/>
                    </a:solidFill>
                    <a:latin typeface="Calibri Light"/>
                  </a:defRPr>
                </a:pPr>
                <a:r>
                  <a:t>远程比对中的频率梳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26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914400" y="4572000"/>
                <a:ext cx="10058400" cy="548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双梳光谱 · 自由空间O-TWTFT · 光纤传递 · 天文光梳 · 卫星/VLBI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双梳光谱学 (Dual-Comb Spectroscopy)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两台相干梳 → 无需移动部件的傅里叶变换光谱仪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27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31520" y="1828800"/>
                <a:ext cx="5029200" cy="5029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6868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双梳光谱原理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31520" y="2331720"/>
                <a:ext cx="5029200" cy="22402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68680" y="2423160"/>
                <a:ext cx="4754880" cy="2057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两梳f_rep略有差异: Δf_rep ~100Hz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两梳空间重合→时域多外差拍频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单次采集=1/Δf_rep (毫秒级!)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无扫描部件,频率轴直接梳校准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FCCC00"/>
                    </a:solidFill>
                    <a:latin typeface="Microsoft YaHei"/>
                  </a:defRPr>
                </a:pPr>
                <a:r>
                  <a:t>速度比FTIR快10⁴-10⁶倍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400800" y="1828800"/>
                <a:ext cx="5029200" cy="502920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53796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代表成果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400800" y="2331720"/>
                <a:ext cx="5029200" cy="22402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537960" y="2423160"/>
                <a:ext cx="4754880" cy="2057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Coddington 2010: 首个相干DCS,SNR 2500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Coburn 2018: 野外CH₄检测1.6g/min@1km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Ycas 2019: 中红外VOC,品质因数1.2×10⁶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FCCC00"/>
                    </a:solidFill>
                    <a:latin typeface="Microsoft YaHei"/>
                  </a:defRPr>
                </a:pPr>
                <a:r>
                  <a:t>Han 2024 (中国): 113km长程DCS,CO₂&lt;2ppm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自由空间双梳时频传递 (O-TWTFT)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光学双向时间频率传递 — 通过大气连接远程光钟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28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31520" y="1828800"/>
                <a:ext cx="5029200" cy="5029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6868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O-TWTFT 原理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31520" y="2331720"/>
                <a:ext cx="5029200" cy="17830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68680" y="2423160"/>
                <a:ext cx="4754880" cy="1600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基于光路互易性: 前向=后向延迟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双梳线性光学采样(LOS)→fs级时序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大气湍流噪声通过双向对称抵消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无需光纤基础设施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400800" y="1828800"/>
                <a:ext cx="5029200" cy="502920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53796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关键性能指标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400800" y="2331720"/>
                <a:ext cx="5029200" cy="17830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537960" y="2423160"/>
                <a:ext cx="4754880" cy="1600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Giorgetta 2013: ~1fs TDEV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Sinclair 2016: 强湍流12km,165as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Bodine 2020: 三节点自由空间网络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FCCC00"/>
                    </a:solidFill>
                    <a:latin typeface="Microsoft YaHei"/>
                  </a:defRPr>
                </a:pPr>
                <a:r>
                  <a:t>Fang 2026: CLS增强,探测0.1nW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731520" y="4389120"/>
                <a:ext cx="5029200" cy="502920"/>
              </a:xfrm>
              <a:prstGeom prst="rect">
                <a:avLst/>
              </a:prstGeom>
              <a:solidFill>
                <a:srgbClr val="22C55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868680" y="443484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O-TWTFT发展路线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731520" y="4892040"/>
                <a:ext cx="5029200" cy="13258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868680" y="4983480"/>
                <a:ext cx="4754880" cy="1143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近程&lt;10km: 技术成熟,TDEV&lt;1fs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中程10-100km: CLS算法,113km已演示(中国)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远程&gt;100km: 中继+自适应光学→未来LEO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光纤频率传递中的光频梳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梳作为链路两端的频率锚点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29</a:t>
                </a:r>
              </a:p>
            </p:txBody>
          </p:sp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182880" y="1645920"/>
              <a:ext cx="11521440" cy="1463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/>
                    <a:gridCol w="1371600"/>
                    <a:gridCol w="1645920"/>
                    <a:gridCol w="3200400"/>
                    <a:gridCol w="3657600"/>
                  </a:tblGrid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链路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距离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MDEV@1s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不确定度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梳角色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Predehl 2012 PTB-MPQ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920km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5×10⁻¹⁵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(-0.7±3.7)×10⁻¹⁹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两端频率参考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Guéna 2017 SYRTE-PTB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1415km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—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~5×10⁻¹⁷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梳↔Cs喷泉+光钟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Raupach 2015 Brillouin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1400km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—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(1.1±0.4)×10⁻²⁰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稳定传输载波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NTSC光纤网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112-490km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~10⁻¹⁵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—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多节点频率参考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8" name="TextBox 7"/>
              <p:cNvSpPr txBox="1"/>
              <p:nvPr/>
            </p:nvSpPr>
            <p:spPr>
              <a:xfrm>
                <a:off x="731520" y="4572000"/>
                <a:ext cx="10728655" cy="1371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1">
                    <a:solidFill>
                      <a:srgbClr val="FCCC00"/>
                    </a:solidFill>
                    <a:latin typeface="Microsoft YaHei"/>
                  </a:defRPr>
                </a:pPr>
                <a:r>
                  <a:t>梳的双重角色: 发送端下转光钟频率,接收端再生原始频率 | 光纤链路已达10⁻¹⁹级, 梳不再是远程比对瓶颈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天文光梳 — 系外行星搜索的终极校准器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将视向速度精度从 m/s 提升到 cm/s → 发现类地行星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30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31520" y="1828800"/>
                <a:ext cx="5029200" cy="5029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6868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天文光梳需求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31520" y="2331720"/>
                <a:ext cx="5029200" cy="17830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68680" y="2423160"/>
                <a:ext cx="4754880" cy="1600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系外行星RV信号&lt;10cm/s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需梳齿间距≥10GHz(光谱仪可分辨)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传统校准源(Th-Ar,I₂):~1m/s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22C55E"/>
                    </a:solidFill>
                    <a:latin typeface="Microsoft YaHei"/>
                  </a:defRPr>
                </a:pPr>
                <a:r>
                  <a:t>OFC: 数百万绝对频率已知的梳齿 → 理想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400800" y="1828800"/>
                <a:ext cx="5029200" cy="502920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53796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代表系统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400800" y="2331720"/>
                <a:ext cx="5029200" cy="17830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537960" y="2423160"/>
                <a:ext cx="4754880" cy="1600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Ycas 2012: 25GHz近红外→HET望远镜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Suh 2019: 微腔天文梳→Keck II/NIRSPEC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Metcalf 2019: 30GHz EO+SiN→HPF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FCCC00"/>
                    </a:solidFill>
                    <a:latin typeface="Microsoft YaHei"/>
                  </a:defRPr>
                </a:pPr>
                <a:r>
                  <a:t>Cheng 2024: 连续UV-蓝绿→390-520nm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31520" y="4572000"/>
                <a:ext cx="10728655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1">
                    <a:solidFill>
                      <a:srgbClr val="FCCC00"/>
                    </a:solidFill>
                    <a:latin typeface="Microsoft YaHei"/>
                  </a:defRPr>
                </a:pPr>
                <a:r>
                  <a:t> 已在Keck、HET、HARPS等世界顶级望远镜验证 → 正在成为标准配置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中国光频梳技术发展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国家授时中心 (NTSC) — 全链条自主能力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31</a:t>
                </a:r>
              </a:p>
            </p:txBody>
          </p:sp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182880" y="1645920"/>
              <a:ext cx="11612880" cy="17556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11680"/>
                    <a:gridCol w="1371600"/>
                    <a:gridCol w="1371600"/>
                    <a:gridCol w="3200400"/>
                    <a:gridCol w="3657600"/>
                  </a:tblGrid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成果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机构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年份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关键性能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300" b="1">
                              <a:solidFill>
                                <a:srgbClr val="FFFFFF"/>
                              </a:solidFill>
                              <a:latin typeface="Microsoft YaHei"/>
                            </a:defRPr>
                          </a:pPr>
                          <a:r>
                            <a:t>意义</a:t>
                          </a:r>
                        </a:p>
                      </a:txBody>
                      <a:tcPr>
                        <a:solidFill>
                          <a:srgbClr val="3B82F6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全PM 5分支NALM Er梳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NTSC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2020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5路独立输出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全PM全光纤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4分支钟激光拍频梳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NTSC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2022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5.5×10⁻¹⁹@4000s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多光钟同时服务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超低延迟FPGA数字伺服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NTSC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2025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1.1MHz BW</a:t>
                          </a:r>
                        </a:p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7.3×10⁻¹⁸@1s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国际先进水平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113km自由空间DCS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NTSC/USTC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2024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CO₂&lt;2ppm@5min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全球最远距离</a:t>
                          </a:r>
                        </a:p>
                      </a:txBody>
                      <a:tcPr>
                        <a:solidFill>
                          <a:srgbClr val="183258"/>
                        </a:solidFill>
                      </a:tcPr>
                    </a:tc>
                  </a:tr>
                  <a:tr h="292608"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Sr光钟用光纤梳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NTSC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14-22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698nm&gt;30dB SNR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>
                              <a:solidFill>
                                <a:srgbClr val="CBD5E1"/>
                              </a:solidFill>
                              <a:latin typeface="Microsoft YaHei"/>
                            </a:defRPr>
                          </a:pPr>
                          <a:r>
                            <a:t>NimSrI服务</a:t>
                          </a:r>
                        </a:p>
                      </a:txBody>
                      <a:tcPr>
                        <a:solidFill>
                          <a:srgbClr val="122E52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8" name="TextBox 7"/>
              <p:cNvSpPr txBox="1"/>
              <p:nvPr/>
            </p:nvSpPr>
            <p:spPr>
              <a:xfrm>
                <a:off x="731520" y="5029200"/>
                <a:ext cx="10728655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优势: 光纤梳+光纤传递+自由空间DCS 自主可控 | 差距: Ti:Sa梳和微梳积累薄弱, 未参与国际比对网络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1371600"/>
                <a:ext cx="12191695" cy="32004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371600"/>
                <a:ext cx="12191695" cy="457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914400" y="2103120"/>
                <a:ext cx="10058400" cy="914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42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第七部分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914400" y="3200400"/>
                <a:ext cx="10058400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0">
                    <a:solidFill>
                      <a:srgbClr val="CBD5E1"/>
                    </a:solidFill>
                    <a:latin typeface="Calibri Light"/>
                  </a:defRPr>
                </a:pPr>
                <a:r>
                  <a:t>未来展望与总结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32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914400" y="4572000"/>
                <a:ext cx="10058400" cy="548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微谐振腔梳 · 片上集成 · 量子计量 · AI控制 · 五大驱动力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微谐振腔频率梳 (Microcomb)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耗散Kerr孤子 — 芯片级、电池供电的OFC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33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31520" y="1828800"/>
                <a:ext cx="5029200" cy="5029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6868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微梳核心优势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31520" y="2331720"/>
                <a:ext cx="5029200" cy="22402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68680" y="2423160"/>
                <a:ext cx="4754880" cy="2057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尺寸: 芯片级(μm-mm),比光纤梳小10⁴倍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f_rep: 10GHz-1THz (天然高齿距)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功耗: &lt;100mW (Stern 2018: 电池供电!)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CMOS兼容 → 晶圆级制造,低成本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材料: Si₃N₄,SiO₂,AlGaAs,LiNbO₃,AlN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400800" y="1828800"/>
                <a:ext cx="5029200" cy="502920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53796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微梳关键挑战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400800" y="2331720"/>
                <a:ext cx="5029200" cy="22402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537960" y="2423160"/>
                <a:ext cx="4754880" cy="2057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孤子产生困难: 需精确控制泵浦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相位噪声: 目前高于光纤梳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f_CEO检测: 高f_rep→检测方案需特殊设计</a:t>
                </a:r>
              </a:p>
              <a:p>
                <a:pPr algn="l">
                  <a:spcAft>
                    <a:spcPts val="400"/>
                  </a:spcAft>
                  <a:defRPr sz="600" b="0">
                    <a:solidFill>
                      <a:srgbClr val="FFFFFF"/>
                    </a:solidFill>
                    <a:latin typeface="Microsoft YaHei"/>
                  </a:defRPr>
                </a:pPr>
              </a:p>
              <a:p>
                <a:pPr algn="l">
                  <a:spcAft>
                    <a:spcPts val="400"/>
                  </a:spcAft>
                  <a:defRPr sz="2200" b="1">
                    <a:solidFill>
                      <a:srgbClr val="FCCC00"/>
                    </a:solidFill>
                    <a:latin typeface="Microsoft YaHei"/>
                  </a:defRPr>
                </a:pPr>
                <a:r>
                  <a:t>里程碑: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Li 2017: 倍频程Si₃N₄微梳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Stern 2018: 首个电池供电微梳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Kudelin 2024: 芯片OFD微波振荡器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塑造OFC未来的五大驱动力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从实验室到产业 — OFC正经历"半导体化"革命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34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31520" y="2286000"/>
                <a:ext cx="1965960" cy="82296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22960" y="2377440"/>
                <a:ext cx="1783080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集成化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31520" y="3108960"/>
                <a:ext cx="1965960" cy="18288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22960" y="3291840"/>
                <a:ext cx="1783080" cy="1463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芯片级OFC</a:t>
                </a:r>
                <a:br/>
                <a:r>
                  <a:t>微梳规模化</a:t>
                </a:r>
                <a:br/>
                <a:r>
                  <a:t>CMOS兼容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971800" y="2286000"/>
                <a:ext cx="1965960" cy="822960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063240" y="2377440"/>
                <a:ext cx="1783080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智能化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2971800" y="3108960"/>
                <a:ext cx="1965960" cy="18288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063240" y="3291840"/>
                <a:ext cx="1783080" cy="1463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AI自动控制</a:t>
                </a:r>
                <a:br/>
                <a:r>
                  <a:t>自诊断自恢复</a:t>
                </a:r>
                <a:br/>
                <a:r>
                  <a:t>零人类干预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212080" y="2286000"/>
                <a:ext cx="1965960" cy="822960"/>
              </a:xfrm>
              <a:prstGeom prst="rect">
                <a:avLst/>
              </a:prstGeom>
              <a:solidFill>
                <a:srgbClr val="FCCC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303520" y="2377440"/>
                <a:ext cx="1783080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高频化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5212080" y="3108960"/>
                <a:ext cx="1965960" cy="18288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303520" y="3291840"/>
                <a:ext cx="1783080" cy="1463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GHz→THz f_rep</a:t>
                </a:r>
                <a:br/>
                <a:r>
                  <a:t>天文光梳</a:t>
                </a:r>
                <a:br/>
                <a:r>
                  <a:t>高速双梳</a:t>
                </a: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7452360" y="2286000"/>
                <a:ext cx="1965960" cy="822960"/>
              </a:xfrm>
              <a:prstGeom prst="rect">
                <a:avLst/>
              </a:prstGeom>
              <a:solidFill>
                <a:srgbClr val="F59E0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543800" y="2377440"/>
                <a:ext cx="1783080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极低噪声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7452360" y="3108960"/>
                <a:ext cx="1965960" cy="18288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7543800" y="3291840"/>
                <a:ext cx="1783080" cy="1463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10⁻²²稳定度</a:t>
                </a:r>
                <a:br/>
                <a:r>
                  <a:t>量子极限突破</a:t>
                </a:r>
                <a:br/>
                <a:r>
                  <a:t>zs定时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9692640" y="2286000"/>
                <a:ext cx="1965960" cy="822960"/>
              </a:xfrm>
              <a:prstGeom prst="rect">
                <a:avLst/>
              </a:prstGeom>
              <a:solidFill>
                <a:srgbClr val="A855F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784080" y="2377440"/>
                <a:ext cx="1783080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产业化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9692640" y="3108960"/>
                <a:ext cx="1965960" cy="18288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9784080" y="3291840"/>
                <a:ext cx="1783080" cy="1463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交钥匙系统</a:t>
                </a:r>
                <a:br/>
                <a:r>
                  <a:t>空间级可靠</a:t>
                </a:r>
                <a:br/>
                <a:r>
                  <a:t>多供应商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731520" y="5303520"/>
                <a:ext cx="10728655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FCCC00"/>
                    </a:solidFill>
                    <a:latin typeface="Microsoft YaHei"/>
                  </a:defRPr>
                </a:pPr>
                <a:r>
                  <a:t>未来10-15年: OFC从"博士操作"的精密仪器 → "工程师工具箱标配"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总结 (一): OFC 技术发展全景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25年 — 从诺贝尔奖到芯片级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35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31520" y="1828800"/>
                <a:ext cx="5029200" cy="5029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6868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飞秒激光技术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31520" y="2331720"/>
                <a:ext cx="5029200" cy="251460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68680" y="2423160"/>
                <a:ext cx="4754880" cy="2331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Ti:Sapphire → Er/Yb光纤 → 片上锁模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脉宽: ps→fs→阿秒极限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f_rep: 100MHz→10GHz→1THz(微腔)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功率: mW→W→100W+(CPA)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尺寸: 实验台→机架→芯片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400800" y="1828800"/>
                <a:ext cx="5029200" cy="502920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53796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频率控制与光谱展宽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400800" y="2331720"/>
                <a:ext cx="5029200" cy="251460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537960" y="2423160"/>
                <a:ext cx="4754880" cy="2331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f_CEO: 自由空间f-2f→内联PPLN→片上SiN/AlN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f_rep: 单PZT→EOM+PZT→多参数解耦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稳定度: 10⁻¹⁵→10⁻²²(7个数量级)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展宽: PCF→HNLF→片上(AlN:500-4000nm)</a:t>
                </a:r>
              </a:p>
              <a:p>
                <a:pPr algn="l">
                  <a:spcAft>
                    <a:spcPts val="400"/>
                  </a:spcAft>
                  <a:defRPr sz="18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架构: 单分支→5-8分支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总结 (二): OFC 在光钟比对中的角色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梳的性能已全面超越比对的10⁻¹⁸需求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36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31520" y="1828800"/>
                <a:ext cx="5029200" cy="5029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6868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OFC在比对中的不可或缺角色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31520" y="2331720"/>
                <a:ext cx="5029200" cy="22402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68680" y="2423160"/>
                <a:ext cx="4754880" cy="2057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绝对频率测量: 梳作为光-微波桥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频率比测量: 共同梳共模噪声抵消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光→微波: OFD 超低噪声微波生成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远程传递: 光纤/O-TWTFT 的梳方案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TAI贡献: 梳作为光钟→TAI的桥梁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400800" y="1828800"/>
                <a:ext cx="5029200" cy="502920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53796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关键性能指标一览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400800" y="2331720"/>
                <a:ext cx="5029200" cy="22402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537960" y="2423160"/>
                <a:ext cx="4754880" cy="2057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频率不确定度: 5.4×10⁻²¹ (Giunta 2020)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梳齿等间距: &lt;3×10⁻¹⁷ (Udem 2002)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FCCC00"/>
                    </a:solidFill>
                    <a:latin typeface="Microsoft YaHei"/>
                  </a:defRPr>
                </a:pPr>
                <a:r>
                  <a:t>f_rep稳定度: 7.3×10⁻¹⁸@1s→10⁻²²@10000s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OFD微波10GHz相噪: -177dBc/Hz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纯度传递退化: &lt;3×10⁻¹⁸@1s (Nicolodi)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31520" y="5029200"/>
                <a:ext cx="10728655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FCCC00"/>
                    </a:solidFill>
                    <a:latin typeface="Microsoft YaHei"/>
                  </a:defRPr>
                </a:pPr>
                <a:r>
                  <a:t>核心结论: OFC不再是光钟比对的瓶颈 — 这是过去25年OFC发展的最大成就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0"/>
                <a:ext cx="12191695" cy="118872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1188720"/>
                <a:ext cx="12191695" cy="36576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31520" y="137160"/>
                <a:ext cx="10728655" cy="64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展望: OFC的下一个十年 (2026-2036)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31520" y="685800"/>
                <a:ext cx="10728655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从专家工具到社会基础设施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1247120" y="6446520"/>
                <a:ext cx="73152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200" b="0">
                    <a:solidFill>
                      <a:srgbClr val="94A3B8"/>
                    </a:solidFill>
                    <a:latin typeface="Calibri Light"/>
                  </a:defRPr>
                </a:pPr>
                <a:r>
                  <a:t>37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31520" y="1828800"/>
                <a:ext cx="5029200" cy="50292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6868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2026-2030: SI秒重定义时代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31520" y="2331720"/>
                <a:ext cx="5029200" cy="17830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68680" y="2423160"/>
                <a:ext cx="4754880" cy="1600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OFC成为光钟比对"标配"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梳可靠性和自动化→满足判据I.4/1.5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OFD微波替代传统综合器→光秒过渡期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多梳网络→支撑2030 CGPM投票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400800" y="1828800"/>
                <a:ext cx="5029200" cy="502920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537960" y="1874520"/>
                <a:ext cx="4754880" cy="502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1">
                    <a:solidFill>
                      <a:srgbClr val="FFFFFF"/>
                    </a:solidFill>
                    <a:latin typeface="Microsoft YaHei"/>
                  </a:defRPr>
                </a:pPr>
                <a:r>
                  <a:t>2030-2036: 后重定义时代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400800" y="2331720"/>
                <a:ext cx="5029200" cy="1783080"/>
              </a:xfrm>
              <a:prstGeom prst="rect">
                <a:avLst/>
              </a:prstGeom>
              <a:solidFill>
                <a:srgbClr val="1832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537960" y="2423160"/>
                <a:ext cx="4754880" cy="1600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微梳进入高精度计量领域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芯片OFC在空间和现场应用普及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AI控制的零人类干预OFC网络</a:t>
                </a:r>
              </a:p>
              <a:p>
                <a:pPr algn="l">
                  <a:spcAft>
                    <a:spcPts val="400"/>
                  </a:spcAft>
                  <a:defRPr sz="20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量子增强OFC → 突破标准量子极限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31520" y="4572000"/>
                <a:ext cx="10728655" cy="73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FCCC00"/>
                    </a:solidFill>
                    <a:latin typeface="Microsoft YaHei"/>
                  </a:defRPr>
                </a:pPr>
                <a:r>
                  <a:t>OFC正在经历"半导体化" — 类似1970s激光器→1990s半导体激光器的历史进程</a:t>
                </a:r>
              </a:p>
            </p:txBody>
          </p:sp>
        </p:spTree>
      </p:cSld>
      <p:clrMapOvr>
        <a:masterClrMapping/>
      </p:clrMapOvr>
    </p:sld>
    <p:sld>
      <p:cSld>
        <p:bg>
          <p:bgPr>
            <a:solidFill>
              <a:srgbClr val="0B1D3A"/>
            </a:solidFill>
            <a:effectLst/>
          </p:bgPr>
        </p:bg>
        <p:spTree>
          <p:nvGrpSpPr>
            <p:cNvPr id="1" name=""/>
            <p:cNvGrpSpPr/>
            <p:nvPr/>
          </p:nvGrpSpPr>
          <p:grpSpPr/>
          <p:sp>
            <p:nvSpPr>
              <p:cNvPr id="2" name="Rectangle 1"/>
              <p:cNvSpPr/>
              <p:nvPr/>
            </p:nvSpPr>
            <p:spPr>
              <a:xfrm>
                <a:off x="0" y="1828800"/>
                <a:ext cx="12191695" cy="3200400"/>
              </a:xfrm>
              <a:prstGeom prst="rect">
                <a:avLst/>
              </a:prstGeom>
              <a:solidFill>
                <a:srgbClr val="122E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0" y="5029200"/>
                <a:ext cx="12191695" cy="54864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914400" y="2286000"/>
                <a:ext cx="10058400" cy="914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6000" b="1">
                    <a:solidFill>
                      <a:srgbClr val="FFFFFF"/>
                    </a:solidFill>
                    <a:latin typeface="Calibri Light"/>
                  </a:defRPr>
                </a:pPr>
                <a:r>
                  <a:t>谢谢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914400" y="3657600"/>
                <a:ext cx="10058400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0">
                    <a:solidFill>
                      <a:srgbClr val="94A3B8"/>
                    </a:solidFill>
                    <a:latin typeface="Microsoft YaHei"/>
                  </a:defRPr>
                </a:pPr>
                <a:r>
                  <a:t>数据来源: sci-logic-kb (213篇论文,890节点) | Diddams | Hänsch | Fortier系列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914400" y="4297680"/>
                <a:ext cx="10058400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关键文献: Diddams 2000, Udem 2002, Cundiff&amp;Ye 2003, Fortier 2019, Gaeta 2019, Kippenberg 2018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914400" y="5486400"/>
                <a:ext cx="10058400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0">
                    <a:solidFill>
                      <a:srgbClr val="CBD5E1"/>
                    </a:solidFill>
                    <a:latin typeface="Microsoft YaHei"/>
                  </a:defRPr>
                </a:pPr>
                <a:r>
                  <a:t>https://github.com/hjiang555-a11y/presentation</a:t>
                </a:r>
              </a:p>
            </p:txBody>
          </p:sp>
        </p:spTree>
      </p:cSld>
      <p:clrMapOvr>
        <a:masterClrMapping/>
      </p:clrMapOvr>
    </p:sld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光学频率梳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B82F6"/>
                </a:solidFill>
                <a:latin typeface="Calibri Light"/>
              </a:defRPr>
            </a:pPr>
            <a:r>
              <a:t>   原理 · 飞秒激光 · 频率控制 · 光谱展宽 · 光钟比对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2005诺贝尔物理学奖 (Hall &amp; Hänsch) | 基于 sci-logic-kb 213篇论文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六大板块: 基本原理 → 飞秒激光 → 频率控制 → 光谱展宽 → 光钟比对 → 未来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什么是光学频率梳？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等间距、相位相干的窄线宽光学频率阵列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5029200" cy="4069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时域: 周期性超短脉冲序列 (fs级脉宽)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频域: 数百万根等间距梳齿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  齿距 = 重复频率 f_rep (~100 MHz)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  偏移 = 载波包络偏移 f_CEO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400" b="0">
                <a:solidFill>
                  <a:srgbClr val="FCCC00"/>
                </a:solidFill>
                <a:latin typeface="Microsoft YaHei"/>
              </a:defRPr>
            </a:pPr>
            <a:r>
              <a:t>比喻: 一把精确刻度的"光尺"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  连接光频 (~10¹⁴ Hz) 与微波频 (~10¹⁰ Hz)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0">
                <a:solidFill>
                  <a:srgbClr val="22C55E"/>
                </a:solidFill>
                <a:latin typeface="Microsoft YaHei"/>
              </a:defRPr>
            </a:pPr>
            <a:r>
              <a:t>2005诺贝尔奖: Hall &amp; Hänsch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"对激光精密光谱学的贡献，包括光频梳技术"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革命性意义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48840"/>
            <a:ext cx="5029200" cy="4069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4028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替代谐波频率链: 房间大小→桌面设备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使光钟成为可能: 光频→微波"齿轮箱"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统一电磁频谱: 射频↔光频首次直接连接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催生新学科: 双梳光谱, 阿秒物理, 天文光梳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频率梳基本方程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两个自由度完整描述数百万根梳齿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8655" cy="18288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800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CCC00"/>
                </a:solidFill>
                <a:latin typeface="Microsoft YaHei"/>
              </a:defRPr>
            </a:pPr>
            <a:r>
              <a:t>f_n  =  n × f_rep  +  f_CEO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n: 梳齿序数 (~10⁵–10⁶)  |  f_rep: 重复频率  |  f_CEO: 载波包络偏移频率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f_rep (重复频率)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43400"/>
            <a:ext cx="5029200" cy="1783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v_g / L_cav  (群速度/腔长)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典型: 100 MHz – 10 GHz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控制: EOM(快)+PZT(慢)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84048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8862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f_CEO (偏移频率)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343400"/>
            <a:ext cx="5029200" cy="1783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43484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Δφ_CEO/2π × f_rep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典型: 0–100 MHz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检测: f-2f 自参考干涉法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f-2f 自参考: f_CEO 的检测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2f_n − f_2n = f_CEO — 前提: 梳谱 ≥ 1个光学倍频程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CCC00"/>
                </a:solidFill>
                <a:latin typeface="Microsoft YaHei"/>
              </a:defRPr>
            </a:pPr>
            <a:r>
              <a:t>自参考步骤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① 取低频梳齿 f_n = n·f_rep + f_CEO  (如 2000 nm)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② 倍频(SHG): 2f_n = 2n·f_rep + 2f_CEO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③ 取高频梳齿 f_2n = 2n·f_rep + f_CEO  (如 1000 nm)</a:t>
            </a:r>
          </a:p>
          <a:p>
            <a:pPr algn="l">
              <a:spcAft>
                <a:spcPts val="400"/>
              </a:spcAft>
              <a:defRPr sz="2800" b="0">
                <a:solidFill>
                  <a:srgbClr val="FCCC00"/>
                </a:solidFill>
                <a:latin typeface="Microsoft YaHei"/>
              </a:defRPr>
            </a:pPr>
            <a:r>
              <a:t>④ 拍频: 2f_n − f_2n = f_CEO  ✔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0">
                <a:solidFill>
                  <a:srgbClr val="14B8A6"/>
                </a:solidFill>
                <a:latin typeface="Microsoft YaHei"/>
              </a:defRPr>
            </a:pPr>
            <a:r>
              <a:t>前提条件: 梳谱必须覆盖至少1个光学倍频程 (λ → λ/2)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94A3B8"/>
                </a:solidFill>
                <a:latin typeface="Microsoft YaHei"/>
              </a:defRPr>
            </a:pPr>
            <a:r>
              <a:t>  → 需要超连续谱产生 (PCF/HNLF/片上波导)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实现方式: PCF + PPLN 倍频 | 内联PM-PPLN | SiN波导 | AlN片上χ²+χ³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光频梳的诞生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1999-2000: PCF + 飞秒激光 = 桌面光频计量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645920"/>
          <a:ext cx="116128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2286000"/>
                <a:gridCol w="274320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年代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关键人物/机构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意义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1978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首次提出OFC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Hänsch等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同步泵浦染料激光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概念雏形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1994-96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KLM飞秒激光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MPQ, Bell Labs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Ti:Sapphire KLM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宽带fs光源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1999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PCF 倍频程展宽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Bell Labs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光子晶体光纤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突破: &gt;1octave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1999-00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首台自参考OFC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NIST/MPQ Diddams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PCF + f-2f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5.1×10⁻¹⁶不确定度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首用OFC测光频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 Diddams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300THz梳→Cs钟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光频计量新纪元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2005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诺贝尔物理学奖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Hall &amp; Hänsch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光频梳 + 精密光谱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最高科学荣誉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光频梳技术分类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五种主要技术路线 — 各自适用于不同场景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645920"/>
          <a:ext cx="112471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828800"/>
                <a:gridCol w="274320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路线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增益介质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f_rep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局限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Ti:Sapphire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Ti:Al₂O₃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100MHz-10GHz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谱宽最宽,脉宽最短</a:t>
                      </a:r>
                    </a:p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CEP控制最佳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体积大,需水冷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Er:fiber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掺铒光纤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100-250MHz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1.55μm电信波段</a:t>
                      </a:r>
                    </a:p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全光纤,商用化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脉宽较长,需展宽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Yb:fiber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掺镱光纤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100MHz-1GHz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高功率&gt;100W</a:t>
                      </a:r>
                    </a:p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1μm波段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光谱不如Ti:Sa宽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EO调制梳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电光调制器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10-30GHz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齿距大,功率均</a:t>
                      </a:r>
                    </a:p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结构简单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谱窄,需辅助展宽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微谐振腔梳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Si₃N₄,SiO₂,AlN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10GHz-1THz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片上集成,低功耗</a:t>
                      </a:r>
                    </a:p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CMOS兼容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相噪高,孤子难控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光频梳应用全景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从基础物理到产业应用 — OFC 渗透各前沿领域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56032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光钟计量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2560320" cy="128016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光频↔微波桥</a:t>
            </a:r>
            <a:br/>
            <a:r>
              <a:t>SI秒重定义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560320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双梳光谱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468880"/>
            <a:ext cx="2560320" cy="128016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宽带分子指纹</a:t>
            </a:r>
            <a:br/>
            <a:r>
              <a:t>快速实时检测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2560320" cy="640080"/>
          </a:xfrm>
          <a:prstGeom prst="rect">
            <a:avLst/>
          </a:prstGeom>
          <a:solidFill>
            <a:srgbClr val="FC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天文光梳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468880"/>
            <a:ext cx="2560320" cy="128016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系外行星搜索</a:t>
            </a:r>
            <a:br/>
            <a:r>
              <a:t>视向速度校准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25603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阿秒科学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468880"/>
            <a:ext cx="2560320" cy="128016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606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CEP控制</a:t>
            </a:r>
            <a:br/>
            <a:r>
              <a:t>孤立阿秒脉冲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2560320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测距雷达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46320"/>
            <a:ext cx="2560320" cy="128016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983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nm精度</a:t>
            </a:r>
            <a:br/>
            <a:r>
              <a:t>km级量程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4206240"/>
            <a:ext cx="256032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251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微波光子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4846320"/>
            <a:ext cx="2560320" cy="128016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4983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超低噪声微波</a:t>
            </a:r>
            <a:br/>
            <a:r>
              <a:t>优于任何电子源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206240"/>
            <a:ext cx="256032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51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量子信息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846320"/>
            <a:ext cx="2560320" cy="128016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983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频率纠缠</a:t>
            </a:r>
            <a:br/>
            <a:r>
              <a:t>频域量子门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4206240"/>
            <a:ext cx="256032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251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基础物理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4846320"/>
            <a:ext cx="2560320" cy="128016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4983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常数变化</a:t>
            </a:r>
            <a:br/>
            <a:r>
              <a:t>暗物质搜索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第二部分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 Light"/>
              </a:defRPr>
            </a:pPr>
            <a:r>
              <a:t>飞秒激光技术发展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锁模原理 · Ti:Sapphire · Er/Yb光纤 · NPE/NALM · 紧凑化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锁模: 从连续光到超短脉冲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激光腔纵模相位锁定 → 时域fs脉冲 = 频域频率梳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锁模原理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1783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多纵模激光器各模相位随机→CW输出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锁模: 各纵模以固定相位关系振荡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  → 时域形成周期性超短脉冲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CCC00"/>
                </a:solidFill>
                <a:latin typeface="Microsoft YaHei"/>
              </a:defRPr>
            </a:pPr>
            <a:r>
              <a:t>脉宽 Δτ ∝ 1/Δν_gain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脉冲演化机制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1783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孤子 (Soliton): 反常GVD+SPM平衡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展宽脉冲: 正负色散交替分布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自相似 (Similariton): 正常GVD+SPM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ANDi: 全正常色散,滤波驱动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50292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被动锁模方式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92040"/>
            <a:ext cx="5029200" cy="11430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NPE(非线性偏振演化) / NALM(非线性环镜) / SESAM(半导体可饱和吸收镜)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Ti:Sapphire 飞秒频率梳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最宽带宽、最短脉宽 — 高精度OFC的黄金标准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Ti:Sapphire 激光器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36118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增益介质: Ti³⁺:Al₂O₃ (650-1100nm,&gt;130THz!)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锁模: 克尔透镜锁模 (KLM) — 最快被动机制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脉宽: 5-100fs, f_rep: 80MHz-10GHz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泵浦: 532nm DPSS 激光器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1">
                <a:solidFill>
                  <a:srgbClr val="FCCC00"/>
                </a:solidFill>
                <a:latin typeface="Microsoft YaHei"/>
              </a:defRPr>
            </a:pPr>
            <a:r>
              <a:t>里程碑: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1999: Ranka (Bell Labs) PCF展宽→首台自参考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2000: Diddams (NIST) 首台锁相至Cs钟的OFC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2009: Bartels 10GHz梳→天文光梳先驱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局限与替代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36118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体积大,需水冷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泵浦成本高(需绿光DPSS)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不适合现场/空间应用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1">
                <a:solidFill>
                  <a:srgbClr val="14B8A6"/>
                </a:solidFill>
                <a:latin typeface="Microsoft YaHei"/>
              </a:defRPr>
            </a:pPr>
            <a:r>
              <a:t>→ 推动了光纤OFC的发展: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Er:fiber (1.55μm电信波段)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Yb:fiber (1.0μm高功率)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全光纤,紧凑,抗环境干扰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Er:fiber 光纤频率梳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1.55 μm 电信波段 — 最成熟、最广泛部署的平台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Er:fiber 核心优势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22402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1.55μm → 成熟光纤器件生态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EDFA直接放大,无需固态放大器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全光纤保偏 → 免自由空间对准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已商业化 (Menlo Systems)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空间验证 (TEXUS-51火箭)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关键发展节点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22402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2004: Washburn (NIST) 首个全锁Er梳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2010: Le Coq (SYRTE) 光频除法器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2015: Kuse (NIST) 全PM超低相噪梳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2017: Leopardi (NIST) 3×10⁻¹⁸@1s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2020: Lesko 1GHz交钥匙系统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50292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286000"/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系统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f_rep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锁模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f_CEO SNR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f_beat ADEV@1s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Washburn 2004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~100MHz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NPE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Kuse 2016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~100MHz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NALM figure-9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&lt;0.2rad积分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40as抖动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Leopardi 2017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~100MHz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NPE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3×10⁻¹⁸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Zhang 2022b NTSC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~100MHz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NALM figure-9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&lt;1rad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5.5×10⁻¹⁹@4000s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三种主流被动锁模机制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NPE · NALM · SESAM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29184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非线性偏振演化 NPE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3291840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等效可饱和吸收体</a:t>
            </a:r>
            <a:br/>
            <a:r>
              <a:t>偏振控制器+隔离器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3291840" cy="9144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  <a:latin typeface="Microsoft YaHei"/>
              </a:defRPr>
            </a:pPr>
            <a:r>
              <a:t>结构简单,自启动易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3291840" cy="82296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  <a:latin typeface="Microsoft YaHei"/>
              </a:defRPr>
            </a:pPr>
            <a:r>
              <a:t>偏振敏感,环境不稳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2011680"/>
            <a:ext cx="329184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2057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非线性放大环镜 NALM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2926080"/>
            <a:ext cx="3291840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19" y="3017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Sagnac环非对称耦合</a:t>
            </a:r>
            <a:br/>
            <a:r>
              <a:t>全光纤等效可饱和吸收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4023360"/>
            <a:ext cx="3291840" cy="9144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19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  <a:latin typeface="Microsoft YaHei"/>
              </a:defRPr>
            </a:pPr>
            <a:r>
              <a:t>全PM,免自由空间</a:t>
            </a:r>
            <a:br/>
            <a:r>
              <a:t>极高环境稳定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937760"/>
            <a:ext cx="3291840" cy="82296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9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  <a:latin typeface="Microsoft YaHei"/>
              </a:defRPr>
            </a:pPr>
            <a:r>
              <a:t>需长光纤,参数敏感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598" y="2011680"/>
            <a:ext cx="3291840" cy="914400"/>
          </a:xfrm>
          <a:prstGeom prst="rect">
            <a:avLst/>
          </a:prstGeom>
          <a:solidFill>
            <a:srgbClr val="FC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8" y="2057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半导体可饱和吸收镜</a:t>
            </a:r>
            <a:br/>
            <a:r>
              <a:t>SESAM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8" y="2926080"/>
            <a:ext cx="3291840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8" y="3017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III-V量子阱</a:t>
            </a:r>
            <a:br/>
            <a:r>
              <a:t>带间吸收饱和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8" y="4023360"/>
            <a:ext cx="3291840" cy="9144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8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  <a:latin typeface="Microsoft YaHei"/>
              </a:defRPr>
            </a:pPr>
            <a:r>
              <a:t>最可靠自启动</a:t>
            </a:r>
            <a:br/>
            <a:r>
              <a:t>商业成熟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8" y="4937760"/>
            <a:ext cx="3291840" cy="82296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8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  <a:latin typeface="Microsoft YaHei"/>
              </a:defRPr>
            </a:pPr>
            <a:r>
              <a:t>损伤阈值低</a:t>
            </a:r>
            <a:br/>
            <a:r>
              <a:t>长期退化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NALM (Figure-9) 锁模光纤梳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全保偏 · 全光纤 · 最稳定可靠的光纤OFC架构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NALM 工作原理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22402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非对称耦合器→CW/CCW两路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Sagnac环内不同非线性相移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相位差=π:干涉相长→脉冲通过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14B8A6"/>
                </a:solidFill>
                <a:latin typeface="Microsoft YaHei"/>
              </a:defRPr>
            </a:pPr>
            <a:r>
              <a:t>→ 等效可饱和吸收,无需"真正"SA!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全保偏光纤→偏振稳定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代表性NALM梳系统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22402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Kuse 2016 (NIST): 40as 定时抖动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Ning 2020 (NTSC): 5分支全PM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Zhang 2022b (NTSC): 5.5×10⁻¹⁹@4000s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f_CEO SNR: 35dB, 线宽≤200kHz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f_beat积分相噪: 0.14rad (1Hz-1MHz)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紧凑化与交钥匙光频梳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从实验室专属 → 商业化产品 → 野外/空间部署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645920"/>
          <a:ext cx="114300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3200400"/>
                <a:gridCol w="36576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系统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机构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关键特性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便携式野外梳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2014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全PM SESAM自锁</a:t>
                      </a:r>
                    </a:p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~140THz相干输出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野外光谱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电池供电微梳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Stern et al.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AAA电池 98mW</a:t>
                      </a:r>
                    </a:p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III-V/Si₃N₄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芯片OFC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FPGA数字伺服梳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 Shaw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全数字锁定</a:t>
                      </a:r>
                    </a:p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自诊断自恢复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无人值守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GHz交钥匙Er梳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 Lesko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1GHz,内联PPLN</a:t>
                      </a:r>
                    </a:p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f-2f,全PM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光钟标配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空间级OFC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DLR/Menlo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TEXUS-51火箭</a:t>
                      </a:r>
                    </a:p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Er:fiber自参考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空间计量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舰载光钟梳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 Roslund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舰载振动环境</a:t>
                      </a:r>
                    </a:p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维持锁定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移动平台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第三部分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 Light"/>
              </a:defRPr>
            </a:pPr>
            <a:r>
              <a:t>频率控制技术发展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f_CEO检测 · f_rep控制 · 光学锁定 · 全稳定架构 · 噪声特性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频率控制: 两个自由度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必须同时控制 f_rep 和 f_CEO — 两个输入,两个输出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f_rep 控制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1783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物理: v_g/L_cav (群速度/腔长)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EOM: 高频(~MHz),小行程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PZT: 低频(&lt;kHz),大行程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锁定至: RF参考/GPS/H-maser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f_CEO 控制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1783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物理: Δφ_CEO/2π × f_rep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泵浦电流: 改变脉冲能量→相移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腔内EOM/loss: 辅助调节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检测: f-2f 自参考干涉法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交叉耦合问题: 改变泵浦同时影响f_rep和f_CEO → 需解耦控制或光学锁定消除对f_CEO精确锁定的依赖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光学锁定: f_beat → 超稳 CW 激光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梳齿相位锁定至窄线宽参考 — 最精确的锁定方式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光学锁定原理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22402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梳齿与CW参考激光拍频→f_beat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f_beat锁相至RF参考→该齿=f_CW±f_beat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直接溯源到超稳参考(如ULE腔)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10⁻¹⁵~10⁻¹⁶稳定度直接传递到梳齿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锁定性能 (NTSC NALM梳)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22402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in-loop: 8.5×10⁻¹⁸/√τ @1s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CCC00"/>
                </a:solidFill>
                <a:latin typeface="Microsoft YaHei"/>
              </a:defRPr>
            </a:pPr>
            <a:r>
              <a:t>out-of-loop(多分支互比):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22C55E"/>
                </a:solidFill>
                <a:latin typeface="Microsoft YaHei"/>
              </a:defRPr>
            </a:pPr>
            <a:r>
              <a:t>  9×10⁻¹⁷@1s → 5.5×10⁻¹⁹@4000s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f_beat积分相噪: 0.14rad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纯度传递(Giunta 2020): 5.4×10⁻²¹!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502920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f_rep锁定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f_CEO锁定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稳定性来源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全自参考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RF参考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泵浦电流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RF参考长期稳定度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独立运行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光学+自参考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f_beat→EOM/PZT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泵浦电流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CW激光+RF参考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光钟比对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双梳互锁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共同RF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差分f_CEO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共模抵消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双梳光谱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全光学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f_beat→EOM/PZT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不必锁f_CEO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CW激光绝对稳定度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最高精度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FPGA 数字伺服控制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超低延迟 · 高带宽 · 自诊断 · 自恢复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数字伺服的革命性优势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150876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可编程: 代码切换控制策略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多环路并行: 单FPGA处理f_rep+f_CEO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自诊断: 实时监测,失锁自动恢复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Wang 2025 (NTSC) 最新成果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150876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Xilinx 7k325t @400MHz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板级延迟: &lt;250ns (IQ解调~50ns)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控制带宽: 1.1 MHz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22C55E"/>
                </a:solidFill>
                <a:latin typeface="Microsoft YaHei"/>
              </a:defRPr>
            </a:pPr>
            <a:r>
              <a:t>mod σ_y: 7.3×10⁻¹⁸@1s → 1.3×10⁻²²@10000s!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5029200" cy="5029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NOISE 噪音基础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17720"/>
            <a:ext cx="5029200" cy="1783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AM-PM转换: RIN→相噪耦合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MUTC PD: α&lt;0.1rad → RIN贡献压23dB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梳齿等间距: &lt;3×10⁻¹⁷ (Udem 2002)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CCC00"/>
                </a:solidFill>
                <a:latin typeface="Microsoft YaHei"/>
              </a:defRPr>
            </a:pPr>
            <a:r>
              <a:t>OFC定时抖动: 已进入仄秒(10⁻²¹s)时代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频率控制技术进化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20年, 从10⁻¹⁵到10⁻²² — 7个数量级的稳定度提升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45920"/>
          <a:ext cx="11430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743200"/>
                <a:gridCol w="274320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年代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锁定方式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f_CEO检测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f_rep控制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稳定度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2000-05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手动+模拟伺服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PCF+f-2f自由空间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PZT单执行器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10⁻¹⁵~10⁻¹⁶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2005-10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模拟+部分数字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PCF/HNLF+f-2f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PZT+温度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10⁻¹⁶~10⁻¹⁷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2010-15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FPGA数字伺服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内联PM f-2f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EOM+PZT双执行器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10⁻¹⁷~10⁻¹⁸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2015-20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FPGA全数字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片上f-2f(SiN/AlN)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EOM+PZT+泵浦前馈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10⁻¹⁸~10⁻¹⁹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2020-25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超低延迟AI辅助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片上集成χ²+χ³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多参数解耦矩阵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10⁻¹⁹~10⁻²²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第四部分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 Light"/>
              </a:defRPr>
            </a:pPr>
            <a:r>
              <a:t>光谱展宽技术发展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PCF展宽 · HNLF · 片上超连续 · 多分支 · 频率扩展 · 光谱纯度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超连续谱产生 (Supercontinuum)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飞秒脉冲 + 非线性介质 → 极端光谱展宽 — f-2f自参考的物理基础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物理机制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22402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自相位调制(SPM): 时变强度→时变相位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孤子效应: 反常色散区高阶孤子分裂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四波混频(FWM): ω_p1+ω_p2→ω_s+ω_i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受激拉曼(SRS): 向长波长斯托克斯频移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色散波(Cherenkov辐射): 短波扩展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展宽介质进化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22402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PCF (1999): 空气孔微结构→可设计色散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HNLF (2004): 全光纤,低损耗,保偏可选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Si₃N₄波导 (2017+): 片上&gt;495THz展宽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CCC00"/>
                </a:solidFill>
                <a:latin typeface="Microsoft YaHei"/>
              </a:defRPr>
            </a:pPr>
            <a:r>
              <a:t>AlN波导: χ²+χ³,500-4000nm!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LiNbO₃/LN (2024): UV-VIS连续覆盖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多分支频率梳架构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一台梳源 → 多路独立输出 → 同时服务多个光钟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为什么需要多分支?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22402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多光钟同时比对 → 需要多波长梳齿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各分支独立优化:放大+展宽至目标λ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共模噪声抵消: 共享同一振荡器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CCC00"/>
                </a:solidFill>
                <a:latin typeface="Microsoft YaHei"/>
              </a:defRPr>
            </a:pPr>
            <a:r>
              <a:t>分支间可达10⁻¹⁹级相对稳定度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代表系统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22402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NMIJ 8分支Er梳 (Hisai 2021)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NTSC 5分支全PM NALM梳 (Ning 2020)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NTSC 4分支钟激光拍频 (Zhang 2022b)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  Sr/Yb/Al⁺/Yb⁺ 波长全覆盖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22C55E"/>
                </a:solidFill>
                <a:latin typeface="Microsoft YaHei"/>
              </a:defRPr>
            </a:pPr>
            <a:r>
              <a:t>分支间: 5.5×10⁻¹⁹@4000s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