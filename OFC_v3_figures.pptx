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光学频率梳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B82F6"/>
                </a:solidFill>
                <a:latin typeface="Calibri Light"/>
              </a:defRPr>
            </a:pPr>
            <a:r>
              <a:t>   原理 · 飞秒激光 · 频率控制 · 光谱展宽 · 光钟比对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2005诺贝尔物理学奖 (Hall &amp; Hänsch) | 基于 sci-logic-kb 213篇论文 | 从PDF提取实验图表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什么是光学频率梳？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等间距、相位相干的窄线宽光学频率阵列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029200" cy="210312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时域: 周期性fs脉冲序列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频域: 数百万等间距梳齿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  齿距 f_rep (~100 MHz)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  偏移 f_CEO (载波包络偏移)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比喻: 精确刻度"光尺" — 连接光频和微波频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22C55E"/>
                </a:solidFill>
                <a:latin typeface="Microsoft YaHei"/>
              </a:defRPr>
            </a:pPr>
            <a:r>
              <a:t>2005 Nobel: Hall &amp; Hänsch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革命性意义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210312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替代谐波频率链: 房间→桌面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使光钟成为可能: 光频→微波"齿轮箱"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统一电磁频谱: RF↔光频直接连接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催生新学科: 双梳光谱/阿秒/天文光梳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6400800" cy="237744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ddams2010_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97680"/>
            <a:ext cx="1625138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41908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OFC时频域对偶性 (Diddams, RMP 2010)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206240"/>
            <a:ext cx="4572000" cy="237744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38912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FCCC00"/>
                </a:solidFill>
                <a:latin typeface="Microsoft YaHei"/>
              </a:defRPr>
            </a:pPr>
            <a:r>
              <a:t>f_n = n×f_rep + f_CEO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n: 梳齿序数(~10⁵-10⁶)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自参考: 2f_n - f_{2n} = f_CEO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4B8A6"/>
                </a:solidFill>
                <a:latin typeface="Microsoft YaHei"/>
              </a:defRPr>
            </a:pPr>
            <a:r>
              <a:t>前提: 梳谱覆盖1个八度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光频梳的诞生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1999-2000: PCF + 飞秒激光 = 桌面光频计量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371600"/>
          <a:ext cx="116128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286000"/>
                <a:gridCol w="2743200"/>
                <a:gridCol w="32004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年代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人物/机构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1978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首次提出OFC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Hänsch等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同步泵浦染料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概念雏形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1999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PCF &gt;1octave展宽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Bell Labs Ranka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光子晶体光纤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突破性: f-2f可能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1999-00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首台自参考OFC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 Diddams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PCF + f-2f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5.1×10⁻¹⁶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OFC测量光频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NIST Diddams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300THz→Cs钟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光频计量新纪元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2005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诺贝尔奖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Hall &amp; Hänsch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OFC+精密光谱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最高科学荣誉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OFC技术分类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五种主流路线 — 各自适用于不同场景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37160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  <a:gridCol w="2743200"/>
                <a:gridCol w="32004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增益介质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f_rep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局限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Ti:Sapphire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Ti:Al₂O₃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100MHz-10GHz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谱宽最宽,脉宽最短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体积大,需水冷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Er:fiber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掺铒光纤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100-250MHz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1.55μm,全光纤商用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脉宽长,需展宽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Yb:fiber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掺镱光纤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100MHz-1GHz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高功率&gt;100W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谱宽不如Ti:Sa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EO调制梳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电光调制器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10-30GHz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齿距大,结构简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谱窄,需展宽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微谐振腔梳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Si₃N₄,SiO₂...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10GHz-1THz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片上集成,低功耗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相噪高,难控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OFC应用全景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从基础物理到产业应用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5603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光钟计量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光频↔微波桥</a:t>
            </a:r>
            <a:br/>
            <a:r>
              <a:t>SI秒重定义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560320" cy="594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双梳光谱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05740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宽带分子指纹</a:t>
            </a:r>
            <a:br/>
            <a:r>
              <a:t>快速实时检测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560320" cy="59436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天文光梳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系外行星搜索</a:t>
            </a:r>
            <a:br/>
            <a:r>
              <a:t>cm/s精度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463040"/>
            <a:ext cx="25603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08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阿秒科学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05740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1945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CEP控制</a:t>
            </a:r>
            <a:br/>
            <a:r>
              <a:t>孤立阿秒脉冲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2560320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测距雷达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nm精度</a:t>
            </a:r>
            <a:br/>
            <a:r>
              <a:t>km量程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023360"/>
            <a:ext cx="256032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069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微波光子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61772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7548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超低噪声</a:t>
            </a:r>
            <a:br/>
            <a:r>
              <a:t>优于电子源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023360"/>
            <a:ext cx="256032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69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量子信息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61772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7548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频率纠缠</a:t>
            </a:r>
            <a:br/>
            <a:r>
              <a:t>频域量子门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023360"/>
            <a:ext cx="25603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069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基础物理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4617720"/>
            <a:ext cx="2560320" cy="15544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7548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常数变化</a:t>
            </a:r>
            <a:br/>
            <a:r>
              <a:t>暗物质搜索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飞秒激光技术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锁模原理 · Ti:Sap/Ef:iber · NPE/NALM · 紧凑化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锁模: 从CW到超短脉冲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纵模相位锁定 → 时域fs脉冲 = 频域频率梳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锁模原理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029200" cy="18288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48097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多纵模相位随机→CW输出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锁模: 各模固定相位 → fs脉冲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脉宽 Δτ ∝ 1/Δν_gain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被动锁模: NPE/NALM/SESAM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脉冲演化机制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8097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孤子: 反常GVD+SPM平衡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展宽脉冲: 正负色散交替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自相似: 正常GVD,抛物线脉冲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ANDi: 全正常色散,滤波驱动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6400800" cy="2743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ortier2019_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1907770" cy="2468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5105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锁模飞秒激光器架构 (Fortier et al., Optica 2019)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3931920"/>
            <a:ext cx="457200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11480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CCC00"/>
                </a:solidFill>
                <a:latin typeface="Microsoft YaHei"/>
              </a:defRPr>
            </a:pPr>
            <a:r>
              <a:t>三种被动锁模方式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NPE: 偏振演化,简捷,偏振敏感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NALM: 图9,Sagnac环,全PM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SESAM: 半导体可饱和吸收镜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Ti:Sap vs Er:fiber vs Yb:fiber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三种主流飞秒激光器的对比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371600"/>
          <a:ext cx="11704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  <a:gridCol w="2286000"/>
                <a:gridCol w="22860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Ti:Sapphire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Er:fiber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Yb:fiber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EO调制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微谐振腔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波长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~800nm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1.55μm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1.0μm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1.55μm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可设计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脉宽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5-100fs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50-200fs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30-200fs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ps级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ps(孤子)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f_rep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80M-10G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100M-250M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100M-1G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10-30G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10G-1T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功率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100mW-5W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10mW-1W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100mW-100W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mW级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μW-mW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高(实验室)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最高(商用)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研究阶段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频率控制技术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f-2f自参考 · 光学锁定 · FPGA伺服 · 噪声管理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f-2f 自参考: f_CEO 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2f_n − f_{2n} = f_CEO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2743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ddams2010_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90777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502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f-2f 自参考干涉仪原理 (Diddams, RMP 2010)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457200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自参考步骤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① 取低频齿 f_n (2000nm)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② 倍频 → 2f_n = 2n·f_rep+2f_CEO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③ 取高频齿 f_2n (1000nm)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22C55E"/>
                </a:solidFill>
                <a:latin typeface="Microsoft YaHei"/>
              </a:defRPr>
            </a:pPr>
            <a:r>
              <a:t>④ 拍频 → f_CEO ✔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14B8A6"/>
                </a:solidFill>
                <a:latin typeface="Microsoft YaHei"/>
              </a:defRPr>
            </a:pPr>
            <a:r>
              <a:t>前提: 梳谱≥1个光学八度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实现: PCF+PPLN/内联PM/SiN波导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165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f_rep 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5029200" cy="15544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919472"/>
            <a:ext cx="48097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EOM: 高频(~MHz)小行程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PZT: 低频大行程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4165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f_CEO 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5029200" cy="15544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919472"/>
            <a:ext cx="48097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泵浦电流: 改变脉冲能量→相移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腔内EOM/loss辅助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光学锁定: 梳齿↔超稳CW激光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最精确的频率锁定方式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ddams2010_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2261061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4074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OFC频率控制架构 (Diddams, RMP 2010)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371600"/>
            <a:ext cx="3200400" cy="32004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tier2019_p12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2743200" cy="18207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0" y="330212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梳频率合成精度 (Fortier)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474720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CCC00"/>
                </a:solidFill>
                <a:latin typeface="Microsoft YaHei"/>
              </a:defRPr>
            </a:pPr>
            <a:r>
              <a:t>光学锁定性能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f_beat拍频→锁相到CW参考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in-loop: 8.5×10⁻¹⁸/√τ @1s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out-of-loop: 5.5×10⁻¹⁹@4000s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纯度传递: 5.4×10⁻²¹ (Giunta)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1">
                <a:solidFill>
                  <a:srgbClr val="FCCC00"/>
                </a:solidFill>
                <a:latin typeface="Microsoft YaHei"/>
              </a:defRPr>
            </a:pPr>
            <a:r>
              <a:t>锁定方案: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全自参考: RF+V泵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光学+自参考: 最常用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双梳互锁: 共模抵消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全光学: 最高精度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73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FPGA数字伺服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5029200" cy="15544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376672"/>
            <a:ext cx="48097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NTSC Wang 2025: &lt;250ns延迟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1.1MHz BW, 10⁻²²@10000s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84632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73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稳定度进化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303520"/>
            <a:ext cx="5029200" cy="15544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5376672"/>
            <a:ext cx="48097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2000: 10⁻¹⁵ → 2025: 10⁻²²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FCCC00"/>
                </a:solidFill>
                <a:latin typeface="Microsoft YaHei"/>
              </a:defRPr>
            </a:pPr>
            <a:r>
              <a:t>7个数量级提升,跨越25年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光谱展宽技术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PCF · HNLF · 片上超连续 · 多分支 · 频率扩展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超连续谱: 光谱极端展宽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fs脉冲 + 非线性介质 → f-2f自参考的物理基础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物理机制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029200" cy="18288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48097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自相位调制(SPM): 时变强度→时变相位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孤子效应: 反常色散区高阶孤子分裂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四波混频(FWM): ω₁+ω₂→ω₃+ω₄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色散波辐射: Cherenkov短波扩展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展宽介质进化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8097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PCF (1999): 空气孔→可设计色散 &gt;1octave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HNLF (2004): 全光纤,保偏,低损耗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Si₃N₄波导 (2017+): 片上&gt;495THz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FCCC00"/>
                </a:solidFill>
                <a:latin typeface="Microsoft YaHei"/>
              </a:defRPr>
            </a:pPr>
            <a:r>
              <a:t>AlN (2017): χ²+χ³,500-4000nm!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029200" cy="265176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ddams2010_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1837112" cy="2377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4190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超连续谱产生 (Diddams, RMP 2010)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931920"/>
            <a:ext cx="5943600" cy="265176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多分支OFC架构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一台梳源→多路独立输出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各分支独立放大+展宽至目标波长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共模噪声抵消: 分支间10⁻¹⁹级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NMIJ 8分支 | NTSC 5分支 | 4分支钟激光拍频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频率扩展: 超越基频梳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SHG/DFG/SFM/HHG — UV到THz全覆盖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37160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828800"/>
                <a:gridCol w="3657600"/>
                <a:gridCol w="320040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过程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波段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代表应用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效率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SHG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ω+ω→2ω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UV-Vis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Al⁺光钟@267nm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10-50%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SFM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ω₁+ω₂→ω₃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连续UV-Blue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天文光梳390-520nm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1-10%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DFG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ω₁-ω₂→ω₃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中红外3-18μm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分子指纹光谱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0.1-5%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HHG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强场电离+复合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VUV/XUV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Th-229核钟148nm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&lt;0.01%</a:t>
                      </a:r>
                    </a:p>
                  </a:txBody>
                  <a:tcPr>
                    <a:solidFill>
                      <a:srgbClr val="18325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THz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光整流/光导天线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0.1-5THz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安检/通信/材料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μW-mW</a:t>
                      </a:r>
                    </a:p>
                  </a:txBody>
                  <a:tcPr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光钟比对中的OFC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光频→微波 · 钟频测量 · OFD微波生成 · 多钟比对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OFC: 光钟的"齿轮箱"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光频 (~500 THz) → 微波 (~10 GHz)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943600" cy="2743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ddams2010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978429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416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光钟频率测量链 (Diddams, RMP 2010)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02920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OFC在光钟中的四重角色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① 绝对频率测量: 梳↔Cs/TAI→Hz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② 频率比: 共同梳↔两钟→无量纲比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③ OFD: 光→微波下转换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④ TAI校准: 光钟→梳→TAI链路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165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OFD微波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46320"/>
            <a:ext cx="5029200" cy="15544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919472"/>
            <a:ext cx="48097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ν_opt/N = f_rep (N~10⁴-10⁵)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22C55E"/>
                </a:solidFill>
                <a:latin typeface="Microsoft YaHei"/>
              </a:defRPr>
            </a:pPr>
            <a:r>
              <a:t>-177 dBc/Hz@10GHz (Fortier)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4165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5029200" cy="155448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919472"/>
            <a:ext cx="48097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梳的稳定度(10⁻¹⁹-10⁻²²)全面超越比对需求(10⁻¹⁸)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BACON光钟网络中的OFC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三种光钟 + 光纤/自由空间链路 — 世界最精确频率比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943600" cy="2743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con2021_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978429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416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BACON三光钟网络架构 (Nature 591, 2021)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02920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BACON 2025 频率比结果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  Al⁺/Yb: ≤3.2×10⁻¹⁸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  Al⁺/Sr: ≤3.2×10⁻¹⁸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  Yb/Sr: ≤3.2×10⁻¹⁸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22C55E"/>
                </a:solidFill>
                <a:latin typeface="Microsoft YaHei"/>
              </a:defRPr>
            </a:pPr>
            <a:r>
              <a:t>满足判据I.2的精度要求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6400800" cy="2286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con2025_p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155448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5105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BACON 2025 稳定度分析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389120"/>
            <a:ext cx="4572000" cy="22860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57200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CCC00"/>
                </a:solidFill>
                <a:latin typeface="Microsoft YaHei"/>
              </a:defRPr>
            </a:pPr>
            <a:r>
              <a:t>OFC的角色: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共同超稳参考通过OFC分发至所有钟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低温Si腔→比对速度提升2-3倍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远程比对中的OFC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光纤传递 · 自由空间O-TWTFT · 双梳光谱 · 天文光梳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光纤频率传递中的OFC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梳作为链路两端的频率锚点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943600" cy="27432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ber2008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926058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416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长光纤Sagnac干涉仪 — 相位噪声测量装置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029200" cy="27432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光纤传递关键指标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PTB↔MPQ 920km: 1×10⁻¹⁸@&lt;1000s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SYRTE↔PTB 1415km 国际链路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Brillouin放大1400km: 残余10⁻²⁰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NTSC: 112-490km 城市/噪声链路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22C55E"/>
                </a:solidFill>
                <a:latin typeface="Microsoft YaHei"/>
              </a:defRPr>
            </a:pPr>
            <a:r>
              <a:t>互易性极限: (0.5±2.0)×10⁻²¹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5029200" cy="2286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ber2008_p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1513332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相位噪声分布 — M-Z干涉仪测量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4389120"/>
            <a:ext cx="5943600" cy="22860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5720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CCC00"/>
                </a:solidFill>
                <a:latin typeface="Microsoft YaHei"/>
              </a:defRPr>
            </a:pPr>
            <a:r>
              <a:t>光纤相位噪声特点: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Δφ² ∝ τ (扩散过程, D~10³ rad²/s)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夜间扩散系数降低~5×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主动相位补偿可大幅抑制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自由空间O-TWTFT + 双梳光谱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通过大气连接远程光钟 — 乌鲁木齐113km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943600" cy="2286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_experiment_113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1874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355363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Fig: 113km O-TWTFT实验装置 — 南山↔高崖子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5029200" cy="22860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CCC00"/>
                </a:solidFill>
                <a:latin typeface="Microsoft YaHei"/>
              </a:defRPr>
            </a:pPr>
            <a:r>
              <a:t>O-TWTFT 关键指标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BACON: 1.5km, &lt;1×10⁻¹⁸@1000s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NIST 12km强湍流: 165as TDEV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UWA 2.4km: 6.1×10⁻²¹@300s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中国113km: CLS增强,0.1nW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593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双梳光谱(Dual-Comb Spectroscopy)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5029200" cy="210312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两梳Δf_rep~100Hz→时域多外差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单次采集1/Δf_rep(ms级!),比FTIR快10⁴×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频率轴直接梳校准 → 绝对频率标定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FCCC00"/>
                </a:solidFill>
                <a:latin typeface="Microsoft YaHei"/>
              </a:defRPr>
            </a:pPr>
            <a:r>
              <a:t>Han 2024 (中国): 113km,CO₂&lt;2ppm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593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天文光梳 (Astrocomb)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89120"/>
            <a:ext cx="5029200" cy="210312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462272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校准系外行星视向速度测量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传统校准: ~1m/s → OFC: cm/s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Suh 2019: 微腔梳→Keck II</a:t>
            </a:r>
          </a:p>
          <a:p>
            <a:pPr algn="l">
              <a:spcAft>
                <a:spcPts val="300"/>
              </a:spcAft>
              <a:defRPr sz="1600" b="0">
                <a:solidFill>
                  <a:srgbClr val="FCCC00"/>
                </a:solidFill>
                <a:latin typeface="Microsoft YaHei"/>
              </a:defRPr>
            </a:pPr>
            <a:r>
              <a:t>Cheng 2024: 连续UV-蓝绿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微梳 · 片上集成 · 量子计量 · AI控制 · 产业化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微谐振腔频率梳 (Microcomb)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耗散Kerr孤子 — 芯片级、电池供电的OFC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微梳核心优势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029200" cy="2286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48097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尺寸芯片级(μm-mm),比光纤梳小10⁴倍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f_rep: 10GHz-1THz(天然高齿距)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功耗&lt;100mW (Stern 2018: AAA电池!)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CMOS兼容→晶圆级制造,低成本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材料: Si₃N₄,SiO₂,AlGaAs,LiNbO₃,AlN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里程碑与挑战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8097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Li 2017: 倍频程Si₃N₄微梳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Stern 2018: 首个电池供电微梳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Kudelin 2024: 芯片OFD微波振荡器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800" b="0">
                <a:solidFill>
                  <a:srgbClr val="EF4444"/>
                </a:solidFill>
                <a:latin typeface="Microsoft YaHei"/>
              </a:defRPr>
            </a:pPr>
            <a:r>
              <a:t>挑战: 孤子产生困难,相位噪声高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EF4444"/>
                </a:solidFill>
                <a:latin typeface="Microsoft YaHei"/>
              </a:defRPr>
            </a:pPr>
            <a:r>
              <a:t>f_CEO检测: 高f_rep需要特殊方案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22860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CCC00"/>
                </a:solidFill>
                <a:latin typeface="Microsoft YaHei"/>
              </a:defRPr>
            </a:pPr>
            <a:r>
              <a:t>OFC正在经历"半导体化" — 类似1970s激光器→1990s半导体激光器的历史进程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短期: 光纤梳仍是光钟比对主力 | 中期: 微梳进入中等精度应用 | 长期: 微梳有望进入高精度计量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塑造OFC未来的五大驱动力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从实验室到产业 — 光频梳的"半导体化"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96596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集成化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965960" cy="1828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芯片级OFC</a:t>
            </a:r>
            <a:br/>
            <a:r>
              <a:t>微梳规模化</a:t>
            </a:r>
            <a:br/>
            <a:r>
              <a:t>CMOS兼容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463040"/>
            <a:ext cx="196596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554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智能化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286000"/>
            <a:ext cx="1965960" cy="1828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46888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AI自动控制</a:t>
            </a:r>
            <a:br/>
            <a:r>
              <a:t>自诊断自恢复</a:t>
            </a:r>
            <a:br/>
            <a:r>
              <a:t>零人类干预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463040"/>
            <a:ext cx="1965960" cy="822960"/>
          </a:xfrm>
          <a:prstGeom prst="rect">
            <a:avLst/>
          </a:prstGeom>
          <a:solidFill>
            <a:srgbClr val="FC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554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高频化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286000"/>
            <a:ext cx="1965960" cy="1828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46888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GHz→THz f_rep</a:t>
            </a:r>
            <a:br/>
            <a:r>
              <a:t>天文光梳</a:t>
            </a:r>
            <a:br/>
            <a:r>
              <a:t>高速双梳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463040"/>
            <a:ext cx="196596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554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极低噪声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86000"/>
            <a:ext cx="1965960" cy="1828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46888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10⁻²²稳定度</a:t>
            </a:r>
            <a:br/>
            <a:r>
              <a:t>量子极限突破</a:t>
            </a:r>
            <a:br/>
            <a:r>
              <a:t>zs定时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463040"/>
            <a:ext cx="1965960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554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产业化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286000"/>
            <a:ext cx="1965960" cy="18288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46888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交钥匙系统</a:t>
            </a:r>
            <a:br/>
            <a:r>
              <a:t>空间级可靠</a:t>
            </a:r>
            <a:br/>
            <a:r>
              <a:t>多供应商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CCC00"/>
                </a:solidFill>
                <a:latin typeface="Microsoft YaHei"/>
              </a:defRPr>
            </a:pPr>
            <a:r>
              <a:t>未来10-15年: OFC从"博士操作"的精密仪器 → "工程师工具箱标配"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总结: OFC技术全景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 Light"/>
              </a:defRPr>
            </a:pPr>
            <a:r>
              <a:t>25年 — 从诺贝尔奖到芯片级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飞秒激光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029200" cy="210312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Ti:Sap→Er/Yb光纤→片上锁模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脉宽: ps→fs→阿秒 | f_rep: 100M→10G→1T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功率: mW→W→100W+ | 尺寸: 实验台→芯片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频率控制与光谱展宽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210312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01952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f_CEO: 自由空间→内联PPLN→片上SiN/AlN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稳定度: 10⁻¹⁵→10⁻²² (7个数量级!)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展宽: PCF→HNLF→片上(AlN:500-4000nm)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029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336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OFC在比对中的角色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5029200" cy="1828800"/>
          </a:xfrm>
          <a:prstGeom prst="rect">
            <a:avLst/>
          </a:prstGeom>
          <a:solidFill>
            <a:srgbClr val="18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736592"/>
            <a:ext cx="48097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梳稳定度(10⁻¹⁹-10⁻²²)已全面超越比对需求(10⁻¹⁸)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这是过去25年OFC发展的最大成就</a:t>
            </a:r>
          </a:p>
          <a:p>
            <a:pPr algn="l">
              <a:spcAft>
                <a:spcPts val="300"/>
              </a:spcAft>
              <a:defRPr sz="2000" b="0">
                <a:solidFill>
                  <a:srgbClr val="FCCC00"/>
                </a:solidFill>
                <a:latin typeface="Microsoft YaHei"/>
              </a:defRPr>
            </a:pPr>
            <a:r>
              <a:t>也是SI秒重定义的技术基础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数据来源: sci-logic-kb (213篇) | Diddams | Fortier | BACON |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https://github.com/hjiang555-a11y/presentation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