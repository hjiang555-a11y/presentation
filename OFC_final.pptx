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579" y="2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ableStyles" Target="tableStyles.xml"/><Relationship Id="rId62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044EA-23C4-425F-B58F-17F0A44930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EC0C1-6690-415C-A7CE-4DD03F5AA3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光学频率梳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原理 · 飞秒激光 · 频率控制 · 光谱展宽 · 光钟比对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  <a:latin typeface="Microsoft YaHei"/>
              </a:defRPr>
            </a:pPr>
            <a:r>
              <a:t>2005诺贝尔物理学奖 (Hall &amp; Hänsch) | 基于 sci-logic-kb 知识库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什么是光频梳？</a:t>
            </a:r>
          </a:p>
        </p:txBody>
      </p:sp>
      <p:pic>
        <p:nvPicPr>
          <p:cNvPr id="3" name="Picture 2" descr="diddams2010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2119745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39776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OFC时频域对偶 (Diddams, RMP 2010)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时域: 周期性fs脉冲序列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脉冲间隔 T_rep = 1/f_rep</a:t>
            </a:r>
          </a:p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频域: 数百万等间距梳齿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齿距 f_rep (~100 MHz)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整体偏移 f_CEO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比喻: 精确刻度的"光尺"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连接光频(~10¹⁴ Hz)和微波频(~10¹⁰ Hz)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革命性意义: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替代谐波频率链: 房间大小→桌面设备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使光钟成为可能: 光频→微波"齿轮箱"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统一电磁频谱: RF↔光频首次直接连接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催生新学科: 双梳光谱, 阿秒物理, 天文光梳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频率梳基本方程</a:t>
            </a:r>
          </a:p>
        </p:txBody>
      </p:sp>
      <p:pic>
        <p:nvPicPr>
          <p:cNvPr id="3" name="Picture 2" descr="diddams2010_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2473036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443484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OFC 原理 (Diddams, RMP 2010)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600" b="1">
                <a:solidFill>
                  <a:srgbClr val="000000"/>
                </a:solidFill>
                <a:latin typeface="Microsoft YaHei"/>
              </a:defRPr>
            </a:pPr>
            <a:r>
              <a:t>f_n = n × f_rep + f_CEO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n: 梳齿序数 (~10⁵-10⁶)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f_rep: 重复频率 (腔长决定)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f_CEO: 载波包络偏移频率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  群速≠相速产生的相位滑移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2000" b="1">
                <a:solidFill>
                  <a:srgbClr val="C0504D"/>
                </a:solidFill>
                <a:latin typeface="Microsoft YaHei"/>
              </a:defRPr>
            </a:pPr>
            <a:r>
              <a:t>自参考: 2f_n − f_2n = f_CEO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前提: 梳谱覆盖 ≥1 个光学倍频程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f_rep控制: EOM(高频) + PZT(低频) | f_CEO控制: 泵浦电流反馈 | 等间距验证: &lt;3×10⁻¹⁷ (Udem 2002)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f-2f 自参考原理</a:t>
            </a:r>
          </a:p>
        </p:txBody>
      </p:sp>
      <p:pic>
        <p:nvPicPr>
          <p:cNvPr id="3" name="Picture 2" descr="diddams2010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2261061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4160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OFC 频率测量链 (Diddams)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检测 f_CEO 的核心方法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① 取低频梳齿 f_n (如2000nm)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② 倍频: 2f_n = 2n·f_rep + 2f_CEO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③ 取高频齿 f_2n (如1000nm)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C0504D"/>
                </a:solidFill>
                <a:latin typeface="Microsoft YaHei"/>
              </a:defRPr>
            </a:pPr>
            <a:r>
              <a:t>④ 拍频: 2f_n − f_2n = f_CEO ✓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实现: PCF+PPLN | 内联PM-PPLN | SiN波导 | AlN片上χ²+χ³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f_CEO SNR要求: &gt;30 dB | 锁定后积分相噪: &lt;0.5 rad | 进化: 自由空间→内联→片上→AlN双非线性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光频梳诞生历史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411480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年代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人物/机构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1978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Hänsch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首次提出OFC概念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同步泵浦染料激光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Bell Labs Ranka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PCF &gt;1octave超连续谱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突破: f-2f自参考可能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1999-00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NIST Diddams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首台自参考OFC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不确定度 5.1×10⁻¹⁶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NIST Diddams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OFC测量光学频率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光频计量新时代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Hall &amp; Hänsch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诺贝尔物理学奖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"光频梳技术"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OFC技术分类与应用全景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1945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Ti:Sapphire</a:t>
            </a:r>
            <a:br/>
            <a:r>
              <a:t>100MHz-10GHz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00200"/>
            <a:ext cx="2194560" cy="96012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谱最宽,脉最短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0504D"/>
                </a:solidFill>
                <a:latin typeface="Microsoft YaHei"/>
              </a:defRPr>
            </a:pPr>
            <a:r>
              <a:t>体积大,需水冷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21945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Er:fiber</a:t>
            </a:r>
            <a:br/>
            <a:r>
              <a:t>100-250MHz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00200"/>
            <a:ext cx="2194560" cy="96012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1.55μm,全光纤商用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0504D"/>
                </a:solidFill>
                <a:latin typeface="Microsoft YaHei"/>
              </a:defRPr>
            </a:pPr>
            <a:r>
              <a:t>脉宽长,需展宽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188720"/>
            <a:ext cx="21945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Yb:fiber</a:t>
            </a:r>
            <a:br/>
            <a:r>
              <a:t>100MHz-1GHz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600200"/>
            <a:ext cx="2194560" cy="96012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高功率&gt;100W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0504D"/>
                </a:solidFill>
                <a:latin typeface="Microsoft YaHei"/>
              </a:defRPr>
            </a:pPr>
            <a:r>
              <a:t>谱不如Ti:Sa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188720"/>
            <a:ext cx="21945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EO调制</a:t>
            </a:r>
            <a:br/>
            <a:r>
              <a:t>10-30GHz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00200"/>
            <a:ext cx="2194560" cy="96012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齿距大,结构简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0504D"/>
                </a:solidFill>
                <a:latin typeface="Microsoft YaHei"/>
              </a:defRPr>
            </a:pPr>
            <a:r>
              <a:t>谱窄,需展宽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188720"/>
            <a:ext cx="219456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微谐振腔</a:t>
            </a:r>
            <a:br/>
            <a:r>
              <a:t>10GHz-1THz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600200"/>
            <a:ext cx="2194560" cy="96012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404040"/>
                </a:solidFill>
                <a:latin typeface="Microsoft YaHei"/>
              </a:defRPr>
            </a:pPr>
            <a:r>
              <a:t>片上集成,低功耗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0504D"/>
                </a:solidFill>
                <a:latin typeface="Microsoft YaHei"/>
              </a:defRPr>
            </a:pPr>
            <a:r>
              <a:t>相噪高,难控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92608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八大应用: 光钟计量 | 双梳光谱 | 天文光梳 | 阿秒科学 | 精密测距 | 微波光子学 | 量子信息 | 基础物理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关键性能: 梳齿等间距&lt;3×10⁻¹⁷ | 稳定度10⁻¹⁵→10⁻²² | OFD微波-177dBc/Hz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2000" cy="3657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飞秒激光技术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锁模原理: 从CW到超短脉冲</a:t>
            </a:r>
          </a:p>
        </p:txBody>
      </p:sp>
      <p:pic>
        <p:nvPicPr>
          <p:cNvPr id="3" name="Picture 2" descr="fortier2019_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2473036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44348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锁模飞秒激光器架构 (Fortier, Optica 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多纵模相位锁定→fs脉冲序列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被动锁模机制: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KLM(克尔透镜): 最快~1fs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NPE(非线性偏振演化): 简捷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NALM(非线性环镜): 全PM全光纤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SESAM(可饱和吸收镜)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脉冲演化: 孤子|展宽脉冲|自相似|ANDi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NALM (Figure-9): 非对称耦合器+增益光纤→等效可饱和吸收, 全PM→偏振稳定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NTSC 5分支全PM NALM梳: f_CEO SNR 35dB, 分支间互比5.5×10⁻¹⁹@4000s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Ti:Sapphire vs 光纤光频梳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645920"/>
                <a:gridCol w="18288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波长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脉宽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f_rep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功率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Ti:Sapphire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~800nm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5-100fs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100MHz-10GHz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100mW-5W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谱最宽,脉最短 — 黄金标准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Er:fiber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1.55μm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50-200fs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100-250MHz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10mW-1W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电信波段,全光纤商用 — 最成熟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Yb:fiber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1.0μm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30-200fs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100MHz-1GHz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100mW-100W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高功率,CPA — 最强功率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紧凑化里程碑: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便携式野外梳(NIST 2014) | FPGA数字伺服梳(NIST Shaw 2019)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电池供电微梳(Stern 2018, 98mW) | GHz交钥匙Er梳(Lesko 2020, 1GHz)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• 空间级OFC(TEXUS-51火箭, 2016) | 舰载光钟梳(Roslund 2024, 海上验证)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趋势: 实验室(2000s)→现场/空间(2010s)→芯片级(2020s)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2000" cy="3657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频率控制技术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频率控制: 两个自由度</a:t>
            </a:r>
          </a:p>
        </p:txBody>
      </p:sp>
      <p:pic>
        <p:nvPicPr>
          <p:cNvPr id="3" name="Picture 2" descr="diddams2010_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261061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41605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OFC 频率控制架构 (Diddams)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f_rep 控制: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EOM: 高频(~MHz),小行程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PZT: 低频(&lt;kHz),大行程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锁定至: RF/GPS/H-maser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f_CEO 控制: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泵浦电流: 改变脉冲能量→相移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检测: f-2f 自参考干涉法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光学锁定: f_beat→超稳CW激光 → in-loop 8.5×10⁻¹⁸/√τ@1s | out-of-loop 5.5×10⁻¹⁹@4000s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纯度传递(Giunta 2020): (5.4±5.3)×10⁻²¹ — 梳稳定度已全面超越比对需求(10⁻¹⁸)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FPGA 数字伺服与稳定度进化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年代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锁定方式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f_CEO检测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f_rep控制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稳定度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2000-05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手动+模拟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PCF f-2f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PZT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10⁻¹⁵~10⁻¹⁶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2005-10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模拟+数字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HNLF f-2f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PZT+温度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10⁻¹⁶~10⁻¹⁷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2010-15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FPGA数字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内联PM f-2f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EOM+PZT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10⁻¹⁷~10⁻¹⁸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2015-20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FPGA全数字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片上SiN/AlN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EOM+PZT+前馈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10⁻¹⁸~10⁻¹⁹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2020-25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超低延迟AI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片上χ²+χ³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多参数解耦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10⁻¹⁹~10⁻²²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Wang 2025 (NTSC): 7k325t@400MHz, 板级延迟&lt;250ns, BW 1.1MHz, σ_y 7.3×10⁻¹⁸@1s→1.3×10⁻²²@10000s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25年7个数量级的稳定度提升 — 梳的性能已全面超越光钟比对的10⁻¹⁸需求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2000" cy="3657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光谱展宽技术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超连续谱产生</a:t>
            </a:r>
          </a:p>
        </p:txBody>
      </p:sp>
      <p:pic>
        <p:nvPicPr>
          <p:cNvPr id="3" name="Picture 2" descr="diddams2010_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2473036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44348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超连续谱产生 (Diddams)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飞秒脉冲+非线性介质→极端展宽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物理机制: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SPM | 孤子效应 | FWM | 色散波辐射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展宽介质进化: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PCF(1999)→HNLF(2004)→SiN(2017+)→AlN(500-4000nm!)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泵浦: nJ→100pJ→目标10pJ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架构: 单分支→5-8分支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频率扩展: SHG→UV-Vis | SFM→连续UV-Blue | DFG→中红外3-18μm | HHG→VUV/XUV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多分支: NMIJ 8分支 | NTSC 5分支 | 分支间互比5.5×10⁻¹⁹@4000s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2000" cy="3657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光钟比对与远程传递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OFC: 光钟的"齿轮箱"</a:t>
            </a:r>
          </a:p>
        </p:txBody>
      </p:sp>
      <p:pic>
        <p:nvPicPr>
          <p:cNvPr id="3" name="Picture 2" descr="jiang_ofc_image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5765043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光频(~500THz)→微波(~10GHz)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① 绝对频率: 梳↔Cs/TAI→Hz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② 频率比: 共同梳↔两钟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③ OFD: 光→微波下转换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④ TAI校准: 光钟→梳→TAI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OFD: ν_opt/N=f_rep(N~10⁴-10⁵)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σ_y在除法中理论上不退化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OFD微波: MUTC PD -177dBc/Hz@10GHz, &lt;500as抖动 | Xie 2016: zeptosecond定时&lt;41zs/√Hz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梳的稳定度(10⁻¹⁹-10⁻²²)已全面超越比对需求(10⁻¹⁸)— 梳不再是光钟比对的瓶颈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BACON光钟网络 — 通过OFC的三钟比对</a:t>
            </a:r>
          </a:p>
        </p:txBody>
      </p:sp>
      <p:pic>
        <p:nvPicPr>
          <p:cNvPr id="3" name="Picture 2" descr="bacon2025_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2119745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39776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BACON 2025 频率比结果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BACON: Boulder Atomic Clock Network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三钟: Al⁺(NIST)+Yb(NIST)+Sr(JILA)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链路: 3.6km光纤+1.5km自由空间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2025升级: 低温Si腔共同参考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比对稳定度提升2-3倍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频率比: Al⁺/Yb, Al⁺/Sr, Yb/Sr</a:t>
            </a:r>
          </a:p>
          <a:p>
            <a:pPr algn="l">
              <a:spcAft>
                <a:spcPts val="300"/>
              </a:spcAft>
              <a:defRPr sz="2000" b="1">
                <a:solidFill>
                  <a:srgbClr val="404040"/>
                </a:solidFill>
                <a:latin typeface="Microsoft YaHei"/>
              </a:defRPr>
            </a:pPr>
            <a:r>
              <a:t>  全部 ≤3.2×10⁻¹⁸ — 满足判据I.2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OFC角色: 共同超稳参考→OFC→分发至三台光钟 | 梳齿拍频同时测量→频率比≤3.2×10⁻¹⁸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这是OFC在光钟比对中最重要的实际应用 — 直接服务于SI秒的重新定义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光纤与自由空间时频传递</a:t>
            </a:r>
          </a:p>
        </p:txBody>
      </p:sp>
      <p:pic>
        <p:nvPicPr>
          <p:cNvPr id="3" name="Picture 2" descr="fiber2008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926058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794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光纤Sagnac干涉仪</a:t>
            </a:r>
          </a:p>
        </p:txBody>
      </p:sp>
      <p:pic>
        <p:nvPicPr>
          <p:cNvPr id="5" name="Picture 4" descr="fig4_experiment_113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1874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108475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Fig: 113km O-TWTFT实验装置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光纤传递: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PTB↔MPQ 920km: 1×10⁻¹⁸@&lt;1000s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SYRTE↔PTB 1415km 国际链路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Brillouin放大1400km: 残余10⁻²⁰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互易性极限: (0.5±2.0)×10⁻²¹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自由空间O-TWTFT: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BACON 1.5km: &lt;1×10⁻¹⁸@1000s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NIST 12km强湍流: TDEV~165as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中国113km: CLS增强,0.1nW探测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双梳光谱: ms级采集,无扫描部件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2000" cy="3657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未来展望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微谐振腔梳与五大驱动力</a:t>
            </a:r>
          </a:p>
        </p:txBody>
      </p:sp>
      <p:pic>
        <p:nvPicPr>
          <p:cNvPr id="3" name="Picture 2" descr="jiang_ofc_image1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342707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0000"/>
                </a:solidFill>
                <a:latin typeface="Microsoft YaHei"/>
              </a:defRPr>
            </a:pPr>
            <a:r>
              <a:t>微梳 (Microcomb):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耗散Kerr孤子,芯片级(μm-mm)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f_rep 10GHz-1THz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功耗&lt;100mW,电池供电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  CMOS兼容→晶圆级,低成本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Li 2017: 倍频程Si₃N₄微梳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Stern 2018: 电池供电微梳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404040"/>
                </a:solidFill>
                <a:latin typeface="Microsoft YaHei"/>
              </a:defRPr>
            </a:pPr>
            <a:r>
              <a:t>  Kudelin 2024: 芯片OFD微波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五大驱动力: 集成化(芯片) | 智能化(AI控制) | 高频化(GHz→THz) | 极低噪声(10⁻²²) | 产业化(交钥匙)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404040"/>
                </a:solidFill>
                <a:latin typeface="Microsoft YaHei"/>
              </a:defRPr>
            </a:pPr>
            <a:r>
              <a:t>OFC正经历"半导体化" — 从"博士操作"→"工程师标配", 类似1970s激光器→1990s半导体激光器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 — OFC 25年关键成就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65176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飞秒激光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Ti:Sap→Er/Yb→片上锁模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脉宽ps→fs→阿秒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f_rep 100M→10G→1T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功率mW→W→100W+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尺寸实验台→芯片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频率控制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f_CEO: 自由空间→片上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f_rep: PZT→EOM+PZT+解耦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伺服: 模拟→FPGA→AI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稳定度: 10⁻¹⁵→10⁻²²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7个数量级,25年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光谱展宽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PCF→HNLF→片上SiN/AlN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单八度→多八度→连续UV-VIS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泵浦 nJ→100pJ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单分支→5-8分支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SHG/DFG/HHG全覆盖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371600"/>
            <a:ext cx="2651760" cy="4572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比对与传递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OFC齿轮箱: 光↔微波桥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BACON频率比≤3.2×10⁻¹⁸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光纤920→1415km,10⁻¹⁹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自由空间113km,TDEV&lt;1fs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梳不再是对比瓶颈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C0504D"/>
                </a:solidFill>
                <a:latin typeface="Microsoft YaHei"/>
              </a:defRPr>
            </a:pPr>
            <a:r>
              <a:t>OFC是SI秒重定义的使能技术 — 没有OFC就没有光钟, 没有光钟就没有光学秒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2000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谢谢!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sci-logic-kb | Diddams | Fortier | BACON | 姜海峰OFC教程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Y1NGRkYzFhOTIyZDc0MjM0OWYzMzliNjliMDkxM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WPS 演示</Application>
  <PresentationFormat>宽屏</PresentationFormat>
  <Paragraphs>255</Paragraphs>
  <Slides>54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6" baseType="lpstr">
      <vt:lpstr>Arial</vt:lpstr>
      <vt:lpstr>宋体</vt:lpstr>
      <vt:lpstr>Wingdings</vt:lpstr>
      <vt:lpstr>华文中宋</vt:lpstr>
      <vt:lpstr>Times New Roman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 星</dc:creator>
  <cp:lastModifiedBy>星缀天穹</cp:lastModifiedBy>
  <cp:revision>28</cp:revision>
  <dcterms:created xsi:type="dcterms:W3CDTF">2024-07-05T03:12:00Z</dcterms:created>
  <dcterms:modified xsi:type="dcterms:W3CDTF">2024-07-08T10:31:02Z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A1649005FC7944B7B91EDEAAE7CBB810_12</vt:lpwstr>
  </property>
  <property fmtid="{D5CDD505-2E9C-101B-9397-08002B2CF9AE}" pid="3" name="KSOProductBuildVer">
    <vt:lpwstr>2052-12.1.0.17145</vt:lpwstr>
  </property>
</Properties>
</file>