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Calibri"/>
              </a:defRPr>
            </a:pPr>
            <a:r>
              <a:t>光学频率梳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原理 · 飞秒激光 · 频率控制 · 光谱展宽 · 光钟比对</a:t>
            </a:r>
            <a:br/>
            <a:r>
              <a:t>精选大纲 — 标注每页素材来源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报告结构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200" b="1">
                <a:solidFill>
                  <a:srgbClr val="1F497D"/>
                </a:solidFill>
                <a:latin typeface="微软雅黑"/>
              </a:defRPr>
            </a:pPr>
            <a:r>
              <a:t>一、光频梳基本原理      → 光频梳原理和实例介绍.pptx + OFC频率测量.pptx</a:t>
            </a:r>
          </a:p>
          <a:p>
            <a:pPr algn="l">
              <a:spcAft>
                <a:spcPts val="400"/>
              </a:spcAft>
              <a:defRPr sz="2200" b="1">
                <a:solidFill>
                  <a:srgbClr val="1F497D"/>
                </a:solidFill>
                <a:latin typeface="微软雅黑"/>
              </a:defRPr>
            </a:pPr>
            <a:r>
              <a:t>二、飞秒激光技术        → OFC频率测量.pptx（姜海峰146页完整教程）</a:t>
            </a:r>
          </a:p>
          <a:p>
            <a:pPr algn="l">
              <a:spcAft>
                <a:spcPts val="400"/>
              </a:spcAft>
              <a:defRPr sz="2200" b="1">
                <a:solidFill>
                  <a:srgbClr val="1F497D"/>
                </a:solidFill>
                <a:latin typeface="微软雅黑"/>
              </a:defRPr>
            </a:pPr>
            <a:r>
              <a:t>三、频率控制技术        → OFC频率测量.pptx + OFC 2025合肥.pptx</a:t>
            </a:r>
          </a:p>
          <a:p>
            <a:pPr algn="l">
              <a:spcAft>
                <a:spcPts val="400"/>
              </a:spcAft>
              <a:defRPr sz="2200" b="1">
                <a:solidFill>
                  <a:srgbClr val="1F497D"/>
                </a:solidFill>
                <a:latin typeface="微软雅黑"/>
              </a:defRPr>
            </a:pPr>
            <a:r>
              <a:t>四、光谱展宽技术        → OFC频率测量.pptx</a:t>
            </a:r>
          </a:p>
          <a:p>
            <a:pPr algn="l">
              <a:spcAft>
                <a:spcPts val="400"/>
              </a:spcAft>
              <a:defRPr sz="2200" b="1">
                <a:solidFill>
                  <a:srgbClr val="1F497D"/>
                </a:solidFill>
                <a:latin typeface="微软雅黑"/>
              </a:defRPr>
            </a:pPr>
            <a:r>
              <a:t>五、光钟比对中的频率梳   → OFC 2025合肥.pptx + 自由空间TFT.pptx</a:t>
            </a:r>
          </a:p>
          <a:p>
            <a:pPr algn="l">
              <a:spcAft>
                <a:spcPts val="400"/>
              </a:spcAft>
              <a:defRPr sz="2200" b="1">
                <a:solidFill>
                  <a:srgbClr val="1F497D"/>
                </a:solidFill>
                <a:latin typeface="微软雅黑"/>
              </a:defRPr>
            </a:pPr>
            <a:r>
              <a:t>六、远程时频传递        → 自由空间TFT.pptx + 百公里TFT.pptx</a:t>
            </a:r>
          </a:p>
          <a:p>
            <a:pPr algn="l">
              <a:spcAft>
                <a:spcPts val="400"/>
              </a:spcAft>
              <a:defRPr sz="2200" b="1">
                <a:solidFill>
                  <a:srgbClr val="1F497D"/>
                </a:solidFill>
                <a:latin typeface="微软雅黑"/>
              </a:defRPr>
            </a:pPr>
            <a:r>
              <a:t>七、产品化与未来        → 光梳产品.pptx + 中高轨项目.pptx</a:t>
            </a:r>
          </a:p>
          <a:p>
            <a:pPr algn="l">
              <a:spcAft>
                <a:spcPts val="400"/>
              </a:spcAft>
              <a:defRPr sz="2200" b="1">
                <a:solidFill>
                  <a:srgbClr val="1F497D"/>
                </a:solidFill>
                <a:latin typeface="微软雅黑"/>
              </a:defRPr>
            </a:pPr>
            <a:r>
              <a:t>八、总结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12191695" cy="3200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一、光频梳基本原理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一、光频梳基本原理 — 素材索引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光频梳原理和实例介绍.pptx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第2页 → 光频梳简述与应用全景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OFC频率测量.pptx（姜海峰）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第2页 → 光学频率梳简述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7432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OFC频率测量.pptx（姜海峰）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第3页 → Autocorrelation 自相关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7432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OFC频率测量.pptx（姜海峰）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第6页 → 光谱测量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1148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OFC频率测量.pptx（姜海峰）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第8页 → 幅度噪声测量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12191695" cy="3200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二、飞秒激光技术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二、飞秒激光技术 — 素材索引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OFC频率测量.pptx（姜海峰）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第9页 → 相位噪声测量 — 锁模基础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OFC频率测量.pptx（姜海峰）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第14页 → 频率稳定度测量 — Allan方差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7432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OFC频率测量.pptx（姜海峰）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第18页 → 频率控制性能 — 锁相环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7432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OFC频率测量.pptx（姜海峰）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第19页 → 光梳原理及构成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1148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(需补充)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第0页 → Ti:Sapphire / Er:fiber / Yb:fiber 三种激光器对比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12191695" cy="3200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三、频率控制技术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三、频率控制技术 — 素材索引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OFC频率测量.pptx（姜海峰）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第20页 → 光钟频率测量 — 锁模到光频计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OFC频率测量.pptx（姜海峰）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第25页 → 光梳-光钟拍频 — f_beat检测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7432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(需补充)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第0页 → f-2f自参考干涉法 — Diddams RMP 2010 原理图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7432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(需补充)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第0页 → FPGA数字伺服 — NTSC Wang 2025 最新成果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1148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(需补充)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第0页 → 光学锁定 vs 全自参考 — 四种方案对比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12191695" cy="3200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四、光谱展宽技术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四、光谱展宽技术 — 素材索引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OFC频率测量.pptx（姜海峰）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第15页 → 频率稳定度测量 — 超连续谱产生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(需补充)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第0页 → PCF/HNLF/片上波导 — 三种展宽方案对比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7432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(需补充)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第0页 → 多分支频率梳 — NMIJ 8分支 / NTSC 5分支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7432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(需补充)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第0页 → 频率扩展 SHG/DFG/SFM/HHG — UV到THz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12191695" cy="3200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五、光钟比对中的频率梳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五、光钟比对中的频率梳 — 素材索引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OFC 2025合肥.pptx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第5页 → 基于光频梳载波的自由空间时频传递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OFC 2025合肥.pptx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第10页 → 光梳在光钟比对中的角色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7432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(需补充)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第0页 → OFC齿轮箱 — 光频→微波下转换链路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7432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(需补充)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第0页 → BACON 2025 — 三钟网络频率比 ≤3.2×10⁻¹⁸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1148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(需补充)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第0页 → OFD微波生成 — Fortier 2013 MUTC PD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12191695" cy="3200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六、远程时频传递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六、远程时频传递 — 素材索引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自由空间TFT.pptx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第2页 → 113km LOS 光学设计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自由空间TFT.pptx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第10页 → 时间传递 TDEV — 0.5fs@40s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7432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自由空间TFT.pptx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第14页 → 频率传递 MDEV — &lt;4×10⁻¹⁹@10000s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7432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百公里TFT.pptx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第10页 → 光纤频率传递链路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1148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(需补充)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第0页 → 双梳光谱 (Dual-Comb Spectroscopy) 原理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12191695" cy="3200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七、产品化与未来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七、产品化与未来 — 素材索引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光梳产品技术水平及应用情况.pptx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第1页 → 技术水平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3716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光梳产品技术水平及应用情况.pptx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第2页 → 产品实况 — 光生微波源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7432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光梳产品技术水平及应用情况.pptx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第3页 → 应用情况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27432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8346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中高轨项目.pptx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第5页 → 卫星共视光钟 — 星载光梳需求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114800"/>
            <a:ext cx="5669280" cy="11887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5303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C0504D"/>
                </a:solidFill>
                <a:latin typeface="微软雅黑"/>
              </a:defRPr>
            </a:pPr>
            <a:r>
              <a:t>📄 (需补充)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第0页 → 微谐振腔梳 — 芯片级OFC未来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12191695" cy="3200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572000"/>
            <a:ext cx="12191695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八、总结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OFC技术总结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800" b="0">
                <a:solidFill>
                  <a:srgbClr val="1F497D"/>
                </a:solidFill>
                <a:latin typeface="微软雅黑"/>
              </a:defRPr>
            </a:pPr>
            <a:r>
              <a:t>飞秒激光: Ti:Sap→Er/Yb光纤→片上锁模, 脉宽ps→fs, 尺寸实验台→芯片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F497D"/>
                </a:solidFill>
                <a:latin typeface="微软雅黑"/>
              </a:defRPr>
            </a:pPr>
            <a:r>
              <a:t>频率控制: f_CEO自由空间→片上, 稳定度10⁻¹⁵→10⁻²² (7个量级, 25年)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F497D"/>
                </a:solidFill>
                <a:latin typeface="微软雅黑"/>
              </a:defRPr>
            </a:pPr>
            <a:r>
              <a:t>光谱展宽: PCF→HNLF→片上SiN/AlN, 单八度→多八度→连续UV-VIS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F497D"/>
                </a:solidFill>
                <a:latin typeface="微软雅黑"/>
              </a:defRPr>
            </a:pPr>
            <a:r>
              <a:t>光钟比对: 梳稳定度10⁻¹⁹-10⁻²²已全面超越比对需求10⁻¹⁸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F497D"/>
                </a:solidFill>
                <a:latin typeface="微软雅黑"/>
              </a:defRPr>
            </a:pPr>
            <a:r>
              <a:t>远程传递: 光纤920km→1400km, 自由空间113km, TDEV&lt;1fs</a:t>
            </a:r>
          </a:p>
          <a:p>
            <a:pPr algn="l">
              <a:spcAft>
                <a:spcPts val="400"/>
              </a:spcAft>
              <a:defRPr sz="2200" b="1">
                <a:solidFill>
                  <a:srgbClr val="ED7D31"/>
                </a:solidFill>
                <a:latin typeface="微软雅黑"/>
              </a:defRPr>
            </a:pPr>
            <a:r>
              <a:t>核心结论: OFC不再是光钟比对的瓶颈 — 这是25年OFC发展的最大成就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使用说明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1F497D"/>
                </a:solidFill>
                <a:latin typeface="微软雅黑"/>
              </a:defRPr>
            </a:pPr>
            <a:r>
              <a:t>制作完整版OFC PPT的方法：</a:t>
            </a:r>
          </a:p>
          <a:p>
            <a:pPr algn="l">
              <a:spcAft>
                <a:spcPts val="400"/>
              </a:spcAft>
              <a:defRPr sz="600" b="0">
                <a:solidFill>
                  <a:srgbClr val="1F497D"/>
                </a:solidFill>
                <a:latin typeface="微软雅黑"/>
              </a:defRPr>
            </a:pPr>
          </a:p>
          <a:p>
            <a:pPr algn="l">
              <a:spcAft>
                <a:spcPts val="400"/>
              </a:spcAft>
              <a:defRPr sz="1800" b="1">
                <a:solidFill>
                  <a:srgbClr val="C0504D"/>
                </a:solidFill>
                <a:latin typeface="微软雅黑"/>
              </a:defRPr>
            </a:pPr>
            <a:r>
              <a:t>1. 核心教材：OFC频率测量.pptx（姜海峰, 146页） — 覆盖70%内容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F497D"/>
                </a:solidFill>
                <a:latin typeface="微软雅黑"/>
              </a:defRPr>
            </a:pPr>
            <a:r>
              <a:t>2. 补充OFC原理：光频梳原理和实例介绍.pptx (86页)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F497D"/>
                </a:solidFill>
                <a:latin typeface="微软雅黑"/>
              </a:defRPr>
            </a:pPr>
            <a:r>
              <a:t>3. 补充最新进展：OFC 2025合肥.pptx (31页)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F497D"/>
                </a:solidFill>
                <a:latin typeface="微软雅黑"/>
              </a:defRPr>
            </a:pPr>
            <a:r>
              <a:t>4. 补充时频传递：自由空间TFT.pptx + 百公里TFT.pptx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F497D"/>
                </a:solidFill>
                <a:latin typeface="微软雅黑"/>
              </a:defRPr>
            </a:pPr>
            <a:r>
              <a:t>5. 补充产品化：光梳产品技术水平及应用情况.pptx (4页)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1F497D"/>
                </a:solidFill>
                <a:latin typeface="微软雅黑"/>
              </a:defRPr>
            </a:pPr>
            <a:r>
              <a:t>6. 标记"(需补充)"的页需新建 — 建议从arXiv论文PDF提取图表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1F497D"/>
                </a:solidFill>
                <a:latin typeface="微软雅黑"/>
              </a:defRPr>
            </a:pPr>
          </a:p>
          <a:p>
            <a:pPr algn="l">
              <a:spcAft>
                <a:spcPts val="400"/>
              </a:spcAft>
              <a:defRPr sz="1800" b="1">
                <a:solidFill>
                  <a:srgbClr val="C0504D"/>
                </a:solidFill>
                <a:latin typeface="微软雅黑"/>
              </a:defRPr>
            </a:pPr>
            <a:r>
              <a:t>源PPT完整路径：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/data/交流/2024西安504/基于光梳的频率测量.pptx  ← 姜海峰OFC教程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/data/交流/old/光频梳原理和实例介绍 20220316.pptx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/data/交流/基于光频梳2025 8 合肥.pptx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/data/交流/2024西安504/自由空间时间频率传递.pptx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F497D"/>
                </a:solidFill>
                <a:latin typeface="微软雅黑"/>
              </a:defRPr>
            </a:pPr>
            <a:r>
              <a:t>   /data/交流/2024西安504/光梳产品技术水平及应用情况.pptx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