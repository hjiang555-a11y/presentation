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35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12192000" cy="6858000"/>
  <p:notesSz cx="6858000" cy="9144000"/>
  <p:custDataLst>
    <p:tags r:id="rId6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579" y="2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5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ableStyles" Target="tableStyles.xml"/><Relationship Id="rId62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044EA-23C4-425F-B58F-17F0A44930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EC0C1-6690-415C-A7CE-4DD03F5AA34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12DA6-F2FF-44CC-84BE-2ECB3F3039C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1E8BD-FA64-4173-B3C3-FB1F2775AEF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1F497D"/>
                </a:solidFill>
              </a:defRPr>
            </a:pPr>
            <a:r>
              <a:t>SI秒的重新定义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b="0">
                <a:solidFill>
                  <a:srgbClr val="666666"/>
                </a:solidFill>
                <a:latin typeface="微软雅黑"/>
              </a:defRPr>
            </a:pPr>
            <a:r>
              <a:t>意义 · 进程 · 条件 · 现状</a:t>
            </a:r>
          </a:p>
          <a:p>
            <a:pPr algn="ctr">
              <a:defRPr sz="800" b="0">
                <a:solidFill>
                  <a:srgbClr val="000000"/>
                </a:solidFill>
                <a:latin typeface="微软雅黑"/>
              </a:defRPr>
            </a:pPr>
          </a:p>
          <a:p>
            <a:pPr algn="ctr">
              <a:defRPr sz="1400" b="0">
                <a:solidFill>
                  <a:srgbClr val="2E86C1"/>
                </a:solidFill>
                <a:latin typeface="微软雅黑"/>
              </a:defRPr>
            </a:pPr>
            <a:r>
              <a:t>SI Second Redefinition: Significance, Progress, Criteria,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4572000"/>
            <a:ext cx="6705295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475488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微软雅黑"/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秒：SI单位制的基石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The Second: Foundation of the International System of Units</a:t>
            </a:r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2286000" cy="2286000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秒</a:t>
            </a:r>
            <a:br/>
            <a:r>
              <a:t>SECOND</a:t>
            </a:r>
            <a:br/>
            <a:r>
              <a:t>ΔνCs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2" y="1344168"/>
            <a:ext cx="1097280" cy="10972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97D"/>
                </a:solidFill>
              </a:defRPr>
            </a:pPr>
            <a:r>
              <a:t>米 m</a:t>
            </a:r>
            <a:br/>
            <a:r>
              <a:t>c (光速)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5257800" y="1892808"/>
            <a:ext cx="2" cy="2176272"/>
          </a:xfrm>
          <a:prstGeom prst="line">
            <a:avLst/>
          </a:prstGeom>
          <a:ln w="1905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593867" y="2432304"/>
            <a:ext cx="1097280" cy="10972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97D"/>
                </a:solidFill>
              </a:defRPr>
            </a:pPr>
            <a:r>
              <a:t>千克 kg</a:t>
            </a:r>
            <a:br/>
            <a:r>
              <a:t>h (普朗克)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257800" y="2980944"/>
            <a:ext cx="1884707" cy="1088136"/>
          </a:xfrm>
          <a:prstGeom prst="line">
            <a:avLst/>
          </a:prstGeom>
          <a:ln w="1905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93867" y="4608575"/>
            <a:ext cx="1097280" cy="10972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97D"/>
                </a:solidFill>
              </a:defRPr>
            </a:pPr>
            <a:r>
              <a:t>安培 A</a:t>
            </a:r>
            <a:br/>
            <a:r>
              <a:t>e (元电荷)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57800" y="4069080"/>
            <a:ext cx="1884707" cy="1088135"/>
          </a:xfrm>
          <a:prstGeom prst="line">
            <a:avLst/>
          </a:prstGeom>
          <a:ln w="1905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09162" y="5696711"/>
            <a:ext cx="1097280" cy="10972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97D"/>
                </a:solidFill>
              </a:defRPr>
            </a:pPr>
            <a:r>
              <a:t>开尔文 K</a:t>
            </a:r>
            <a:br/>
            <a:r>
              <a:t>k (玻尔兹曼)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4069080"/>
            <a:ext cx="2" cy="2176271"/>
          </a:xfrm>
          <a:prstGeom prst="line">
            <a:avLst/>
          </a:prstGeom>
          <a:ln w="1905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4449" y="4608570"/>
            <a:ext cx="1097280" cy="10972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97D"/>
                </a:solidFill>
              </a:defRPr>
            </a:pPr>
            <a:r>
              <a:t>摩尔 mol</a:t>
            </a:r>
            <a:br/>
            <a:r>
              <a:t>NA (阿伏伽德罗)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373089" y="4069080"/>
            <a:ext cx="1884711" cy="1088130"/>
          </a:xfrm>
          <a:prstGeom prst="line">
            <a:avLst/>
          </a:prstGeom>
          <a:ln w="1905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24455" y="2432299"/>
            <a:ext cx="1097280" cy="1097280"/>
          </a:xfrm>
          <a:prstGeom prst="roundRect">
            <a:avLst/>
          </a:prstGeom>
          <a:solidFill>
            <a:srgbClr val="D6E4F0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F497D"/>
                </a:solidFill>
              </a:defRPr>
            </a:pPr>
            <a:r>
              <a:t>坎德拉 cd</a:t>
            </a:r>
            <a:br/>
            <a:r>
              <a:t>Kcd (光视效能)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3373095" y="2980939"/>
            <a:ext cx="1884705" cy="1088141"/>
          </a:xfrm>
          <a:prstGeom prst="line">
            <a:avLst/>
          </a:prstGeom>
          <a:ln w="19050">
            <a:solidFill>
              <a:srgbClr val="1F49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6个基本单位均直接或间接溯源到秒的定义 → 秒的重定义影响整个SI体系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2018年SI量子革命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2018 SI Quantum Revolution: 7 Defining Constants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926080" cy="21031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92608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2320" y="1305560"/>
            <a:ext cx="282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ΔνCs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173736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铯-133超精细</a:t>
            </a:r>
            <a:br/>
            <a:r>
              <a:t>跃迁频率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20" y="246888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497D"/>
                </a:solidFill>
                <a:latin typeface="微软雅黑"/>
              </a:defRPr>
            </a:pPr>
            <a:r>
              <a:t>9 192 631 770 Hz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40" y="1280160"/>
            <a:ext cx="2926080" cy="21031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7640" y="1280160"/>
            <a:ext cx="292608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8440" y="1305560"/>
            <a:ext cx="282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3840" y="173736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真空中光速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3840" y="246888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497D"/>
                </a:solidFill>
                <a:latin typeface="微软雅黑"/>
              </a:defRPr>
            </a:pPr>
            <a:r>
              <a:t>299 792 458 m/s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1280160"/>
            <a:ext cx="2926080" cy="21031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23760" y="1280160"/>
            <a:ext cx="292608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4560" y="1305560"/>
            <a:ext cx="282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9960" y="173736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普朗克常数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9960" y="246888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497D"/>
                </a:solidFill>
                <a:latin typeface="微软雅黑"/>
              </a:defRPr>
            </a:pPr>
            <a:r>
              <a:t>6.62607015×10⁻³⁴ J·s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9880" y="1280160"/>
            <a:ext cx="2926080" cy="21031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469880" y="1280160"/>
            <a:ext cx="292608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20680" y="1305560"/>
            <a:ext cx="282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6080" y="173736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元电荷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6080" y="246888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497D"/>
                </a:solidFill>
                <a:latin typeface="微软雅黑"/>
              </a:defRPr>
            </a:pPr>
            <a:r>
              <a:t>1.602176634×10⁻¹⁹ 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3657600"/>
            <a:ext cx="2926080" cy="21031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3657600"/>
            <a:ext cx="292608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5360" y="3683000"/>
            <a:ext cx="282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70760" y="411480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玻尔兹曼常数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70760" y="484632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497D"/>
                </a:solidFill>
                <a:latin typeface="微软雅黑"/>
              </a:defRPr>
            </a:pPr>
            <a:r>
              <a:t>1.380649×10⁻²³ J/K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40680" y="3657600"/>
            <a:ext cx="2926080" cy="21031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40680" y="3657600"/>
            <a:ext cx="292608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91480" y="3683000"/>
            <a:ext cx="282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16880" y="411480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阿伏伽德罗常数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16880" y="484632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497D"/>
                </a:solidFill>
                <a:latin typeface="微软雅黑"/>
              </a:defRPr>
            </a:pPr>
            <a:r>
              <a:t>6.02214076×10²³ mol⁻¹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657600"/>
            <a:ext cx="2926080" cy="2103120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686800" y="3657600"/>
            <a:ext cx="292608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7600" y="3683000"/>
            <a:ext cx="282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Kcd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0" y="411480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光视效能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0" y="4846320"/>
            <a:ext cx="277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F497D"/>
                </a:solidFill>
                <a:latin typeface="微软雅黑"/>
              </a:defRPr>
            </a:pPr>
            <a:r>
              <a:t>683 lm/W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微软雅黑"/>
              </a:defRPr>
            </a:pPr>
            <a:r>
              <a:t>2018.11.16 CGPM投票通过 | 2019.5.20 世界计量日正式生效 | 基于7个基本常数的新SI体系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为什么要重新定义秒？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Why Redefine the Second? Cs vs Optical Clocks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572000" cy="5029200"/>
          </a:xfrm>
          <a:prstGeom prst="roundRect">
            <a:avLst/>
          </a:prstGeom>
          <a:solidFill>
            <a:srgbClr val="FDF2F2"/>
          </a:solidFill>
          <a:ln w="254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8520" y="1371600"/>
            <a:ext cx="431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03030"/>
                </a:solidFill>
                <a:latin typeface="微软雅黑"/>
              </a:defRPr>
            </a:pPr>
            <a:r>
              <a:t>铯原子钟 (Current Definition)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4720" y="2011680"/>
            <a:ext cx="416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定义常数: ΔνCs = 9 192 631 770 Hz</a:t>
            </a:r>
          </a:p>
          <a:p>
            <a:pPr>
              <a:spcAft>
                <a:spcPts val="600"/>
              </a:spcAft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微波跃迁频率: ~9.2 GHz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实验室型不确定度: ~2 × 10⁻¹⁶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受限于量子投影噪声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黑体辐射频移: ~10⁻¹⁴量级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二阶塞曼效应需精密控制</a:t>
            </a:r>
          </a:p>
          <a:p>
            <a:pPr>
              <a:spcAft>
                <a:spcPts val="600"/>
              </a:spcAft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已达到物理极限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近50年精度提升: ~10倍/10年 → 现已停滞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280160"/>
            <a:ext cx="4572000" cy="50292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85000" y="1371600"/>
            <a:ext cx="431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8040"/>
                </a:solidFill>
                <a:latin typeface="微软雅黑"/>
              </a:defRPr>
            </a:pPr>
            <a:r>
              <a:t>光学原子钟 (Next Generation)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1200" y="2011680"/>
            <a:ext cx="416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候选跃迁频率: ~10¹⁴–10¹⁵ Hz (光学频段)</a:t>
            </a:r>
          </a:p>
          <a:p>
            <a:pPr>
              <a:spcAft>
                <a:spcPts val="600"/>
              </a:spcAft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光钟系统不确定度: 8 × 10⁻¹⁹ (Al⁺)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高Q值跃迁 → 更优频率稳定度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黑体辐射频移远小于微波钟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多类型光钟相互验证 (Sr, Yb, Al⁺, Yb⁺)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核光钟 (²²⁹Th) 有潜力进入10⁻¹⁹以下</a:t>
            </a:r>
          </a:p>
          <a:p>
            <a:pPr>
              <a:spcAft>
                <a:spcPts val="600"/>
              </a:spcAft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精度优势: 100–1000× 优于Cs钟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正在向秒的重新定义迈进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97D"/>
                </a:solidFill>
                <a:latin typeface="微软雅黑"/>
              </a:defRPr>
            </a:pPr>
            <a:r>
              <a:t>Cs: ~2×10⁻¹⁶  ← 100–1000倍差距 →  Optical: 8×10⁻¹⁹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CCTF/CGPM路线图 2016→2030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CCTF/CGPM Roadmap: From Cs to Optical Second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10362895" cy="50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>
            <a:off x="11155680" y="3581400"/>
            <a:ext cx="731520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5680" y="3556000"/>
            <a:ext cx="203200" cy="203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CCTF发布</a:t>
            </a:r>
            <a:br/>
            <a:r>
              <a:t>战略规划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启动光钟</a:t>
            </a:r>
            <a:br/>
            <a:r>
              <a:t>比对研究</a:t>
            </a:r>
          </a:p>
        </p:txBody>
      </p:sp>
      <p:sp>
        <p:nvSpPr>
          <p:cNvPr id="9" name="Oval 8"/>
          <p:cNvSpPr/>
          <p:nvPr/>
        </p:nvSpPr>
        <p:spPr>
          <a:xfrm>
            <a:off x="2915920" y="3556000"/>
            <a:ext cx="203200" cy="203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2020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3774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CCTF</a:t>
            </a:r>
            <a:br/>
            <a:r>
              <a:t>2020决议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光钟基准</a:t>
            </a:r>
            <a:br/>
            <a:r>
              <a:t>贡献TAI</a:t>
            </a:r>
          </a:p>
        </p:txBody>
      </p:sp>
      <p:sp>
        <p:nvSpPr>
          <p:cNvPr id="13" name="Oval 12"/>
          <p:cNvSpPr/>
          <p:nvPr/>
        </p:nvSpPr>
        <p:spPr>
          <a:xfrm>
            <a:off x="4836160" y="3556000"/>
            <a:ext cx="203200" cy="203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3774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CCTF</a:t>
            </a:r>
            <a:br/>
            <a:r>
              <a:t>工作组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制定秒重定义</a:t>
            </a:r>
            <a:br/>
            <a:r>
              <a:t>路线图和判据</a:t>
            </a:r>
          </a:p>
        </p:txBody>
      </p:sp>
      <p:sp>
        <p:nvSpPr>
          <p:cNvPr id="17" name="Oval 16"/>
          <p:cNvSpPr/>
          <p:nvPr/>
        </p:nvSpPr>
        <p:spPr>
          <a:xfrm>
            <a:off x="6756400" y="3556000"/>
            <a:ext cx="203200" cy="203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3774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CGPM</a:t>
            </a:r>
            <a:br/>
            <a:r>
              <a:t>第28届大会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审议路线图</a:t>
            </a:r>
            <a:br/>
            <a:r>
              <a:t>和进展</a:t>
            </a:r>
          </a:p>
        </p:txBody>
      </p:sp>
      <p:sp>
        <p:nvSpPr>
          <p:cNvPr id="21" name="Oval 20"/>
          <p:cNvSpPr/>
          <p:nvPr/>
        </p:nvSpPr>
        <p:spPr>
          <a:xfrm>
            <a:off x="8676640" y="3556000"/>
            <a:ext cx="203200" cy="203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3774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CCTF</a:t>
            </a:r>
            <a:br/>
            <a:r>
              <a:t>中期评估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评估判据</a:t>
            </a:r>
            <a:br/>
            <a:r>
              <a:t>满足状态</a:t>
            </a:r>
          </a:p>
        </p:txBody>
      </p:sp>
      <p:sp>
        <p:nvSpPr>
          <p:cNvPr id="25" name="Oval 24"/>
          <p:cNvSpPr/>
          <p:nvPr/>
        </p:nvSpPr>
        <p:spPr>
          <a:xfrm>
            <a:off x="10596880" y="3556000"/>
            <a:ext cx="203200" cy="203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3774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微软雅黑"/>
              </a:defRPr>
            </a:pPr>
            <a:r>
              <a:t>CGPM</a:t>
            </a:r>
            <a:br/>
            <a:r>
              <a:t>第29届大会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146304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可能的</a:t>
            </a:r>
            <a:br/>
            <a:r>
              <a:t>秒重定义投票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497D"/>
                </a:solidFill>
                <a:latin typeface="微软雅黑"/>
              </a:defRPr>
            </a:pPr>
            <a:r>
              <a:t>关键节点: 2026 CGPM审议 → 2027 CCTF评估 → 2030 可能的投票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CCTF强制性判据 (Mandatory Criteria)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I. 基本判据 + II. 补充判据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36576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I. 基本判据 (Essential Criteria)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5720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判据内容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至少3种不同光钟（不同原子/离子），不确定度 ≤ 2×10⁻¹⁷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至少3种独立光钟比对，一致性 ≤ 5×10⁻¹⁸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每种光钟至少有2个独立实验室实现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光钟定期向TAI贡献，持续 ≥ 1年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光频标频率比测量不确定度 ≤ 5×10⁻¹⁸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188720"/>
            <a:ext cx="5303520" cy="3657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II. 补充判据 (Supplementary Criteria)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69164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5720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编号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判据内容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光钟比对通过多种时频传递链路（光纤+卫星+自由空间）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建立连续运行的光钟网络（≥5节点）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重力位差测量的不确定度 ≤ 2×10⁻¹⁸ (等效高度 ~2 cm)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用户接口：建立光钟与Cs钟的连续频率链路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实施计划：定义秒的新表述，发布miss en pratique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秒的重定义需要满足全部基本判据 + 部分补充判据  →  CCTF (2022) 制定了10条判据框架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判据满足状态评估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Criteria Fulfillment Status: ✅ Satisfied  ⚠️ In Progress  ❌ Not Yet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114800"/>
                <a:gridCol w="64008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判据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内容摘要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关键证据 / 差距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≥3种光钟, u≤2×10⁻¹⁷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Sr, Yb, Al⁺, Yb⁺, Hg⁺均已≤2×10⁻¹⁷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I.2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≥3独立比对, 一致性≤5×10⁻¹⁸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BACON比对: Sr/Yb, Al⁺/Yb⁺, Yb⁺/Sr均≤5×10⁻¹⁸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每种光钟≥2独立实验室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Sr: NIST, RIKEN, PTB, NTSC... Yb: NIST, KRISS, INRIM...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I.4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定期向TAI贡献≥1年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部分光钟已开始贡献, 但尚未形成常态化机制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频率比测量u≤5×10⁻¹⁸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BACON 2025: Sr/Yb比≤3.2×10⁻¹⁸, 需更多独立验证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II.1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多种时频传递链路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光纤已成熟, 自由空间113km已演示, 卫星链路待完善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光钟网络≥5节点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尚无持续运行的多节点光钟网络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II.3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重力位差u≤2×10⁻¹⁸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geoid不确定度30-50cm → 需cm级大地水准面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用户接口: 连续频率链路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Cs→光学频率比已有, 但非连续运行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II.5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实施计划: mis en pratique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⚠️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CCTF正在起草, 预计2027年完成初稿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97D"/>
                </a:solidFill>
                <a:latin typeface="微软雅黑"/>
              </a:defRPr>
            </a:pPr>
            <a:r>
              <a:t>✅ 已满足(3/10)  ⚠️ 部分满足(6/10)  ❌ 尚未满足(1/10) — 2027年目标: 全部✅或⚠️→✅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光学原子钟类型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Optical Clock Types: Candidate Transitions for Redefinition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103120" cy="41148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103120" cy="8229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8000" y="1422400"/>
            <a:ext cx="200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Sr (锶)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1783080"/>
            <a:ext cx="200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中性原子</a:t>
            </a:r>
            <a:br/>
            <a:r>
              <a:t>光晶格钟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2377440"/>
            <a:ext cx="189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⁸⁷Sr</a:t>
            </a:r>
            <a:br/>
            <a:r>
              <a:t>698 nm</a:t>
            </a:r>
            <a:br/>
            <a:r>
              <a:t>~9.7 mHz</a:t>
            </a:r>
            <a:br/>
            <a:r>
              <a:t>~429 THz</a:t>
            </a:r>
            <a:br/>
            <a:r>
              <a:t>4.8×10⁻¹⁸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371600"/>
            <a:ext cx="2103120" cy="41148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88920" y="1371600"/>
            <a:ext cx="210312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9720" y="1422400"/>
            <a:ext cx="200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Yb (镱)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9720" y="1783080"/>
            <a:ext cx="200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中性原子</a:t>
            </a:r>
            <a:br/>
            <a:r>
              <a:t>光晶格钟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0520" y="2377440"/>
            <a:ext cx="189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¹⁷¹Yb</a:t>
            </a:r>
            <a:br/>
            <a:r>
              <a:t>578 nm</a:t>
            </a:r>
            <a:br/>
            <a:r>
              <a:t>~10 mHz</a:t>
            </a:r>
            <a:br/>
            <a:r>
              <a:t>~518 THz</a:t>
            </a:r>
            <a:br/>
            <a:r>
              <a:t>~1.4×10⁻¹⁷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71600"/>
            <a:ext cx="2103120" cy="41148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371600"/>
            <a:ext cx="2103120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1440" y="1422400"/>
            <a:ext cx="200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Al⁺ (铝离子)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1440" y="1783080"/>
            <a:ext cx="200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单离子</a:t>
            </a:r>
            <a:br/>
            <a:r>
              <a:t>量子逻辑钟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2240" y="2377440"/>
            <a:ext cx="189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²⁷Al⁺</a:t>
            </a:r>
            <a:br/>
            <a:r>
              <a:t>267 nm</a:t>
            </a:r>
            <a:br/>
            <a:r>
              <a:t>8 mHz</a:t>
            </a:r>
            <a:br/>
            <a:r>
              <a:t>~1.12 PHz</a:t>
            </a:r>
            <a:br/>
            <a:r>
              <a:t>8×10⁻¹⁹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371600"/>
            <a:ext cx="2103120" cy="41148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E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1371600"/>
            <a:ext cx="2103120" cy="822960"/>
          </a:xfrm>
          <a:prstGeom prst="rect">
            <a:avLst/>
          </a:prstGeom>
          <a:solidFill>
            <a:srgbClr val="E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03160" y="1422400"/>
            <a:ext cx="200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Yb⁺ (镱离子)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3160" y="1783080"/>
            <a:ext cx="200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单离子钟</a:t>
            </a:r>
            <a:br/>
            <a:r>
              <a:t>(E3/E2)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3960" y="2377440"/>
            <a:ext cx="189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¹⁷¹Yb⁺</a:t>
            </a:r>
            <a:br/>
            <a:r>
              <a:t>467 nm</a:t>
            </a:r>
            <a:br/>
            <a:r>
              <a:t>3.1 nHz</a:t>
            </a:r>
            <a:br/>
            <a:r>
              <a:t>~642 THz</a:t>
            </a:r>
            <a:br/>
            <a:r>
              <a:t>~3×10⁻¹⁸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84080" y="1371600"/>
            <a:ext cx="2103120" cy="41148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1371600"/>
            <a:ext cx="2103120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34880" y="1422400"/>
            <a:ext cx="200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Hg (汞)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4880" y="1783080"/>
            <a:ext cx="200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微软雅黑"/>
              </a:defRPr>
            </a:pPr>
            <a:r>
              <a:t>中性原子</a:t>
            </a:r>
            <a:br/>
            <a:r>
              <a:t>光晶格钟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5680" y="2377440"/>
            <a:ext cx="189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¹⁹⁹Hg</a:t>
            </a:r>
            <a:br/>
            <a:r>
              <a:t>266 nm</a:t>
            </a:r>
            <a:br/>
            <a:r>
              <a:t>~100 mHz</a:t>
            </a:r>
            <a:br/>
            <a:r>
              <a:t>~1.13 PHz</a:t>
            </a:r>
            <a:br/>
            <a:r>
              <a:t>~7×10⁻¹⁷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5种主要光钟类型 | Sr和Yb晶格钟最为成熟 | Al⁺单离子钟精度最高(8×10⁻¹⁹) | ²²⁹Th核光钟为未来方向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光钟系统不确定度进化 (2008→2025)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Optical Clock Uncertainty Evolution — Bacon 2025 Review</a:t>
            </a:r>
          </a:p>
        </p:txBody>
      </p:sp>
      <p:pic>
        <p:nvPicPr>
          <p:cNvPr id="3" name="Picture 2" descr="bacon2025_p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305" y="1280160"/>
            <a:ext cx="353290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Source: Bacon et al., Rev. Mod. Phys. (2025) | 从10⁻¹⁵到10⁻¹⁹的跨越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BACON光钟网络 (2021)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Boulder Atomic Clock Optical Network</a:t>
            </a:r>
          </a:p>
        </p:txBody>
      </p:sp>
      <p:pic>
        <p:nvPicPr>
          <p:cNvPr id="3" name="Picture 2" descr="bacon2021_p3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822" y="1280160"/>
            <a:ext cx="4339876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3节点光钟网络: NIST (Al⁺/Yb), JILA (Sr), 1.5km光纤互联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首次实现3个独立光钟的同时比对 | 频率比一致性 ~10⁻¹⁷量级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验证了光钟网络实现秒重定义的可行性 | 为2025年BACON综述奠定基础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BACON 2025: 频率比不确定度 ≤ 3.2×10⁻¹⁸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BACON 2025: Frequency Ratio Uncertainty ≤ 3.2×10⁻¹⁸</a:t>
            </a:r>
          </a:p>
        </p:txBody>
      </p:sp>
      <p:pic>
        <p:nvPicPr>
          <p:cNvPr id="3" name="Picture 2" descr="bacon2025_p1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22248"/>
            <a:ext cx="7315200" cy="477926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0" y="1371600"/>
            <a:ext cx="3474720" cy="16459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82000" y="1498600"/>
            <a:ext cx="31699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40"/>
                </a:solidFill>
                <a:latin typeface="微软雅黑"/>
              </a:defRPr>
            </a:pPr>
            <a:r>
              <a:t>关键成果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0" y="1879600"/>
            <a:ext cx="3169920" cy="101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Sr/Yb频率比综合不确定性: 3.2×10⁻¹⁸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Al⁺/Yb频率比: ~1.0×10⁻¹⁷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Yb⁺(E3)/Sr频率比: ~2.6×10⁻¹⁷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满足判据I.5要求 (≤5×10⁻¹⁸)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291840"/>
            <a:ext cx="3474720" cy="16459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0" y="3418840"/>
            <a:ext cx="31699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微软雅黑"/>
              </a:defRPr>
            </a:pPr>
            <a:r>
              <a:t>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0" y="3799840"/>
            <a:ext cx="3169920" cy="101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首次达到秒重定义所需精度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多实验室独立验证中(NMIJ, PTB, SYRTE)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为'光学秒'铺平道路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展示了光钟网络互联能力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497D"/>
                </a:solidFill>
                <a:latin typeface="微软雅黑"/>
              </a:defRPr>
            </a:pPr>
            <a:r>
              <a:t>2025年BACON综述标志着光钟从'比Cs好'到'准备好重定义秒'的里程碑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光频梳：连接光频与微波的桥梁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Optical Frequency Comb: Gearbox Between Optical and Microwave Domains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2743200" cy="1828800"/>
          </a:xfrm>
          <a:prstGeom prst="roundRect">
            <a:avLst/>
          </a:prstGeom>
          <a:solidFill>
            <a:srgbClr val="D6E4F0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97D"/>
                </a:solidFill>
                <a:latin typeface="微软雅黑"/>
              </a:defRPr>
            </a:pPr>
            <a:r>
              <a:t>微波频率标准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Cs喷泉钟</a:t>
            </a:r>
            <a:br/>
            <a:r>
              <a:t>~9.2 GHz</a:t>
            </a:r>
            <a:br/>
            <a:r>
              <a:t>不确定度: ~10⁻¹⁶</a:t>
            </a:r>
            <a:br/>
            <a:r>
              <a:t>当前秒定义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3962095" cy="3200400"/>
          </a:xfrm>
          <a:prstGeom prst="roundRect">
            <a:avLst/>
          </a:prstGeom>
          <a:solidFill>
            <a:srgbClr val="E8F0F8"/>
          </a:solidFill>
          <a:ln w="381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1920240"/>
            <a:ext cx="3962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  <a:latin typeface="微软雅黑"/>
              </a:defRPr>
            </a:pPr>
            <a:r>
              <a:t>🔄 光学频率梳 (OFC)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4688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fₙ = n·fᵣₑₚ + f₀</a:t>
            </a:r>
          </a:p>
          <a:p>
            <a:pPr>
              <a:spcAft>
                <a:spcPts val="60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将光频(~10¹⁴ Hz)精确链接到微波(~10¹⁰ Hz)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载波包络偏移频率控制 → 自参考锁定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转移不确定度可达10⁻¹⁹量级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• Nobel Prize in Physics 2005 (Hänsch &amp; Hall)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• 已成熟商用: Menlo Systems, Vescent等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743200"/>
            <a:ext cx="2743200" cy="18288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8040"/>
                </a:solidFill>
                <a:latin typeface="微软雅黑"/>
              </a:defRPr>
            </a:pPr>
            <a:r>
              <a:t>光学频率标准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32918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光钟</a:t>
            </a:r>
            <a:br/>
            <a:r>
              <a:t>~10¹⁴–10¹⁵ Hz</a:t>
            </a:r>
            <a:br/>
            <a:r>
              <a:t>不确定度: 10⁻¹⁸</a:t>
            </a:r>
            <a:br/>
            <a:r>
              <a:t>未来秒定义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37560" y="3474720"/>
            <a:ext cx="640080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8183879" y="3474720"/>
            <a:ext cx="640080" cy="274320"/>
          </a:xfrm>
          <a:prstGeom prst="rightArrow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497D"/>
                </a:solidFill>
                <a:latin typeface="微软雅黑"/>
              </a:defRPr>
            </a:pPr>
            <a:r>
              <a:t>OFC是秒重定义的关键使能技术 — 5种以上光钟均可通过OFC与当前Cs秒定义建立溯源链路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国际光钟比对现状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International Optical Clock Comparisons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9784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828800"/>
                <a:gridCol w="2286000"/>
                <a:gridCol w="13716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比对项目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参与机构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光钟类型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传递方式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不确定度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BACON (2021)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NIST, JILA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Al⁺/Yb/Sr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光纤 1.5km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~10⁻¹⁷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Boulder-PTB (2023)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NIST, PTB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Sr/Sr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光纤+卫星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~10⁻¹⁶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SYRTE-PTB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SYRTE, PTB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Sr/Sr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光纤+卫星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~10⁻¹⁷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RIKEN-NMIJ (2023)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RIKEN, NMIJ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Sr/Yb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光纤 30km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~10⁻¹⁷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KRISS-Yb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KRISS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Yb/Yb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本地比对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~10⁻¹⁷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Intercontinental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欧亚美多机构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Sr/Yb/Al⁺*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卫星TW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~10⁻¹⁶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Free-Space 113km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中国科大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Sr(模拟)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自由空间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~10⁻¹⁸(等效)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497D"/>
                </a:solidFill>
                <a:latin typeface="微软雅黑"/>
              </a:defRPr>
            </a:pPr>
            <a:r>
              <a:t>趋势: 从本地比对 → 洲际比对 → 光钟网络 → 全球光钟基础设施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现有比对主要受限于时频传递手段 | 自由空间和光纤链路将是弥补短板的关键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光纤时频传递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Optical Fiber Time-Frequency Transfer</a:t>
            </a:r>
          </a:p>
        </p:txBody>
      </p:sp>
      <p:pic>
        <p:nvPicPr>
          <p:cNvPr id="3" name="Picture 2" descr="fiber2008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705" y="1280160"/>
            <a:ext cx="3439390" cy="4572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86800" y="1371600"/>
            <a:ext cx="3017520" cy="22860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39200" y="1498600"/>
            <a:ext cx="2712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微软雅黑"/>
              </a:defRPr>
            </a:pPr>
            <a:r>
              <a:t>光纤时频传递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9200" y="1879600"/>
            <a:ext cx="271272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主动相位噪声抑制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传递稳定度: ~10⁻¹⁹ @ 10⁴s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距离: 数百～数千km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已实现跨国光纤链路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PTB-SYRTE: 1415 km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不稳定性≤4×10⁻¹⁹ at 10⁴s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3931920"/>
            <a:ext cx="3017520" cy="16459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39200" y="4058920"/>
            <a:ext cx="2712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40"/>
                </a:solidFill>
                <a:latin typeface="微软雅黑"/>
              </a:defRPr>
            </a:pPr>
            <a:r>
              <a:t>优势与局限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39200" y="4439920"/>
            <a:ext cx="2712720" cy="101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✅ 高稳定度, 昼夜连续运行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✅ 双向比对, 消除不对称性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⚠️ 需专用光纤或暗光纤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⚠️ 越洋光纤: 技术挑战巨大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497D"/>
                </a:solidFill>
                <a:latin typeface="微软雅黑"/>
              </a:defRPr>
            </a:pPr>
            <a:r>
              <a:t>光纤链路是陆基光钟网络的核心基础设施 | PTB-SYRTE 1415km链路为标杆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自由空间时频传递：113 km 实验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Free-Space Time-Frequency Transfer: 113 km Demonstration</a:t>
            </a:r>
          </a:p>
        </p:txBody>
      </p:sp>
      <p:pic>
        <p:nvPicPr>
          <p:cNvPr id="3" name="Picture 2" descr="fig4_experiment_113k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94888"/>
            <a:ext cx="6858000" cy="23425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1280160"/>
            <a:ext cx="3931920" cy="22860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4800" y="1407160"/>
            <a:ext cx="36271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微软雅黑"/>
              </a:defRPr>
            </a:pPr>
            <a:r>
              <a:t>实验参数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1788160"/>
            <a:ext cx="362712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距离: 113 km (大气链路)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链路损耗: ~60-70 dB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时间同步精度: ~fs 量级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频率传递不确定度 ~10⁻¹⁸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大气湍流补偿: 自适应光学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840480"/>
            <a:ext cx="3931920" cy="201168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0" y="3967480"/>
            <a:ext cx="36271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40"/>
                </a:solidFill>
                <a:latin typeface="微软雅黑"/>
              </a:defRPr>
            </a:pPr>
            <a:r>
              <a:t>战略意义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0" y="4348480"/>
            <a:ext cx="3627120" cy="137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验证自由空间光钟比对的可行性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卫星-地面光钟链路的预研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补充越洋光纤的不足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为全球光钟网络提供最后一环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中国科大潘建伟团队 (2022, Nature)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时频传递的根本挑战：大地水准面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Fundamental Challenge of T/F Transfer: The Geoid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  <a:latin typeface="微软雅黑"/>
              </a:defRPr>
            </a:pPr>
            <a:r>
              <a:t>相对论红移: Δf/f = ΔU/c² ≈ 1.1 × 10⁻¹⁶ / (100 m 高度差)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029200" cy="3200400"/>
          </a:xfrm>
          <a:prstGeom prst="roundRect">
            <a:avLst/>
          </a:prstGeom>
          <a:solidFill>
            <a:srgbClr val="FDF2F2"/>
          </a:solidFill>
          <a:ln w="254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852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030"/>
                </a:solidFill>
                <a:latin typeface="微软雅黑"/>
              </a:defRPr>
            </a:pPr>
            <a:r>
              <a:t>❌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4720" y="27432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全球大地水准面 (geoid) 不确定度: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  30–50 cm (相当于 3–5 × 10⁻¹⁷)</a:t>
            </a:r>
          </a:p>
          <a:p>
            <a:pPr>
              <a:spcAft>
                <a:spcPts val="60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光钟精度已达10⁻¹⁸ → 需要cm级大地水准面</a:t>
            </a:r>
          </a:p>
          <a:p>
            <a:pPr>
              <a:spcAft>
                <a:spcPts val="60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不同大陆间的大地水准面差异更难确定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越洋光纤不可行，自由空间受天气影响</a:t>
            </a:r>
          </a:p>
          <a:p>
            <a:pPr>
              <a:spcAft>
                <a:spcPts val="60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这是秒重定义面临的最根本挑战之一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029200" cy="3200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278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40"/>
                </a:solidFill>
                <a:latin typeface="微软雅黑"/>
              </a:defRPr>
            </a:pPr>
            <a:r>
              <a:t>✅ 解决路径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4000" y="27432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1. 相对论大地测量 (Relativistic Geodesy):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   用光钟本身测量重力位差异</a:t>
            </a:r>
          </a:p>
          <a:p>
            <a:pPr>
              <a:spcAft>
                <a:spcPts val="60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2. 改进经典大地测量技术: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   GNSS + 绝对重力仪 + 经典水准</a:t>
            </a:r>
          </a:p>
          <a:p>
            <a:pPr>
              <a:spcAft>
                <a:spcPts val="60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3. 钟差比对反演: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   多台光钟相互比对，分离传递与钟误差</a:t>
            </a:r>
          </a:p>
          <a:p>
            <a:pPr>
              <a:spcAft>
                <a:spcPts val="60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4. 混合链路: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   光纤 + 卫星 TWSTFT + 自由空间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497D"/>
                </a:solidFill>
                <a:latin typeface="微软雅黑"/>
              </a:defRPr>
            </a:pPr>
            <a:r>
              <a:t>相对论大地测量: 1 cm 等效高度 → 1 × 10⁻¹⁸ 频率不确定度 → 与光钟精度相匹配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光钟类型间的系统不一致性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Systematic Inconsistencies Between Optical Clock Types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11430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182880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比较对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频率比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不确定性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主要系统偏差来源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Sr - Sr (同种)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1.000000...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~10⁻¹⁷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晶格光频移 〜10⁻¹⁶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Yb - Yb (同种)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1.000000...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~10⁻¹⁷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黑体辐射频移 〜10⁻¹⁷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Sr/Yb (跨种)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~1.2075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3.2×10⁻¹⁸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晶格光频移 + BBR差异 〜10⁻¹⁶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Al⁺/Yb (跨种)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~2.1849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~1×10⁻¹⁷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微运动 + 电场梯度 〜1.5×10⁻¹⁷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Yb⁺(E3)/Sr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~1.4959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~3×10⁻¹⁷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离子微运动 + BBR模型差异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Hg/Yb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~2.1788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~5×10⁻¹⁷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BBR频移不确定度</a:t>
                      </a:r>
                    </a:p>
                  </a:txBody>
                  <a:tcPr anchor="ctr"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4754880"/>
            <a:ext cx="5303520" cy="16459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881880"/>
            <a:ext cx="499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微软雅黑"/>
              </a:defRPr>
            </a:pPr>
            <a:r>
              <a:t>主要系统效应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262880"/>
            <a:ext cx="4998720" cy="101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Sr晶格光频移: ~10⁻¹⁶ → 即使同种光钟比对也存在残余偏差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Al⁺/Yb⁺离子微运动: ~1.5×10⁻¹⁷ → 需精密电场控制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黑体辐射(BBR): 环境温度精准测量 → 10⁻⁴K对应~10⁻²⁰频移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多类型光钟交叉验证是确保一致性的关键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200" y="4881880"/>
            <a:ext cx="499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40"/>
                </a:solidFill>
                <a:latin typeface="微软雅黑"/>
              </a:defRPr>
            </a:pPr>
            <a:r>
              <a:t>对策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5262880"/>
            <a:ext cx="4998720" cy="101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动态晶格光频移抑制技术 (operational magic wavelength)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低温环境运行 (低温光钟) 消除BBR影响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多类型光钟同时比对的冗余校验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定期国际比对建立一致性置信度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中国光学原子钟发展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Chinese Optical Clocks: NTSC and Beyond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25603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407160"/>
            <a:ext cx="499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微软雅黑"/>
              </a:defRPr>
            </a:pPr>
            <a:r>
              <a:t>中国科学院国家授时中心 (NTSC)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88160"/>
            <a:ext cx="4998720" cy="192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NimSrI: ⁸⁷Sr光晶格钟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系统不确定度: 4.8×10⁻¹⁸ (2024)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频率稳定度: 1.7×10⁻¹⁶/√τ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参与国际比对: APMP, CCTF工作组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2024年: 首次参与BACON比对网络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目标: 系统不确定度 ≤ 3×10⁻¹⁸ (2026)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303520" cy="25603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3200" y="1407160"/>
            <a:ext cx="499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40"/>
                </a:solidFill>
                <a:latin typeface="微软雅黑"/>
              </a:defRPr>
            </a:pPr>
            <a:r>
              <a:t>其他中国光钟研究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1788160"/>
            <a:ext cx="4998720" cy="192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中国计量科学研究院 (NIM):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• Sr光晶格钟: ~10⁻¹⁷量级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• Yb光晶格钟: 在建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华东师范大学 (ECNU):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• Yb光晶格钟: 7×10⁻¹⁷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中国科学院精密测量院 (APM):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• Al⁺量子逻辑钟: 在建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• Ca⁺离子钟: 已实现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5303520" cy="201168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333240"/>
            <a:ext cx="499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微软雅黑"/>
              </a:defRPr>
            </a:pPr>
            <a:r>
              <a:t>时频传递能力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714240"/>
            <a:ext cx="4998720" cy="137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光纤链路: 北京→西安→临潼 〜1000 km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自由空间: 113 km世界纪录 (科大, Nature 2022)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卫星: 北斗星载原子钟 → 地基光钟比对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micius量子科学实验卫星: 星地时频传递实验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06240"/>
            <a:ext cx="5303520" cy="201168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200" y="4333240"/>
            <a:ext cx="499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40"/>
                </a:solidFill>
                <a:latin typeface="微软雅黑"/>
              </a:defRPr>
            </a:pPr>
            <a:r>
              <a:t>战略定位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714240"/>
            <a:ext cx="4998720" cy="137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中国光钟研究已与国际第一梯队并跑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NTSC NimSrI 的 4.8×10⁻¹⁸ 达到秒重定义所需精度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时频传递: 自由空间113km全球领先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核光钟方向: 清华、中科大布局前沿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政策支持: 国家时频体系建设工程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核光钟：下一代时频标准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Nuclear Clock: ²²⁹Th — The Next Frontier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497D"/>
                </a:solidFill>
                <a:latin typeface="微软雅黑"/>
              </a:defRPr>
            </a:pPr>
            <a:r>
              <a:t>²²⁹Th: 唯一已知的原子核低能跃迁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原子核跃迁频率:  ~8.4 eV 〜 149.7 nm (VUV)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自然线宽: ~10⁻⁴–10⁻⁵ Hz → Q ~ 10¹⁹–10²⁰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对电磁场扰动极不敏感 (核屏蔽)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可在固态基质 (CaF₂, LiSrAlF₆) 中掺杂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理论精度极限: 10⁻¹⁹ 或更好</a:t>
            </a:r>
          </a:p>
          <a:p>
            <a:pPr>
              <a:spcAft>
                <a:spcPts val="60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600"/>
              </a:spcAft>
              <a:defRPr sz="1400" b="1">
                <a:solidFill>
                  <a:srgbClr val="333333"/>
                </a:solidFill>
                <a:latin typeface="微软雅黑"/>
              </a:defRPr>
            </a:pPr>
            <a:r>
              <a:t>与传统光钟的根本区别: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  ✓ 电子跃迁 → 原子核跃迁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  ✓ 对电磁环境10⁵倍不敏感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  ✓ 可实现固态集成 → 芯片级光钟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371600"/>
            <a:ext cx="5760720" cy="22860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0" y="1498600"/>
            <a:ext cx="54559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40"/>
                </a:solidFill>
                <a:latin typeface="微软雅黑"/>
              </a:defRPr>
            </a:pPr>
            <a:r>
              <a:t>相对于电子跃迁光钟的优势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879600"/>
            <a:ext cx="545592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1. 抗干扰: 核被电子屏蔽 → 对电场/磁场10⁵倍不敏感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2. 高Q: Q ~ 10¹⁹ → 频率稳定度潜力巨大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3. 固态化: 可掺杂晶体 → 芯片尺度, 无需真空+激光冷却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4. 小型化: 便携/星载应用成为可能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5. 绝对频率: 可作为次级频率标准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931920"/>
            <a:ext cx="5760720" cy="21031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E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0" y="4058920"/>
            <a:ext cx="54559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8C00"/>
                </a:solidFill>
                <a:latin typeface="微软雅黑"/>
              </a:defRPr>
            </a:pPr>
            <a:r>
              <a:t>核心技术挑战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4439920"/>
            <a:ext cx="545592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⚠️ 激发: VUV激光源 (149.7 nm) 极难实现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⚠️ 同质异能态寿命: 异构体寿命测量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⚠️ 系统效应: 固态基质中的晶场频移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⚠️ VUV频率梳: 需建立VUV→RF的相干链接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🎯 突破: 2023–2024年多项里程碑达成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核光钟关键突破 (2024–2026)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Nuclear Clock Breakthroughs: Key Milestones 2024–2026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371600"/>
            <a:ext cx="2103120" cy="36576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73200"/>
            <a:ext cx="1554480" cy="320040"/>
          </a:xfrm>
          <a:prstGeom prst="round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73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2024.04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" y="1828800"/>
            <a:ext cx="195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8040"/>
                </a:solidFill>
                <a:latin typeface="微软雅黑"/>
              </a:defRPr>
            </a:pPr>
            <a:r>
              <a:t>JILA/Ye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2468880"/>
            <a:ext cx="195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首次实现²²⁹Th:Crystal VUV频率梳激发</a:t>
            </a:r>
            <a:br/>
            <a:r>
              <a:t>激光冷却Yb核物理钟方案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371600"/>
            <a:ext cx="2103120" cy="36576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71800" y="1473200"/>
            <a:ext cx="1554480" cy="32004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473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2024.07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3680" y="1828800"/>
            <a:ext cx="195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86C1"/>
                </a:solidFill>
                <a:latin typeface="微软雅黑"/>
              </a:defRPr>
            </a:pPr>
            <a:r>
              <a:t>慕尼黑 LMU/PTB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3680" y="2468880"/>
            <a:ext cx="195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²²⁹Th异构态共振荧光直接观测</a:t>
            </a:r>
            <a:br/>
            <a:r>
              <a:t>VUV激光激发CaF₂中²²⁹Th核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371600"/>
            <a:ext cx="2103120" cy="36576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1473200"/>
            <a:ext cx="1554480" cy="320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473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2024.09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9680" y="1828800"/>
            <a:ext cx="195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E44AD"/>
                </a:solidFill>
                <a:latin typeface="微软雅黑"/>
              </a:defRPr>
            </a:pPr>
            <a:r>
              <a:t>清华 丁世谦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9680" y="2468880"/>
            <a:ext cx="195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CW VUV激光 (149 nm) 连续激发</a:t>
            </a:r>
            <a:br/>
            <a:r>
              <a:t>首个连续波VUV核光钟演示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371600"/>
            <a:ext cx="2103120" cy="36576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E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3800" y="1473200"/>
            <a:ext cx="1554480" cy="320040"/>
          </a:xfrm>
          <a:prstGeom prst="roundRect">
            <a:avLst/>
          </a:prstGeom>
          <a:solidFill>
            <a:srgbClr val="E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473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5680" y="1828800"/>
            <a:ext cx="195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8C00"/>
                </a:solidFill>
                <a:latin typeface="微软雅黑"/>
              </a:defRPr>
            </a:pPr>
            <a:r>
              <a:t>展望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5680" y="2468880"/>
            <a:ext cx="195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多实验室实现²²⁹Th核光钟闭环</a:t>
            </a:r>
            <a:br/>
            <a:r>
              <a:t>核光钟频率比对开始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371600"/>
            <a:ext cx="2103120" cy="365760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C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29800" y="1473200"/>
            <a:ext cx="1554480" cy="320040"/>
          </a:xfrm>
          <a:prstGeom prst="round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473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1680" y="1828800"/>
            <a:ext cx="195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03030"/>
                </a:solidFill>
                <a:latin typeface="微软雅黑"/>
              </a:defRPr>
            </a:pPr>
            <a:r>
              <a:t>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1680" y="2468880"/>
            <a:ext cx="195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核光钟不确定度进入10⁻¹⁸</a:t>
            </a:r>
            <a:br/>
            <a:r>
              <a:t>核光钟与传统光钟比对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2024年是核光钟元年 — 从理论到实验的关键突破 | 2025-2026: 从演示到实用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核心进展: VUV激光激发 (LMU) → CW VUV (清华) → VUV梳 (JILA) → 光钟闭环 (2025)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中国核光钟研究：清华丁世谦团队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Chinese Nuclear Clock: Tsinghua University — CW VUV Breakthrough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6858000" cy="32004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407160"/>
            <a:ext cx="65532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丁世谦团队 核心成果 (2024)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88160"/>
            <a:ext cx="6553200" cy="256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首次实现连续波 (CW) 真空紫外 (VUV) 激光激发²²⁹Th核跃迁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关键技术: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33333"/>
                </a:solidFill>
                <a:latin typeface="微软雅黑"/>
              </a:defRPr>
            </a:pPr>
            <a:r>
              <a:t>• VUV激光: 149.7 nm, 连续波运行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增益介质: 四波混频 (FWM) 技术产生VUV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激发基质: CaF₂晶体中掺杂²²⁹Th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线宽压缩: ~GHz → MHz 量级 → 向自然线宽逼近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频率稳定: CW运行优于脉冲激发 → 更好的光谱分辨率</a:t>
            </a:r>
          </a:p>
          <a:p>
            <a:pPr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与JILA/LMU并行独立验证 → 国际三足鼎立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280160"/>
            <a:ext cx="3931920" cy="21031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0" y="1407160"/>
            <a:ext cx="36271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40"/>
                </a:solidFill>
                <a:latin typeface="微软雅黑"/>
              </a:defRPr>
            </a:pPr>
            <a:r>
              <a:t>其他中国力量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0" y="1788160"/>
            <a:ext cx="362712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中国科学技术大学 (USTC):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• ²²⁹Th核光钟理论 + 精密测量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• 与潘建伟时频团队协同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中国科学院 (CAS):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• 上海光机所: VUV光源研发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• 精密测量院: 核物理+原子钟交叉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657600"/>
            <a:ext cx="3931920" cy="210312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E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0" y="3784600"/>
            <a:ext cx="36271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8C00"/>
                </a:solidFill>
                <a:latin typeface="微软雅黑"/>
              </a:defRPr>
            </a:pPr>
            <a:r>
              <a:t>国际地位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0" y="4165600"/>
            <a:ext cx="3627120" cy="146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🏆 清华丁世谦团队与JILA/Ye Lab和LMU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 并列为全球核光钟三大核心团队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🔥 中国首次在时频前沿领域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 与国际顶尖并列 (而非追赶)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📊 启示: 核光钟可能是中国换道超车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 的机遇窗口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CW VUV是核光钟实用化的关键一步 — 中国在该方向的领先地位值得关注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JILA Ye Lab: 核光钟VUV梳管道路线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JILA Ye Lab: VUV Frequency Comb Pipeline for Nuclear Clock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1005840" cy="109728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86C1"/>
                </a:solidFill>
              </a:defRPr>
            </a:pPr>
            <a:r>
              <a:t>红外</a:t>
            </a:r>
            <a:br/>
            <a:r>
              <a:t>飞秒激光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~1.5 µm</a:t>
            </a:r>
            <a:br/>
            <a:r>
              <a:t>Er:fiber</a:t>
            </a:r>
            <a:br/>
            <a:r>
              <a:t>comb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286000"/>
            <a:ext cx="1005840" cy="109728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86C1"/>
                </a:solidFill>
              </a:defRPr>
            </a:pPr>
            <a:r>
              <a:t>倍频</a:t>
            </a:r>
            <a:br/>
            <a:r>
              <a:t>SHG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~780 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2286000"/>
            <a:ext cx="1005840" cy="109728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E86C1"/>
                </a:solidFill>
              </a:defRPr>
            </a:pPr>
            <a:r>
              <a:t>四倍频</a:t>
            </a:r>
            <a:br/>
            <a:r>
              <a:t>FHG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~390 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2286000"/>
            <a:ext cx="1005840" cy="109728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8040"/>
                </a:solidFill>
              </a:defRPr>
            </a:pPr>
            <a:r>
              <a:t>高次谐波</a:t>
            </a:r>
            <a:br/>
            <a:r>
              <a:t>HHG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~149 nm</a:t>
            </a:r>
            <a:br/>
            <a:r>
              <a:t>VUV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6666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2286000"/>
            <a:ext cx="1005840" cy="1097280"/>
          </a:xfrm>
          <a:prstGeom prst="roundRect">
            <a:avLst/>
          </a:prstGeom>
          <a:solidFill>
            <a:srgbClr val="F2F6FC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E44AD"/>
                </a:solidFill>
              </a:defRPr>
            </a:pPr>
            <a:r>
              <a:t>²²⁹Th</a:t>
            </a:r>
            <a:br/>
            <a:r>
              <a:t>核激发</a:t>
            </a:r>
          </a:p>
          <a:p>
            <a:pPr algn="ctr">
              <a:defRPr sz="800">
                <a:solidFill>
                  <a:srgbClr val="333333"/>
                </a:solidFill>
              </a:defRPr>
            </a:pPr>
            <a:r>
              <a:t>CaF₂晶体</a:t>
            </a:r>
            <a:br/>
            <a:r>
              <a:t>共振荧光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303520" cy="22860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967480"/>
            <a:ext cx="499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40"/>
                </a:solidFill>
                <a:latin typeface="微软雅黑"/>
              </a:defRPr>
            </a:pPr>
            <a:r>
              <a:t>JILA方案特点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348480"/>
            <a:ext cx="499872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✅ 全固态激光链路: IR → VUV 无源转换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✅ 频率梳技术: 所有频率均锁定到光频梳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✅ 精确频率控制: VUV频率直接溯源到RF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✅ 可与现有光钟直接比对: Sr/Yb光钟 → 核光钟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✅ 2024年成果: 首次VUV梳激发²²⁹Th共振荧光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840480"/>
            <a:ext cx="5303520" cy="2286000"/>
          </a:xfrm>
          <a:prstGeom prst="roundRect">
            <a:avLst/>
          </a:prstGeom>
          <a:solidFill>
            <a:srgbClr val="F2F6FC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200" y="3967480"/>
            <a:ext cx="4998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C1"/>
                </a:solidFill>
                <a:latin typeface="微软雅黑"/>
              </a:defRPr>
            </a:pPr>
            <a:r>
              <a:t>与清华方案对比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348480"/>
            <a:ext cx="499872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JILA: 飞秒VUV梳 (宽带，多模式)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优势: 直接频率链接到光梳 → 精密频率计量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挑战: VUV功率有限，信噪比待提升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清华: CW VUV (窄带，高功率)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优势: 高光谱分辨率，更接近自然线宽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  挑战: 频率调谐+溯源链路待完善</a:t>
            </a: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333333"/>
                </a:solidFill>
                <a:latin typeface="微软雅黑"/>
              </a:defRPr>
            </a:pPr>
            <a:r>
              <a:t>两条路线互补 → 共同推动核光钟实用化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01600"/>
          <a:lstStyle/>
          <a:p>
            <a:pPr algn="ctr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总结：秒重定义 — 已具备的与待完成的</a:t>
            </a:r>
          </a:p>
          <a:p>
            <a:pPr>
              <a:defRPr sz="1600">
                <a:solidFill>
                  <a:srgbClr val="CCDDEE"/>
                </a:solidFill>
                <a:latin typeface="微软雅黑"/>
              </a:defRPr>
            </a:pPr>
            <a:r>
              <a:t>Summary: What We Have and What We Need for the SI Second Redefinition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383280" cy="4114800"/>
          </a:xfrm>
          <a:prstGeom prst="roundRect">
            <a:avLst/>
          </a:prstGeom>
          <a:solidFill>
            <a:srgbClr val="E8F5E9"/>
          </a:solidFill>
          <a:ln w="31750">
            <a:solidFill>
              <a:srgbClr val="008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7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8040"/>
                </a:solidFill>
                <a:latin typeface="微软雅黑"/>
              </a:defRPr>
            </a:pPr>
            <a:r>
              <a:t>✅ 已具备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≥3种光钟不确定度 ≤ 2×10⁻¹⁷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频率比不确定度 ~ 3×10⁻¹⁸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国际比对网络初步建立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光纤传递链路技术成熟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OFC频率梳技术完善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5种光钟类型候选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BACON 2025路线图明确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83280" cy="4114800"/>
          </a:xfrm>
          <a:prstGeom prst="roundRect">
            <a:avLst/>
          </a:prstGeom>
          <a:solidFill>
            <a:srgbClr val="FEF5E7"/>
          </a:solidFill>
          <a:ln w="31750">
            <a:solidFill>
              <a:srgbClr val="E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47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8C00"/>
                </a:solidFill>
                <a:latin typeface="微软雅黑"/>
              </a:defRPr>
            </a:pPr>
            <a:r>
              <a:t>⚠️ 推进中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光钟连续运行+TAI贡献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多节点光钟网络(≥5节点)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自由空间时频传递实用化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洲际光钟比对标准化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核光钟演示+比对验证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Cm级大地水准面测量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实施计划(MEP)起草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71600"/>
            <a:ext cx="3383280" cy="4114800"/>
          </a:xfrm>
          <a:prstGeom prst="roundRect">
            <a:avLst/>
          </a:prstGeom>
          <a:solidFill>
            <a:srgbClr val="EBF5FB"/>
          </a:solidFill>
          <a:ln w="317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47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🎯 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9202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2030 CGPM投票通过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光学秒替代Cs秒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不确定度 ≤ 10⁻¹⁸ 量级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全球光钟网络常态化运行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核光钟作为备份/提升方案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芯片级光钟 → 广泛应用</a:t>
            </a:r>
          </a:p>
          <a:p>
            <a:pPr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GPS/北斗精度+定位提升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497D"/>
                </a:solidFill>
                <a:latin typeface="微软雅黑"/>
              </a:defRPr>
            </a:pPr>
            <a:r>
              <a:t>2024 → 2025 → 2026(CGPM) → 2027(CCTF) → 2028-2029(准备) → 2030(投票)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光钟具有100-1000倍精度优势 | 技术条件趋于成熟 | 面临挑战但可解决 | 国际进程稳步推进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6000" b="1">
                <a:solidFill>
                  <a:srgbClr val="1F497D"/>
                </a:solidFill>
              </a:defRPr>
            </a:pPr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800" b="0">
                <a:solidFill>
                  <a:srgbClr val="666666"/>
                </a:solidFill>
              </a:defRPr>
            </a:pPr>
            <a:r>
              <a:t>Thank You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</a:p>
          <a:p>
            <a:pPr algn="ctr">
              <a:defRPr sz="1400" b="0">
                <a:solidFill>
                  <a:srgbClr val="2E86C1"/>
                </a:solidFill>
                <a:latin typeface="微软雅黑"/>
              </a:defRPr>
            </a:pPr>
            <a:r>
              <a:t>SI秒的重新定义：从铯原子到光钟再到核光钟</a:t>
            </a:r>
          </a:p>
          <a:p>
            <a:pPr algn="ctr">
              <a:defRPr sz="800" b="0">
                <a:solidFill>
                  <a:srgbClr val="000000"/>
                </a:solidFill>
              </a:defRPr>
            </a:pPr>
          </a:p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Reference: BACON et al., Rev. Mod. Phys. (2025)</a:t>
            </a:r>
          </a:p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CCTF Strategic Plan (2022)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5029200"/>
            <a:ext cx="6705295" cy="381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Y1NGRkYzFhOTIyZDc0MjM0OWYzMzliNjliMDkxM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2209</Words>
  <Application>WPS 演示</Application>
  <PresentationFormat>宽屏</PresentationFormat>
  <Paragraphs>255</Paragraphs>
  <Slides>54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6" baseType="lpstr">
      <vt:lpstr>Arial</vt:lpstr>
      <vt:lpstr>宋体</vt:lpstr>
      <vt:lpstr>Wingdings</vt:lpstr>
      <vt:lpstr>华文中宋</vt:lpstr>
      <vt:lpstr>Times New Roman</vt:lpstr>
      <vt:lpstr>微软雅黑</vt:lpstr>
      <vt:lpstr>Arial Unicode MS</vt:lpstr>
      <vt:lpstr>等线 Light</vt:lpstr>
      <vt:lpstr>等线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 星</dc:creator>
  <cp:lastModifiedBy>星缀天穹</cp:lastModifiedBy>
  <cp:revision>28</cp:revision>
  <dcterms:created xsi:type="dcterms:W3CDTF">2024-07-05T03:12:00Z</dcterms:created>
  <dcterms:modified xsi:type="dcterms:W3CDTF">2024-07-08T10:31:02Z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A1649005FC7944B7B91EDEAAE7CBB810_12</vt:lpwstr>
  </property>
  <property fmtid="{D5CDD505-2E9C-101B-9397-08002B2CF9AE}" pid="3" name="KSOProductBuildVer">
    <vt:lpwstr>2052-12.1.0.17145</vt:lpwstr>
  </property>
</Properties>
</file>