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1" r:id="rId2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2" r:id="rId23"/>
    <p:sldId id="273" r:id="rId24"/>
    <p:sldId id="274" r:id="rId25"/>
    <p:sldId id="275" r:id="rId26"/>
    <p:sldId id="277" r:id="rId28"/>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2.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2.xml"/><Relationship Id="rId28" Type="http://schemas.openxmlformats.org/officeDocument/2006/relationships/slide" Target="slides/slide21.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各位好，今天我报告的题目是"SI秒的重新定义：意义、进程与现状"，聚焦于光钟及其比对实验。</a:t>
            </a:r>
          </a:p>
          <a:p/>
          <a:p>
            <a:r>
              <a:t>本报告基于本地 sci-logic-kb 知识库整理的530篇时频计量论文，结合2024—2026年最新发表的光钟比对实验进展。</a:t>
            </a:r>
          </a:p>
          <a:p/>
          <a:p>
            <a:r>
              <a:t>报告分为两大部分：第一部分介绍SI秒重定义的背景、路线图、强制性判据和当前光钟比对状态；第二部分聚焦下一代核光钟技术的突破与展望。</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在进入光钟比对之前，我想先花几分钟讲一下秒在SI单位体系中的核心地位，以及2018年SI重新定义的历史意义。</a:t>
            </a:r>
          </a:p>
          <a:p/>
          <a:p>
            <a:r>
              <a:t>2018年11月16日，第26届国际计量大会（CGPM）一致通过了SI修订案，这是计量学史上的一次革命。核心转变是从"实物基准"转向"基本物理常数"——旧定义依赖国际千克原器、水的三相点等实物，新定义则基于七个定义常数。</a:t>
            </a:r>
          </a:p>
          <a:p/>
          <a:p>
            <a:r>
              <a:t>特别值得注意的是——除摩尔外，所有SI基本单位都直接或间接地溯源到秒。米是光速乘以时间，千克通过普朗克常数和基布尔秤关联到时间和光速，安培通过基本电荷关联到秒，开尔文通过玻尔兹曼常数使热能与频率等价，坎德拉也是通过频率来定义辐射功率。摩尔是唯一不依赖秒的基本单位，因为阿伏伽德罗常数独立定义。</a:t>
            </a:r>
          </a:p>
          <a:p/>
          <a:p>
            <a:r>
              <a:t>正因为秒是精度最高的基本单位——光钟已达10的负18到10的负19次方——所以秒的改进会带动整个SI体系的精度提升。这也是为什么秒的重定义如此重要。</a:t>
            </a:r>
          </a:p>
          <a:p/>
          <a:p>
            <a:r>
              <a:t>2018年的修订也确立了量子技术在计量学中的主导地位——电学单位用单电子泵，质量单位用基布尔秤，本质上都是量子技术。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现在我们来看为什么要重新定义秒。</a:t>
            </a:r>
          </a:p>
          <a:p/>
          <a:p>
            <a:r>
              <a:t>当前SI秒的定义始于1967年，基于铯-133原子基态超精细跃迁，频率约9.2 GHz，属于微波波段。经过几十年的发展，最佳铯喷泉钟的系统不确定度已经达到了约2×10的负16次方，并且已经触及量子投影噪声的极限——也就是说，基于铯的微波秒已经很难再有数量级的提升了。</a:t>
            </a:r>
          </a:p>
          <a:p/>
          <a:p>
            <a:r>
              <a:t>而在过去的二十年里，光学原子钟取得了飞跃性进展。以光频代替微波，频率高了约5个数量级，直接带来了更高的品质因子和更好的稳定度。目前最佳光钟的系统不确定度已经达到8×10的负19次方，比铯喷泉钟好了约两百倍。频率比测量不确定度也已达到3.2×10的负18次方。</a:t>
            </a:r>
          </a:p>
          <a:p/>
          <a:p>
            <a:r>
              <a:t>重定义的意义远不止于计量学本身。在精密测量物理方面，更精确的时钟可以约束基本常数随时间的变化，搜索暗物质信号，检验爱因斯坦等效原理。在大地测量学方面，10的负18次方对应约1厘米的高程分辨率，光钟网络可以实现厘米级的全球高程基准统一。在深空导航方面，更精确的时频标准可以提升探测器的自主导航能力。</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这张表做了当前Cs秒和未来光学秒的对比。</a:t>
            </a:r>
          </a:p>
          <a:p/>
          <a:p>
            <a:r>
              <a:t>当前基于铯-133超精细跃迁的定义，频率约9.2 GHz，最佳Cs喷泉钟系统不确定度约2×10的负16次方。而光学频率标准的候选频率在10的14到10的15次方Hz范围，最佳系统不确定度已经到了8×10的负19次方，短期稳定度比Cs钟高约三百倍。</a:t>
            </a:r>
          </a:p>
          <a:p/>
          <a:p>
            <a:r>
              <a:t>关于重定义方案，目前有三个选项。方案一是选一个单一光学跃迁来替代铯的跃迁频率，这是最受关注的方案。方案二是用多个跃迁频率的加权几何平均。方案三——固定另一个基本常数如电子质量——目前不现实，因为相关常数的已知精度还差了好几个数量级。</a:t>
            </a:r>
          </a:p>
          <a:p/>
          <a:p>
            <a:r>
              <a:t>技术成熟度方面，铯喷泉钟已经是TRL 9的成熟技术，而光钟目前处于TRL 4到6，可搬运系统已经成功演示，但距离像铯钟那样常态化运行还有距离。</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这张幻灯片展示了从2016年到2030年的重定义路线图。</a:t>
            </a:r>
          </a:p>
          <a:p/>
          <a:p>
            <a:r>
              <a:t>2016年，CCTF（时间频率咨询委员会）制定了第一版路线图。2020年成立了专门工作组来更新路线图。2022年，CCTF发布了重定义的强制性判据——包括5条频率标准条件和5条时频传递条件，我们后面会详细介绍。2024年，Dimarcq等人在Metrologia上发表了路线图的正式论文。</a:t>
            </a:r>
          </a:p>
          <a:p/>
          <a:p>
            <a:r>
              <a:t>2025年的CCTF会议是关键节点——会议确认了2030年的目标时间表，评估了判据的满足进展，并指出了仍然存在的关键问题，比如不同实验室光钟比对中出现的系统不一致性。</a:t>
            </a:r>
          </a:p>
          <a:p/>
          <a:p>
            <a:r>
              <a:t>按照时间表，2026年的第28届CGPM大会将提交重定义的决议草案，而2030年的第29届CGPM将正式投票表决。如果通过，还需要至少数年的过渡期，让铯秒和光秒并行运行。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这张幻灯片列出了CCTF制定的全部强制性判据。</a:t>
            </a:r>
          </a:p>
          <a:p/>
          <a:p>
            <a:r>
              <a:t>频率标准条件有五条。第一条要求至少三种不同的光钟——包括同类型不同实验室和不同类型——验证的不确定度都要小于2×10的负18次方。第二条要求至少五个光学频率比被测量，每个要被独立验证至少两次，一致性要优于5×10的负18次方。第三条要求光钟与TAI或铯喷泉钟进行至少三次独立比对。第四条要求每月至少三次光钟对TAI的贡献，不确定度小于2×10的负16次方，至少五台光钟运行至少一年。第五条要求光钟的技术就绪度超过TRL 4，能可靠连续运行超过10天。</a:t>
            </a:r>
          </a:p>
          <a:p/>
          <a:p>
            <a:r>
              <a:t>时频传递条件也有五条。核心要求是所有光钟之间可以通过合适的链路进行比对，比对不确定度小于5×10的负18次方；运行光钟的国家计量院需要知道大地水准面差到相同精度；时频传递链路的技术就绪度要超过TRL 6，可靠连续运行超过30天。</a:t>
            </a:r>
          </a:p>
          <a:p/>
          <a:p>
            <a:r>
              <a:t>可以看出，这些判据不仅考核光钟本身的精度，更考核光钟运行的可靠性、国际比对的一致性和时频传递的基础设施。</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这张表是CCTF在2025年对各条判据满足状态的评估。</a:t>
            </a:r>
          </a:p>
          <a:p/>
          <a:p>
            <a:r>
              <a:t>我们用颜色标注——绿色表示已满足或部分满足，黄色表示接近但不完全，红色表示尚未满足。</a:t>
            </a:r>
          </a:p>
          <a:p/>
          <a:p>
            <a:r>
              <a:t>第一条——三种光钟达到2×10的负18次方——目前锶和铝离子钟已经超过这个标准，但还需要更多不同类型和不同实验室的验证。第二条——五个频率比——BACON网络已经用三个频率比达到了3.2×10的负18次方，但还有更多频率比需要验证，而且某些频率比存在1×10的负16次方量级的偏差，原因不明。这是目前最令人担忧的问题之一。</a:t>
            </a:r>
          </a:p>
          <a:p/>
          <a:p>
            <a:r>
              <a:t>第三和第四条——光钟对TAI的贡献——是目前最薄弱的环节。光钟还没有常态化运行，对国际原子时的贡献无论是数量还是质量都不够。第五条和时频传递条件部分满足，光纤链路已经很成熟了，但自由空间远程链路和大地水准面精度还有提升空间。</a:t>
            </a:r>
          </a:p>
          <a:p/>
          <a:p>
            <a:r>
              <a:t>总的来说，2025年CCTF的评估是：技术上可行、但执行力需要加强——特别是系统不一致性的排查和光钟常态化运行。</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现在进入光钟技术本身。目前主要的光学频率标准可以分为三大类。</a:t>
            </a:r>
          </a:p>
          <a:p/>
          <a:p>
            <a:r>
              <a:t>第一类是光晶格钟——以锶-87和镱-171为代表。锶-87光晶格钟是目前发展最成熟的，JILA在2024年实现了8×10的负19次方的系统不确定度，这是目前所有频率标准中最高的精度。中国国家授时中心的NimSrI系统也达到了4.8×10的负18次方。</a:t>
            </a:r>
          </a:p>
          <a:p/>
          <a:p>
            <a:r>
              <a:t>第二类是单离子钟——以铝-27量子逻辑钟为代表。铝离子钟的优势在于对黑体辐射频移极不敏感，NIST的系统不确定度达到5.5×10的负19次方。镱-171离子的E3八极跃迁钟也在PTB达到了约3×10的负18次方。</a:t>
            </a:r>
          </a:p>
          <a:p/>
          <a:p>
            <a:r>
              <a:t>第三类是钍-229核光钟——这是最新的方向。2024年JILA首次实现了核跃迁的频率分辨光谱，利用VUV频率梳测量了核跃迁与锶-87原子钟的频率比。这是一个概念验证，但开启了全新的范式——从原子壳层跃迁到原子核跃迁。</a:t>
            </a:r>
          </a:p>
          <a:p/>
          <a:p>
            <a:r>
              <a:t>不同类型光钟各有优劣——光晶格钟信噪比高但系统效应复杂，离子钟系统效应简单但信噪比受限，核钟理论上最好但技术最不成熟。正是这种互补性使得多类型比对如此重要。</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这张表格展示了光钟不确定度的进化历程，从2008年到2025年，跨越了四个数量级。</a:t>
            </a:r>
          </a:p>
          <a:p/>
          <a:p>
            <a:r>
              <a:t>2008年，Rosenband等人用NIST的铝离子量子逻辑钟达到了8.6×10的负18次方，首次展示了离子光钟的10的负18次方能力。2014到2015年，JILA的锶光晶格钟连续突破，Bloom达到6.4×10的负18次方，Nicholson在2015年达到2.1×10的负18次方。</a:t>
            </a:r>
          </a:p>
          <a:p/>
          <a:p>
            <a:r>
              <a:t>2019年Bothwell通过改进黑体辐射建模将锶钟推进到2.0×10的负18次方。2021年BACON网络实现了三种光钟的首次网络比对，频率比不确定度达到6到8×10的负18次方。</a:t>
            </a:r>
          </a:p>
          <a:p/>
          <a:p>
            <a:r>
              <a:t>2024年是里程碑的一年——Aeppli等人通过三维光晶格和低温环境将锶钟推进到8×10的负19次方，突破了10的负18次方大关。同年，钍-229核跃迁的频率分辨光谱也首次实现。</a:t>
            </a:r>
          </a:p>
          <a:p/>
          <a:p>
            <a:r>
              <a:t>2025年，BACON网络用低温硅腔参考更新了频率比测量，首次达到了3.2×10的负18次方，这标志着频率比测量正式跨过了CCTF设定的5×10的负18次方门槛。</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这一页详细展开BACON网络——Boulder Atomic Clock Optical Network，也就是博尔德原子钟光网络。</a:t>
            </a:r>
          </a:p>
          <a:p/>
          <a:p>
            <a:r>
              <a:t>BACON是目前世界上最先进的光钟比对网络，由NIST和JILA共同运营。三台光钟基于三种不同的原子——铝离子、镱和锶——分别位于NIST的两个实验室和1.5公里外的JILA。</a:t>
            </a:r>
          </a:p>
          <a:p/>
          <a:p>
            <a:r>
              <a:t>比对链路包括3.6公里的相位稳定光纤和1.5公里的双向飞秒激光自由空间链路。这两种链路的性能都已验证，自由空间链路的表现甚至与光纤链路相当。</a:t>
            </a:r>
          </a:p>
          <a:p/>
          <a:p>
            <a:r>
              <a:t>2025年的一个重要升级是引入了低温单晶硅腔作为共同超稳参考——这个改进将比对稳定度提升了2到3倍，光晶格钟比对的不稳定度在1秒达到了1.3×10的负16次方。</a:t>
            </a:r>
          </a:p>
          <a:p/>
          <a:p>
            <a:r>
              <a:t>频率比测量结果——三种频率比的不确定度都小于等于3.2×10的负18次方，正式满足了CCTF判据I.2的精度要求。但这里有一个重要的注意事项——不同类型锶钟之间的频率比存在约1×10的负16次方的偏差，铝-镱比率也存在约1.5×10的负17次方的偏差。这些偏差的原因尚不完全清楚，是重定义前必须解决的重大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BACON是美国的工作，但光钟比对是全球性的努力。这一页汇总了主要的国际比对活动。</a:t>
            </a:r>
          </a:p>
          <a:p/>
          <a:p>
            <a:r>
              <a:t>欧洲光纤计量网络连接了PTB、SYRTE、INRIM、NPL等多个国家计量院，通过2220公里的光纤网络进行光频比对，已经实现了7×10的负17次方量级的比对精度。PTB在2012到2019年间进行了107次镱离子E3跃迁和锶光晶格钟的独立比对，频率比不确定度达到2.5×10的负17次方。</a:t>
            </a:r>
          </a:p>
          <a:p/>
          <a:p>
            <a:r>
              <a:t>日本的RIKEN利用可搬运的锶光晶格钟在东京晴空塔进行了450米高度差的引力红移验证，精度达到5×10的负18次方。中国国家授时中心的NimSrI系统在2024年报道了4.8×10的负18次方的不确定度。还有利用VLBI射电天文技术实现的意大利到日本9000公里的洲际比对。</a:t>
            </a:r>
          </a:p>
          <a:p/>
          <a:p>
            <a:r>
              <a:t>2025年CCTF会议明确指出，多项国际和区域比对活动正在进行中——这是满足判据I.2"每个频率比至少两次独立验证"的关键途径。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时频传递是光钟比对的物理基础，这一页总结了两种主要传递方式。</a:t>
            </a:r>
          </a:p>
          <a:p/>
          <a:p>
            <a:r>
              <a:t>左边是光纤链路。目前最长的是SYRTE到PTB的1415公里国际光纤链路，以及PTB利用布里渊放大技术实现的1400公里链路——后者的残余频率偏移达到了惊人的负1.1加减0.4乘10的负20次方。中国也建立了112公里到490公里的城市和噪声场地光纤链路。</a:t>
            </a:r>
          </a:p>
          <a:p/>
          <a:p>
            <a:r>
              <a:t>右边是自由空间链路。BACON的1.5公里链路证明了自由空间传递可以达到与光纤相当的性能。在强湍流条件下，12公里的城市链路仍可实现优于1飞秒的时间偏差。UWA的2.4公里链路实现了6.1×10的负21次方（300秒）的频率不稳定度。中国在乌鲁木齐南山到高崖子之间建立了113公里的自由空间双梳时频传递链路。</a:t>
            </a:r>
          </a:p>
          <a:p/>
          <a:p>
            <a:r>
              <a:t>下半部分指出了关键技术挑战。最大的瓶颈之一是大地水准面——目前全球大地水准面模型的高程不确定度约为30到50厘米，这对应的频率不确定度是3到5×10的负17次方，已经成为了光钟全球比对的限制因素。技术路线从近程光纤到中程布里渊放大中继，再到远程卫星双向和自由空间链路，最终目标是建立全球光钟网络。</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这一页聚焦CCTF在2025年明确指出的最紧迫问题——系统不一致性。</a:t>
            </a:r>
          </a:p>
          <a:p/>
          <a:p>
            <a:r>
              <a:t>第一个也是最重要的不一致性——不同实验室的锶光钟频率比存在约1×10的负16次方量级的偏差。BACON在2021年和2025年的两次独立测量之间，锶比率出现了这个量级的差异。目前原因尚不明确，可能的来源包括黑体辐射模型的系统误差、晶格光频移的高阶效应，以及密度依赖的碰撞频移评估不准确。</a:t>
            </a:r>
          </a:p>
          <a:p/>
          <a:p>
            <a:r>
              <a:t>第二个不一致性——铝离子和镱的频率比存在约1.5×10的负17次方的偏差。</a:t>
            </a:r>
          </a:p>
          <a:p/>
          <a:p>
            <a:r>
              <a:t>第三个——PTB在长达七年的镱离子E3和锶光钟比对中，观察到超过10的负17次方量级的长期波动，原因至今不明。</a:t>
            </a:r>
          </a:p>
          <a:p/>
          <a:p>
            <a:r>
              <a:t>CCTF的应对措施包括——扩大独立比对的规模，让更多国家计量院参与；要求各实验室公开全面的不确定度预算并交叉验证；改进实验条件控制——特别是BBR屏蔽、晶格激光空间模式和原子密度控制。这些都是2030年前必须完成的工作。</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这一页介绍中国在光钟和时频比对方面的贡献。</a:t>
            </a:r>
          </a:p>
          <a:p/>
          <a:p>
            <a:r>
              <a:t>在光钟方面，中国科学院国家授时中心（NTSC）的NimSrI锶光晶格钟在2024年实现了4.8×10的负18次方的系统不确定度，3.3×10的负17次方（1秒）的短期稳定度。这个水平已经进入了国际光钟的第一梯队，具备参与10的负18次方级国际比对的基础条件。武汉物数所（WIPM）在2016年就实现了两台钙-40离子光钟的10的负17次方级比对。</a:t>
            </a:r>
          </a:p>
          <a:p/>
          <a:p>
            <a:r>
              <a:t>在时频传递方面，NTSC建立了112到490公里的光纤时频传递网络。与USTC合作在乌鲁木齐实现了113公里的自由空间双梳时频传递，利用CLS增强探测算法，最小检测功率仅约0.1纳瓦。</a:t>
            </a:r>
          </a:p>
          <a:p/>
          <a:p>
            <a:r>
              <a:t>在频率梳方面，NTSC开发了多分支全保偏光纤频率梳和低延迟FPGA数字伺服板。这些技术积累为中国建立自己的光钟比对网络提供了基础。同时我们也需要看到，中国在参与国际光钟比对网络方面还有较大的追赶空间。</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现在进入总结部分。这一页用三列结构总结了当前状态和未来路径。</a:t>
            </a:r>
          </a:p>
          <a:p/>
          <a:p>
            <a:r>
              <a:t>左边绿色列——已经达成的成就。光钟不确定度已经突破10的负18次方，BACON的三钟频率比已经满足了判据I.2的精度要求，光纤链路已经达到10的负19次方水平，可搬运光钟已经在卡车、塔和船上成功演示。这些都是扎实的技术基础。</a:t>
            </a:r>
          </a:p>
          <a:p/>
          <a:p>
            <a:r>
              <a:t>中间橙色列——正在推进的工作。最紧迫的是排查系统不一致性——那些1×10的负16次方量级的偏差。同时需要更多的频率比独立验证、光钟对TAI的常态化贡献、大地水准面精度提升，以及光钟的工程化和可靠性提升。</a:t>
            </a:r>
          </a:p>
          <a:p/>
          <a:p>
            <a:r>
              <a:t>右边蓝色列——2026到2030年要完成的工作。包括扩大国际比对规模、解决系统效应偏差、选择重定义方案和确定候选跃迁。2026年CGPM提交草案，2030年CGPM批准——这是已经明确的时间线。</a:t>
            </a:r>
          </a:p>
          <a:p/>
          <a:p>
            <a:r>
              <a:t>核心信息是：光钟技术已经足够精确——单台光钟的不确定度已经远超10的负18次方——但系统的可靠性、国际比对的一致性和TAI集成还需要大量努力。2026年CGPM是第一个关键里程碑。</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这是本报告第一部分的主要参考文献。</a:t>
            </a:r>
          </a:p>
          <a:p/>
          <a:p>
            <a:r>
              <a:t>包括BIPM和CCTF的官方政策文件——Dimarcq等人的路线图论文、CCTF 24-3号建议书、Gertsvolf在2025年CCTF会议上的判据评估报告，以及BIPM的官方FAQ。</a:t>
            </a:r>
          </a:p>
          <a:p/>
          <a:p>
            <a:r>
              <a:t>关键实验论文包括BACON合作组2025年和2021年的两篇Nature及arXiv论文，Aeppli 2024年的锶钟8×10的负19次方突破，Bothwell 2019年的锶钟评估，中国NTSC Li 2024年的NimSrI成果，以及Fortier等人最新的光钟综述。</a:t>
            </a:r>
          </a:p>
          <a:p/>
          <a:p>
            <a:r>
              <a:t>知识库sci-logic-kb包含了530篇时频计量论文的结构化知识图谱，网址在GitHub上。</a:t>
            </a:r>
          </a:p>
          <a:p/>
          <a:p>
            <a:r>
              <a:t>接下来进入第二部分——核光钟专题。</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从现在开始进入第二部分——核光钟。这一页介绍基本原理。</a:t>
            </a:r>
          </a:p>
          <a:p/>
          <a:p>
            <a:r>
              <a:t>为什么从原子壳层跃迁转向原子核跃迁？核心原因有三个。第一，原子核比原子小约十万倍，对电磁场的敏感度相应降低了数个量级。第二，核外电子壳层天然屏蔽外部电磁场——这是原子光钟做不到的。第三，核电磁矩——核子磁矩只有电子磁矩的约千分之一，电四极矩也更小——所以系统频移预算理论上比原子光钟简单得多。</a:t>
            </a:r>
          </a:p>
          <a:p/>
          <a:p>
            <a:r>
              <a:t>钍-229是一种特殊的同位素。它拥有自然界中唯一已知的低能核激发态——能量仅8.36电子伏特，对应波长约148纳米，正好落在真空紫外波段，可以被桌面激光器激发。其他所有核跃迁都在keV到MeV范围，远远超出激光的可及范围。</a:t>
            </a:r>
          </a:p>
          <a:p/>
          <a:p>
            <a:r>
              <a:t>这个核跃迁的品质因子极高——约2×10的19次方，比最佳原子光钟高约5个数量级。激发态寿命在CaF₂晶体中约641秒，对应的自然线宽约100微赫兹。最重要的是，它对精细结构常数的变化高度敏感——敏感系数约5900，远超原子钟。</a:t>
            </a:r>
          </a:p>
          <a:p/>
          <a:p>
            <a:r>
              <a:t>目前有两条技术路线。离子阱方案追求最纯净的环境和自然线宽，预计可实现10的负19次方或更好的不确定度。固态方案将钍掺杂在CaF₂等透明晶体中，可以利用多达10的15次方个核量子发射体，信噪比极高，而且天然处于Lamb-Dicke囚禁状态，可能实现紧凑、可搬运甚至芯片级的核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这一页总结了过去两年核光钟领域的爆炸性进展——六项里程碑。</a:t>
            </a:r>
          </a:p>
          <a:p/>
          <a:p>
            <a:r>
              <a:t>2024年4月，PTB和TU维也纳团队在Physical Review Letters上报道了首次利用激光激发钍-229核跃迁——使用脉冲宽带四波混频光源加荧光检测。这是概念验证，证明了核跃迁确实可以被激光操控。</a:t>
            </a:r>
          </a:p>
          <a:p/>
          <a:p>
            <a:r>
              <a:t>仅仅三个月后——这是最重要的突破——JILA叶军团队的张传坤等人利用VUV频率梳实现了频率分辨的核跃迁光谱。他们将红外频率梳校准到JILA的锶-87原子钟，通过飞秒增强腔产生第7次谐波，首次建立了核钟和原子钟之间的直接频率链接。这个工作发表在2024年9月的Nature上。</a:t>
            </a:r>
          </a:p>
          <a:p/>
          <a:p>
            <a:r>
              <a:t>2025年7月，清华大学丁世谦团队在arXiv上发布了世界上第一台148纳米连续波超窄线宽激光器的实验演示——利用镉蒸气中的四波混频，输出功率超过100纳瓦，线宽远低于100赫兹，比此前所有190纳米以下的单频激光窄约5个数量级。</a:t>
            </a:r>
          </a:p>
          <a:p/>
          <a:p>
            <a:r>
              <a:t>2025年，CERN和MPIK等国际合作利用核四极矩的精确测量，定量确定了钍-229核跃迁对精细结构常数的敏感度为5900——这是核钟用于新物理搜索的关键参数。</a:t>
            </a:r>
          </a:p>
          <a:p/>
          <a:p>
            <a:r>
              <a:t>2026年2月，清华丁世谦团队的成果正式在Nature上发表。几乎同时——2月5日——JILA叶军团队的Tian Ooi等人在Nature上发表了固态核钟频率复现性的首次全面表征，确定了最佳工作温度196 K，7个月复现性为1.1×10的负13次方。这两篇Nature论文标志着核光钟进入了系统表征阶段。</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这一页单独讲中国的贡献，因为这是真正意义上的世界级突破。</a:t>
            </a:r>
          </a:p>
          <a:p/>
          <a:p>
            <a:r>
              <a:t>丁世谦副教授在清华大学的团队——他是2010到2016年在新加坡国立大学做离子阱量子计算的博士，2016到2021年在JILA叶军组做博士后，2021年还去了慕尼黑大学访问，同年底加入清华——这样的学术背景使他兼具了离子阱、精密光谱和核物理的跨学科能力。</a:t>
            </a:r>
          </a:p>
          <a:p/>
          <a:p>
            <a:r>
              <a:t>他的核心创新是什么？主流路线是用非线性晶体来产生148纳米的真空紫外光，但晶体在这个波段的吸收极强、损伤阈值极低，效果很差。丁世谦另辟蹊径，提出用金属镉蒸气中的四波混频——利用镉原子的大跃迁矩阵元和可及的入射波长，理论上可以高效地产生窄线宽的148纳米光。2024年6月他发表理论方案，2025年7月完成实验验证。</a:t>
            </a:r>
          </a:p>
          <a:p/>
          <a:p>
            <a:r>
              <a:t>最关键的科学发现是——热金属蒸气中GHz量级的Doppler展宽和碰撞展宽并不会在四波混频过程中引入额外的相位噪声。这意味着输出VUV光场的相干性主要由基频激光的稳定度决定——这是一个颠覆直觉的发现，为超稳激光技术向VUV波段的拓展提供了关键依据。</a:t>
            </a:r>
          </a:p>
          <a:p/>
          <a:p>
            <a:r>
              <a:t>这个光源的性能是革命性的——线宽比此前所有190纳米以下的单频激光窄了5个数量级。NSFC在2026年2月12日发表官方专题报道，称之为"攻克了钍-229核光钟研制的最后一个核心瓶颈"。而且这个光源不仅仅是给核钟用的——它还可以作为通用VUV相干光源平台，服务铝离子光钟、角分辨光电子能谱、高分辨VUV谱学等多个前沿领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这一页给出核光钟未来发展的预测。</a:t>
            </a:r>
          </a:p>
          <a:p/>
          <a:p>
            <a:r>
              <a:t>短期（2026到2028年）——利用清华的CW VUV激光和JILA的VUV梳，实现核跃迁的相干操控，演示核Rabi振荡。固态核钟将实现首次闭环锁定，不确定度推进到10的负17次方量级。核钟和原子钟的频率比也将达到10的负17次方精度。</a:t>
            </a:r>
          </a:p>
          <a:p/>
          <a:p>
            <a:r>
              <a:t>中期（2028到2032年）——离子阱核钟将首次被演示，利用Th³⁺离子的mHz级自然线宽。固态核钟的不确定度推进到10的负18次方。多晶片间的频率复现性达到10的负16到10的负17次方。核钟首次参与精细结构常数变化的长期监测。</a:t>
            </a:r>
          </a:p>
          <a:p/>
          <a:p>
            <a:r>
              <a:t>远期（2032到2038年）——固态核钟不确定度进入10的负19次方区间。可搬运固态核钟——芯片级光源加微型晶体——成功演示。核钟网络开始国际比对。</a:t>
            </a:r>
          </a:p>
          <a:p/>
          <a:p>
            <a:r>
              <a:t>核钟和原子钟不是替代关系，而是互补关系。核钟的优势在于系统频移更小、工程化更简单（固态方案天然紧凑）、对新物理的灵敏度更高。但它不会替代原子光钟——因为不同的系统效应意味着两者的交叉验证可以消除隐藏的系统误差。</a:t>
            </a:r>
          </a:p>
          <a:p/>
          <a:p>
            <a:r>
              <a:t>当然也有严峻的挑战需要面对——固态方案中晶体场的非均匀展宽是最大的物理限制，目前复现性离10的负18次方还有5个数量级的差距。离子阱方案中Th³⁺离子的制备和电子桥激发效率还有待验证。CW VUV激光的长期频率稳定度也需要进一步改进。这些都需要基础物理和工程技术的双重突破。</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这一页是对JILA叶军实验室核光钟工作的全景式深入介绍——因为JILA是无可争议的核光钟研究世界领导者。</a:t>
            </a:r>
          </a:p>
          <a:p/>
          <a:p>
            <a:r>
              <a:t>JILA的核钟项目建立在叶军实验室多年来在XUV频率梳和锶光钟领域的世界领先积累之上。他们采取的技术路线是VUV频率梳——利用飞秒增强腔将红外频率梳的第7次谐波产生148纳米的真空紫外光。这个梳被校准到JILA自己的锶-87光钟，而锶钟本身的不确定度在2024年已经达到了8×10的负19次方——这意味着VUV梳的绝对频率精度有了世界上最精确的参考。</a:t>
            </a:r>
          </a:p>
          <a:p/>
          <a:p>
            <a:r>
              <a:t>关键技术链路是这样的：红外频率梳先锁定至锶钟，然后通过飞秒增强腔进行相干上转换，产生第7次谐波的VUV光，照射到掺钍的CaF₂晶体上，最后通过单光子计数检测核荧光——钍激发态的寿命长达641秒。</a:t>
            </a:r>
          </a:p>
          <a:p/>
          <a:p>
            <a:r>
              <a:t>团队的核心成员包括PI叶军，张传坤是2025年毕业的博士生，他的博士论文"Thorium-229 nuclear clock using a VUV frequency comb"系统记录了VUV梳的搭建和首次频率分辨核跃迁光谱的测量——这项工作发表在2024年9月的Nature上，他是第一作者。Tian Ooi是在读博士生，他主导了固态核钟频率复现性的全面表征——2026年1月发表在Nature。Jacob Higgins和Jack Doyle也是团队关键成员。</a:t>
            </a:r>
          </a:p>
          <a:p/>
          <a:p>
            <a:r>
              <a:t>国际合作方面，TU维也纳的Thorsten Schumm组提供了不同掺杂浓度的钍-229掺杂CaF₂晶体——这是JILA无法自己完成的材料工作。</a:t>
            </a:r>
          </a:p>
          <a:p/>
          <a:p>
            <a:r>
              <a:t>JILA核钟的下一步包括——利用清华的CW VUV激光实现相干核操控，这是VUV梳做不了的事情；实现核钟的闭环锁定；开发薄膜样品降低放射性和成本；以及将核钟-原子钟频率比推进到10的负17到10的负19次方。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最后一页讲核光钟与SI秒重定义的关系。</a:t>
            </a:r>
          </a:p>
          <a:p/>
          <a:p>
            <a:r>
              <a:t>首先要明确——核光钟不会影响2030年SI秒重定义的时间表。核钟技术目前还处于从概念验证到原型的过渡阶段，远不满足CCTF的强制性判据。2030年的SI秒将基于原子光钟——铝离子、锶或镱。核钟对当前路线图的最大价值在于提供独立的交叉验证——核钟-原子钟频率比比对可以揭示原子光钟中隐藏的系统误差，这对解决当前的不一致性问题是极为重要的。</a:t>
            </a:r>
          </a:p>
          <a:p/>
          <a:p>
            <a:r>
              <a:t>从长远来看，核钟对基本物理的价值可能超过它作为频率标准本身。核钟对超轻玻色子暗物质的耦合灵敏度可比原子钟高10的3到10的4次方倍。它可以以10的负20次方每年的精度监测精细结构常数的变化。由于核跃迁和电子跃迁涉及不同的基本相互作用，两者的频率比对引力势变化的响应不同，这提供了检验爱因斯坦等效原理的新途径。核钟的极端品质因子甚至可能触及量子引力效应的可探测范围。</a:t>
            </a:r>
          </a:p>
          <a:p/>
          <a:p>
            <a:r>
              <a:t>展望2040年代——如果固态核钟工程化成功并验证了优于10的负19次方的不确定度，它将成为SI秒"再重定义"的最强候选。特别是固态核钟可能同时实现"芯片级"尺寸和"10的负19次方"精度——这是传统原子光钟无法同时满足的。低成本的大规模部署可能彻底解决时频传递链路的瓶颈。</a:t>
            </a:r>
          </a:p>
          <a:p/>
          <a:p>
            <a:r>
              <a:t>但也需要清醒认识到——核钟目前仍处于基础研究阶段，从概念验证到实用化至少还需要10到15年。这是一个需要耐心和持续投入的长跑。</a:t>
            </a:r>
          </a:p>
          <a:p/>
          <a:p>
            <a:r>
              <a:t>我的报告到这里结束，谢谢大家。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32004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058400" cy="1097280"/>
          </a:xfrm>
          <a:prstGeom prst="rect">
            <a:avLst/>
          </a:prstGeom>
          <a:noFill/>
        </p:spPr>
        <p:txBody>
          <a:bodyPr wrap="square">
            <a:spAutoFit/>
          </a:bodyPr>
          <a:lstStyle/>
          <a:p>
            <a:pPr algn="l">
              <a:defRPr sz="4400" b="1">
                <a:solidFill>
                  <a:srgbClr val="FFFFFF"/>
                </a:solidFill>
                <a:latin typeface="Microsoft YaHei"/>
              </a:defRPr>
            </a:pPr>
            <a:r>
              <a:t>SI秒的重新定义：意义、进程与现状</a:t>
            </a:r>
          </a:p>
        </p:txBody>
      </p:sp>
      <p:sp>
        <p:nvSpPr>
          <p:cNvPr id="5" name="TextBox 4"/>
          <p:cNvSpPr txBox="1"/>
          <p:nvPr/>
        </p:nvSpPr>
        <p:spPr>
          <a:xfrm>
            <a:off x="914400" y="2011680"/>
            <a:ext cx="10058400" cy="731520"/>
          </a:xfrm>
          <a:prstGeom prst="rect">
            <a:avLst/>
          </a:prstGeom>
          <a:noFill/>
        </p:spPr>
        <p:txBody>
          <a:bodyPr wrap="square">
            <a:spAutoFit/>
          </a:bodyPr>
          <a:lstStyle/>
          <a:p>
            <a:pPr algn="l">
              <a:defRPr sz="2800" b="0">
                <a:solidFill>
                  <a:srgbClr val="3B82F6"/>
                </a:solidFill>
                <a:latin typeface="Microsoft YaHei"/>
              </a:defRPr>
            </a:pPr>
            <a:r>
              <a:t>聚焦于光钟及其比对实验</a:t>
            </a:r>
          </a:p>
        </p:txBody>
      </p:sp>
      <p:sp>
        <p:nvSpPr>
          <p:cNvPr id="6" name="TextBox 5"/>
          <p:cNvSpPr txBox="1"/>
          <p:nvPr/>
        </p:nvSpPr>
        <p:spPr>
          <a:xfrm>
            <a:off x="914400" y="3840480"/>
            <a:ext cx="10058400" cy="2286000"/>
          </a:xfrm>
          <a:prstGeom prst="rect">
            <a:avLst/>
          </a:prstGeom>
          <a:noFill/>
        </p:spPr>
        <p:txBody>
          <a:bodyPr wrap="square">
            <a:spAutoFit/>
          </a:bodyPr>
          <a:lstStyle/>
          <a:p>
            <a:pPr algn="l">
              <a:lnSpc>
                <a:spcPts val="2600"/>
              </a:lnSpc>
              <a:spcAft>
                <a:spcPts val="400"/>
              </a:spcAft>
              <a:defRPr sz="2000" b="0">
                <a:solidFill>
                  <a:srgbClr val="C8D2DC"/>
                </a:solidFill>
                <a:latin typeface="Microsoft YaHei"/>
              </a:defRPr>
            </a:pPr>
            <a:r>
              <a:t>基于 sci-logic-kb 知识库 及 2024—2026年最新光钟比对实验进展</a:t>
            </a:r>
          </a:p>
          <a:p>
            <a:pPr algn="l">
              <a:lnSpc>
                <a:spcPts val="1040"/>
              </a:lnSpc>
              <a:spcAft>
                <a:spcPts val="400"/>
              </a:spcAft>
              <a:defRPr sz="800" b="0">
                <a:solidFill>
                  <a:srgbClr val="FFFFFF"/>
                </a:solidFill>
                <a:latin typeface="Microsoft YaHei"/>
              </a:defRPr>
            </a:pPr>
          </a:p>
          <a:p>
            <a:pPr algn="l">
              <a:lnSpc>
                <a:spcPts val="2080"/>
              </a:lnSpc>
              <a:spcAft>
                <a:spcPts val="400"/>
              </a:spcAft>
              <a:defRPr sz="1600" b="0">
                <a:solidFill>
                  <a:srgbClr val="94A3B8"/>
                </a:solidFill>
                <a:latin typeface="Microsoft YaHei"/>
              </a:defRPr>
            </a:pPr>
            <a:r>
              <a:t>主要内容：SI秒重定义的意义 | CCTF路线图与强制性判据 | 主要光钟类型与性能</a:t>
            </a:r>
          </a:p>
          <a:p>
            <a:pPr algn="l">
              <a:lnSpc>
                <a:spcPts val="2080"/>
              </a:lnSpc>
              <a:spcAft>
                <a:spcPts val="400"/>
              </a:spcAft>
              <a:defRPr sz="1600" b="0">
                <a:solidFill>
                  <a:srgbClr val="94A3B8"/>
                </a:solidFill>
                <a:latin typeface="Microsoft YaHei"/>
              </a:defRPr>
            </a:pPr>
            <a:r>
              <a:t>光钟比对网络（BACON、欧洲光纤网络）| 时频传递技术 | 当前状态与到2030的路径</a:t>
            </a:r>
          </a:p>
        </p:txBody>
      </p:sp>
      <p:sp>
        <p:nvSpPr>
          <p:cNvPr id="7" name="TextBox 6"/>
          <p:cNvSpPr txBox="1"/>
          <p:nvPr/>
        </p:nvSpPr>
        <p:spPr>
          <a:xfrm>
            <a:off x="914400" y="5943600"/>
            <a:ext cx="10058400" cy="457200"/>
          </a:xfrm>
          <a:prstGeom prst="rect">
            <a:avLst/>
          </a:prstGeom>
          <a:noFill/>
        </p:spPr>
        <p:txBody>
          <a:bodyPr wrap="square">
            <a:spAutoFit/>
          </a:bodyPr>
          <a:lstStyle/>
          <a:p>
            <a:pPr algn="l">
              <a:defRPr sz="1800" b="0">
                <a:solidFill>
                  <a:srgbClr val="94A3B8"/>
                </a:solidFill>
                <a:latin typeface="Microsoft YaHei"/>
              </a:defRPr>
            </a:pPr>
            <a:r>
              <a:t>2026年5月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秒——SI单位体系的基石</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除摩尔外，所有SI基本单位均直接或间接溯源至秒 · 2018年SI重新定义确立量子计量主导地位</a:t>
            </a:r>
          </a:p>
        </p:txBody>
      </p:sp>
      <p:sp>
        <p:nvSpPr>
          <p:cNvPr id="6" name="Rectangle 5"/>
          <p:cNvSpPr/>
          <p:nvPr/>
        </p:nvSpPr>
        <p:spPr>
          <a:xfrm>
            <a:off x="457200" y="1645920"/>
            <a:ext cx="5303520" cy="2286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5303520" cy="45720"/>
          </a:xfrm>
          <a:prstGeom prst="rect">
            <a:avLst/>
          </a:prstGeom>
          <a:solidFill>
            <a:srgbClr val="FC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846320" cy="1920240"/>
          </a:xfrm>
          <a:prstGeom prst="rect">
            <a:avLst/>
          </a:prstGeom>
          <a:noFill/>
        </p:spPr>
        <p:txBody>
          <a:bodyPr wrap="square">
            <a:spAutoFit/>
          </a:bodyPr>
          <a:lstStyle/>
          <a:p>
            <a:pPr algn="l">
              <a:lnSpc>
                <a:spcPts val="2860"/>
              </a:lnSpc>
              <a:spcAft>
                <a:spcPts val="300"/>
              </a:spcAft>
              <a:defRPr sz="2200" b="1">
                <a:solidFill>
                  <a:srgbClr val="FCCC00"/>
                </a:solidFill>
                <a:latin typeface="Microsoft YaHei"/>
              </a:defRPr>
            </a:pPr>
            <a:r>
              <a:t>2018年SI重新定义：量子计量革命</a:t>
            </a:r>
          </a:p>
          <a:p>
            <a:pPr algn="l">
              <a:lnSpc>
                <a:spcPts val="780"/>
              </a:lnSpc>
              <a:spcAft>
                <a:spcPts val="300"/>
              </a:spcAft>
              <a:defRPr sz="600" b="0">
                <a:solidFill>
                  <a:srgbClr val="FFFFFF"/>
                </a:solidFill>
                <a:latin typeface="Microsoft YaHei"/>
              </a:defRPr>
            </a:pPr>
          </a:p>
          <a:p>
            <a:pPr algn="l">
              <a:lnSpc>
                <a:spcPts val="2080"/>
              </a:lnSpc>
              <a:spcAft>
                <a:spcPts val="300"/>
              </a:spcAft>
              <a:defRPr sz="1600" b="0">
                <a:solidFill>
                  <a:srgbClr val="C8D2DC"/>
                </a:solidFill>
                <a:latin typeface="Microsoft YaHei"/>
              </a:defRPr>
            </a:pPr>
            <a:r>
              <a:t>2018年11月16日，第26届CGPM一致通过SI修订案</a:t>
            </a:r>
          </a:p>
          <a:p>
            <a:pPr algn="l">
              <a:lnSpc>
                <a:spcPts val="520"/>
              </a:lnSpc>
              <a:spcAft>
                <a:spcPts val="300"/>
              </a:spcAft>
              <a:defRPr sz="400" b="0">
                <a:solidFill>
                  <a:srgbClr val="FFFFFF"/>
                </a:solidFill>
                <a:latin typeface="Microsoft YaHei"/>
              </a:defRPr>
            </a:pPr>
          </a:p>
          <a:p>
            <a:pPr algn="l">
              <a:lnSpc>
                <a:spcPts val="2340"/>
              </a:lnSpc>
              <a:spcAft>
                <a:spcPts val="300"/>
              </a:spcAft>
              <a:defRPr sz="1800" b="1">
                <a:solidFill>
                  <a:srgbClr val="14B8A6"/>
                </a:solidFill>
                <a:latin typeface="Microsoft YaHei"/>
              </a:defRPr>
            </a:pPr>
            <a:r>
              <a:t>核心转变：从"实物基准" → "基本物理常数"</a:t>
            </a:r>
          </a:p>
          <a:p>
            <a:pPr algn="l">
              <a:lnSpc>
                <a:spcPts val="520"/>
              </a:lnSpc>
              <a:spcAft>
                <a:spcPts val="300"/>
              </a:spcAft>
              <a:defRPr sz="400" b="0">
                <a:solidFill>
                  <a:srgbClr val="FFFFFF"/>
                </a:solidFill>
                <a:latin typeface="Microsoft YaHei"/>
              </a:defRPr>
            </a:pPr>
          </a:p>
          <a:p>
            <a:pPr algn="l">
              <a:lnSpc>
                <a:spcPts val="1950"/>
              </a:lnSpc>
              <a:spcAft>
                <a:spcPts val="300"/>
              </a:spcAft>
              <a:defRPr sz="1500" b="0">
                <a:solidFill>
                  <a:srgbClr val="94A3B8"/>
                </a:solidFill>
                <a:latin typeface="Microsoft YaHei"/>
              </a:defRPr>
            </a:pPr>
            <a:r>
              <a:t>旧定义依赖：国际千克原器(IPK)、水的三相点、</a:t>
            </a:r>
          </a:p>
          <a:p>
            <a:pPr algn="l">
              <a:lnSpc>
                <a:spcPts val="1950"/>
              </a:lnSpc>
              <a:spcAft>
                <a:spcPts val="300"/>
              </a:spcAft>
              <a:defRPr sz="1500" b="0">
                <a:solidFill>
                  <a:srgbClr val="94A3B8"/>
                </a:solidFill>
                <a:latin typeface="Microsoft YaHei"/>
              </a:defRPr>
            </a:pPr>
            <a:r>
              <a:t>  特定同位素等实物或特定物质</a:t>
            </a:r>
          </a:p>
          <a:p>
            <a:pPr algn="l">
              <a:lnSpc>
                <a:spcPts val="1950"/>
              </a:lnSpc>
              <a:spcAft>
                <a:spcPts val="300"/>
              </a:spcAft>
              <a:defRPr sz="1500" b="0">
                <a:solidFill>
                  <a:srgbClr val="94A3B8"/>
                </a:solidFill>
                <a:latin typeface="Microsoft YaHei"/>
              </a:defRPr>
            </a:pPr>
            <a:r>
              <a:t>新定义基于：7个定义常数——h, e, k, N_A, c, Δν_Cs, K_cd</a:t>
            </a:r>
          </a:p>
          <a:p>
            <a:pPr algn="l">
              <a:lnSpc>
                <a:spcPts val="1950"/>
              </a:lnSpc>
              <a:spcAft>
                <a:spcPts val="300"/>
              </a:spcAft>
              <a:defRPr sz="1500" b="0">
                <a:solidFill>
                  <a:srgbClr val="94A3B8"/>
                </a:solidFill>
                <a:latin typeface="Microsoft YaHei"/>
              </a:defRPr>
            </a:pPr>
            <a:r>
              <a:t>  (普朗克常数、基本电荷、玻尔兹曼常数、阿伏伽德罗常数、</a:t>
            </a:r>
          </a:p>
          <a:p>
            <a:pPr algn="l">
              <a:lnSpc>
                <a:spcPts val="1950"/>
              </a:lnSpc>
              <a:spcAft>
                <a:spcPts val="300"/>
              </a:spcAft>
              <a:defRPr sz="1500" b="0">
                <a:solidFill>
                  <a:srgbClr val="94A3B8"/>
                </a:solidFill>
                <a:latin typeface="Microsoft YaHei"/>
              </a:defRPr>
            </a:pPr>
            <a:r>
              <a:t>   光速、Cs超精细跃迁频率、发光效率)</a:t>
            </a:r>
          </a:p>
        </p:txBody>
      </p:sp>
      <p:sp>
        <p:nvSpPr>
          <p:cNvPr id="9" name="Rectangle 8"/>
          <p:cNvSpPr/>
          <p:nvPr/>
        </p:nvSpPr>
        <p:spPr>
          <a:xfrm>
            <a:off x="6217920" y="1645920"/>
            <a:ext cx="5486400" cy="2286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486400" cy="457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5029200" cy="1920240"/>
          </a:xfrm>
          <a:prstGeom prst="rect">
            <a:avLst/>
          </a:prstGeom>
          <a:noFill/>
        </p:spPr>
        <p:txBody>
          <a:bodyPr wrap="square">
            <a:spAutoFit/>
          </a:bodyPr>
          <a:lstStyle/>
          <a:p>
            <a:pPr algn="l">
              <a:lnSpc>
                <a:spcPts val="2860"/>
              </a:lnSpc>
              <a:spcAft>
                <a:spcPts val="300"/>
              </a:spcAft>
              <a:defRPr sz="2200" b="1">
                <a:solidFill>
                  <a:srgbClr val="A855F7"/>
                </a:solidFill>
                <a:latin typeface="Microsoft YaHei"/>
              </a:defRPr>
            </a:pPr>
            <a:r>
              <a:t>2018年SI修订的深远意义</a:t>
            </a:r>
          </a:p>
          <a:p>
            <a:pPr algn="l">
              <a:lnSpc>
                <a:spcPts val="780"/>
              </a:lnSpc>
              <a:spcAft>
                <a:spcPts val="300"/>
              </a:spcAft>
              <a:defRPr sz="600" b="0">
                <a:solidFill>
                  <a:srgbClr val="FFFFFF"/>
                </a:solidFill>
                <a:latin typeface="Microsoft YaHei"/>
              </a:defRPr>
            </a:pPr>
          </a:p>
          <a:p>
            <a:pPr algn="l">
              <a:lnSpc>
                <a:spcPts val="2210"/>
              </a:lnSpc>
              <a:spcAft>
                <a:spcPts val="300"/>
              </a:spcAft>
              <a:defRPr sz="1700" b="1">
                <a:solidFill>
                  <a:srgbClr val="14B8A6"/>
                </a:solidFill>
                <a:latin typeface="Microsoft YaHei"/>
              </a:defRPr>
            </a:pPr>
            <a:r>
              <a:t>🔬 实现方式：不再规定"如何"实现单位</a:t>
            </a:r>
          </a:p>
          <a:p>
            <a:pPr algn="l">
              <a:lnSpc>
                <a:spcPts val="1950"/>
              </a:lnSpc>
              <a:spcAft>
                <a:spcPts val="300"/>
              </a:spcAft>
              <a:defRPr sz="1500" b="0">
                <a:solidFill>
                  <a:srgbClr val="C8D2DC"/>
                </a:solidFill>
                <a:latin typeface="Microsoft YaHei"/>
              </a:defRPr>
            </a:pPr>
            <a:r>
              <a:t>   — 任何能溯源到定义常数的方法均可实现SI单位</a:t>
            </a:r>
          </a:p>
          <a:p>
            <a:pPr algn="l">
              <a:lnSpc>
                <a:spcPts val="1950"/>
              </a:lnSpc>
              <a:spcAft>
                <a:spcPts val="300"/>
              </a:spcAft>
              <a:defRPr sz="1500" b="0">
                <a:solidFill>
                  <a:srgbClr val="94A3B8"/>
                </a:solidFill>
                <a:latin typeface="Microsoft YaHei"/>
              </a:defRPr>
            </a:pPr>
            <a:r>
              <a:t>   — 量子技术（原子干涉、单电子泵、约瑟夫森效应等）</a:t>
            </a:r>
          </a:p>
          <a:p>
            <a:pPr algn="l">
              <a:lnSpc>
                <a:spcPts val="1950"/>
              </a:lnSpc>
              <a:spcAft>
                <a:spcPts val="300"/>
              </a:spcAft>
              <a:defRPr sz="1500" b="0">
                <a:solidFill>
                  <a:srgbClr val="94A3B8"/>
                </a:solidFill>
                <a:latin typeface="Microsoft YaHei"/>
              </a:defRPr>
            </a:pPr>
            <a:r>
              <a:t>     成为实现SI单位的首选方法</a:t>
            </a:r>
          </a:p>
          <a:p>
            <a:pPr algn="l">
              <a:lnSpc>
                <a:spcPts val="520"/>
              </a:lnSpc>
              <a:spcAft>
                <a:spcPts val="300"/>
              </a:spcAft>
              <a:defRPr sz="400" b="0">
                <a:solidFill>
                  <a:srgbClr val="FFFFFF"/>
                </a:solidFill>
                <a:latin typeface="Microsoft YaHei"/>
              </a:defRPr>
            </a:pPr>
          </a:p>
          <a:p>
            <a:pPr algn="l">
              <a:lnSpc>
                <a:spcPts val="2210"/>
              </a:lnSpc>
              <a:spcAft>
                <a:spcPts val="300"/>
              </a:spcAft>
              <a:defRPr sz="1700" b="1">
                <a:solidFill>
                  <a:srgbClr val="14B8A6"/>
                </a:solidFill>
                <a:latin typeface="Microsoft YaHei"/>
              </a:defRPr>
            </a:pPr>
            <a:r>
              <a:t>⚛️ 量子计量确立主导地位：</a:t>
            </a:r>
          </a:p>
          <a:p>
            <a:pPr algn="l">
              <a:lnSpc>
                <a:spcPts val="1950"/>
              </a:lnSpc>
              <a:spcAft>
                <a:spcPts val="300"/>
              </a:spcAft>
              <a:defRPr sz="1500" b="0">
                <a:solidFill>
                  <a:srgbClr val="C8D2DC"/>
                </a:solidFill>
                <a:latin typeface="Microsoft YaHei"/>
              </a:defRPr>
            </a:pPr>
            <a:r>
              <a:t>   • 电学单位(安培) → e (基本电荷, 单电子输运)</a:t>
            </a:r>
          </a:p>
          <a:p>
            <a:pPr algn="l">
              <a:lnSpc>
                <a:spcPts val="1950"/>
              </a:lnSpc>
              <a:spcAft>
                <a:spcPts val="300"/>
              </a:spcAft>
              <a:defRPr sz="1500" b="0">
                <a:solidFill>
                  <a:srgbClr val="C8D2DC"/>
                </a:solidFill>
                <a:latin typeface="Microsoft YaHei"/>
              </a:defRPr>
            </a:pPr>
            <a:r>
              <a:t>   • 质量单位(千克) → h (普朗克常数, 基布尔秤)</a:t>
            </a:r>
          </a:p>
          <a:p>
            <a:pPr algn="l">
              <a:lnSpc>
                <a:spcPts val="1950"/>
              </a:lnSpc>
              <a:spcAft>
                <a:spcPts val="300"/>
              </a:spcAft>
              <a:defRPr sz="1500" b="0">
                <a:solidFill>
                  <a:srgbClr val="C8D2DC"/>
                </a:solidFill>
                <a:latin typeface="Microsoft YaHei"/>
              </a:defRPr>
            </a:pPr>
            <a:r>
              <a:t>   • 温度单位(开尔文) → k (玻尔兹曼常数)</a:t>
            </a:r>
          </a:p>
          <a:p>
            <a:pPr algn="l">
              <a:lnSpc>
                <a:spcPts val="1950"/>
              </a:lnSpc>
              <a:spcAft>
                <a:spcPts val="300"/>
              </a:spcAft>
              <a:defRPr sz="1500" b="0">
                <a:solidFill>
                  <a:srgbClr val="C8D2DC"/>
                </a:solidFill>
                <a:latin typeface="Microsoft YaHei"/>
              </a:defRPr>
            </a:pPr>
            <a:r>
              <a:t>   • 时间单位(秒) → Δν_Cs (1967年已量子化)</a:t>
            </a:r>
          </a:p>
        </p:txBody>
      </p:sp>
      <p:sp>
        <p:nvSpPr>
          <p:cNvPr id="12" name="Rectangle 11"/>
          <p:cNvSpPr/>
          <p:nvPr/>
        </p:nvSpPr>
        <p:spPr>
          <a:xfrm>
            <a:off x="457200" y="4206240"/>
            <a:ext cx="11247120" cy="24688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206240"/>
            <a:ext cx="112471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89120"/>
            <a:ext cx="10515600" cy="2103120"/>
          </a:xfrm>
          <a:prstGeom prst="rect">
            <a:avLst/>
          </a:prstGeom>
          <a:noFill/>
        </p:spPr>
        <p:txBody>
          <a:bodyPr wrap="square">
            <a:spAutoFit/>
          </a:bodyPr>
          <a:lstStyle/>
          <a:p>
            <a:pPr algn="l">
              <a:lnSpc>
                <a:spcPts val="2860"/>
              </a:lnSpc>
              <a:spcAft>
                <a:spcPts val="300"/>
              </a:spcAft>
              <a:defRPr sz="2200" b="1">
                <a:solidFill>
                  <a:srgbClr val="F59E0B"/>
                </a:solidFill>
                <a:latin typeface="Microsoft YaHei"/>
              </a:defRPr>
            </a:pPr>
            <a:r>
              <a:t>秒在SI基本单位中的核心地位</a:t>
            </a:r>
          </a:p>
          <a:p>
            <a:pPr algn="l">
              <a:lnSpc>
                <a:spcPts val="520"/>
              </a:lnSpc>
              <a:spcAft>
                <a:spcPts val="300"/>
              </a:spcAft>
              <a:defRPr sz="400" b="0">
                <a:solidFill>
                  <a:srgbClr val="FFFFFF"/>
                </a:solidFill>
                <a:latin typeface="Microsoft YaHei"/>
              </a:defRPr>
            </a:pPr>
          </a:p>
          <a:p>
            <a:pPr algn="l">
              <a:lnSpc>
                <a:spcPts val="1950"/>
              </a:lnSpc>
              <a:spcAft>
                <a:spcPts val="300"/>
              </a:spcAft>
              <a:defRPr sz="1500" b="0">
                <a:solidFill>
                  <a:srgbClr val="C8D2DC"/>
                </a:solidFill>
                <a:latin typeface="Microsoft YaHei"/>
              </a:defRPr>
            </a:pPr>
            <a:r>
              <a:t>秒（s）是SI七个基本单位中精度最高的——当前Cs秒实现精度 ~10⁻¹⁶，光钟已达10⁻¹⁸～10⁻¹⁹</a:t>
            </a:r>
          </a:p>
          <a:p>
            <a:pPr algn="l">
              <a:lnSpc>
                <a:spcPts val="520"/>
              </a:lnSpc>
              <a:spcAft>
                <a:spcPts val="300"/>
              </a:spcAft>
              <a:defRPr sz="400" b="0">
                <a:solidFill>
                  <a:srgbClr val="FFFFFF"/>
                </a:solidFill>
                <a:latin typeface="Microsoft YaHei"/>
              </a:defRPr>
            </a:pPr>
          </a:p>
          <a:p>
            <a:pPr algn="l">
              <a:lnSpc>
                <a:spcPts val="2210"/>
              </a:lnSpc>
              <a:spcAft>
                <a:spcPts val="300"/>
              </a:spcAft>
              <a:defRPr sz="1700" b="1">
                <a:solidFill>
                  <a:srgbClr val="14B8A6"/>
                </a:solidFill>
                <a:latin typeface="Microsoft YaHei"/>
              </a:defRPr>
            </a:pPr>
            <a:r>
              <a:t>除摩尔(mol)外，所有SI基本单位均直接或间接溯源至秒：</a:t>
            </a:r>
          </a:p>
          <a:p>
            <a:pPr algn="l">
              <a:lnSpc>
                <a:spcPts val="260"/>
              </a:lnSpc>
              <a:spcAft>
                <a:spcPts val="300"/>
              </a:spcAft>
              <a:defRPr sz="200" b="0">
                <a:solidFill>
                  <a:srgbClr val="FFFFFF"/>
                </a:solidFill>
                <a:latin typeface="Microsoft YaHei"/>
              </a:defRPr>
            </a:pPr>
          </a:p>
        </p:txBody>
      </p:sp>
      <p:sp>
        <p:nvSpPr>
          <p:cNvPr id="15" name="Rectangle 14"/>
          <p:cNvSpPr/>
          <p:nvPr/>
        </p:nvSpPr>
        <p:spPr>
          <a:xfrm>
            <a:off x="457200" y="5029200"/>
            <a:ext cx="1783080" cy="41148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5047488"/>
            <a:ext cx="1783080" cy="365760"/>
          </a:xfrm>
          <a:prstGeom prst="rect">
            <a:avLst/>
          </a:prstGeom>
          <a:noFill/>
        </p:spPr>
        <p:txBody>
          <a:bodyPr wrap="square">
            <a:spAutoFit/>
          </a:bodyPr>
          <a:lstStyle/>
          <a:p>
            <a:pPr algn="ctr">
              <a:defRPr sz="1600" b="1">
                <a:solidFill>
                  <a:srgbClr val="FFFFFF"/>
                </a:solidFill>
                <a:latin typeface="Microsoft YaHei"/>
              </a:defRPr>
            </a:pPr>
            <a:r>
              <a:t>米 (m)</a:t>
            </a:r>
          </a:p>
        </p:txBody>
      </p:sp>
      <p:sp>
        <p:nvSpPr>
          <p:cNvPr id="17" name="Rectangle 16"/>
          <p:cNvSpPr/>
          <p:nvPr/>
        </p:nvSpPr>
        <p:spPr>
          <a:xfrm>
            <a:off x="457200" y="5440680"/>
            <a:ext cx="1783080" cy="1554480"/>
          </a:xfrm>
          <a:prstGeom prst="rect">
            <a:avLst/>
          </a:prstGeom>
          <a:solidFill>
            <a:srgbClr val="0A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5486400"/>
            <a:ext cx="1636776" cy="1417320"/>
          </a:xfrm>
          <a:prstGeom prst="rect">
            <a:avLst/>
          </a:prstGeom>
          <a:noFill/>
        </p:spPr>
        <p:txBody>
          <a:bodyPr wrap="square">
            <a:spAutoFit/>
          </a:bodyPr>
          <a:lstStyle/>
          <a:p>
            <a:pPr algn="l">
              <a:lnSpc>
                <a:spcPts val="1210"/>
              </a:lnSpc>
              <a:spcAft>
                <a:spcPts val="300"/>
              </a:spcAft>
              <a:defRPr sz="1100" b="1">
                <a:solidFill>
                  <a:srgbClr val="3B82F6"/>
                </a:solidFill>
                <a:latin typeface="Microsoft YaHei"/>
              </a:defRPr>
            </a:pPr>
            <a:r>
              <a:t>c · Δν_Cs⁻¹</a:t>
            </a:r>
          </a:p>
          <a:p>
            <a:pPr algn="l">
              <a:lnSpc>
                <a:spcPts val="220"/>
              </a:lnSpc>
              <a:spcAft>
                <a:spcPts val="300"/>
              </a:spcAft>
              <a:defRPr sz="200" b="0">
                <a:solidFill>
                  <a:srgbClr val="FFFFFF"/>
                </a:solidFill>
                <a:latin typeface="Microsoft YaHei"/>
              </a:defRPr>
            </a:pPr>
          </a:p>
          <a:p>
            <a:pPr algn="l">
              <a:lnSpc>
                <a:spcPts val="1100"/>
              </a:lnSpc>
              <a:spcAft>
                <a:spcPts val="300"/>
              </a:spcAft>
              <a:defRPr sz="1000" b="0">
                <a:solidFill>
                  <a:srgbClr val="C8D2DC"/>
                </a:solidFill>
                <a:latin typeface="Microsoft YaHei"/>
              </a:defRPr>
            </a:pPr>
            <a:r>
              <a:t>光速 ÷ Cs跃迁频率</a:t>
            </a:r>
          </a:p>
          <a:p>
            <a:pPr algn="l">
              <a:lnSpc>
                <a:spcPts val="220"/>
              </a:lnSpc>
              <a:spcAft>
                <a:spcPts val="300"/>
              </a:spcAft>
              <a:defRPr sz="200" b="0">
                <a:solidFill>
                  <a:srgbClr val="FFFFFF"/>
                </a:solidFill>
                <a:latin typeface="Microsoft YaHei"/>
              </a:defRPr>
            </a:pPr>
          </a:p>
          <a:p>
            <a:pPr algn="l">
              <a:lnSpc>
                <a:spcPts val="990"/>
              </a:lnSpc>
              <a:spcAft>
                <a:spcPts val="300"/>
              </a:spcAft>
              <a:defRPr sz="900" b="0">
                <a:solidFill>
                  <a:srgbClr val="94A3B8"/>
                </a:solidFill>
                <a:latin typeface="Microsoft YaHei"/>
              </a:defRPr>
            </a:pPr>
            <a:r>
              <a:t>长度 → 时间 + 光速常数</a:t>
            </a:r>
          </a:p>
        </p:txBody>
      </p:sp>
      <p:sp>
        <p:nvSpPr>
          <p:cNvPr id="19" name="Rectangle 18"/>
          <p:cNvSpPr/>
          <p:nvPr/>
        </p:nvSpPr>
        <p:spPr>
          <a:xfrm>
            <a:off x="2377440" y="5029200"/>
            <a:ext cx="1783080" cy="4114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77440" y="5047488"/>
            <a:ext cx="1783080" cy="365760"/>
          </a:xfrm>
          <a:prstGeom prst="rect">
            <a:avLst/>
          </a:prstGeom>
          <a:noFill/>
        </p:spPr>
        <p:txBody>
          <a:bodyPr wrap="square">
            <a:spAutoFit/>
          </a:bodyPr>
          <a:lstStyle/>
          <a:p>
            <a:pPr algn="ctr">
              <a:defRPr sz="1600" b="1">
                <a:solidFill>
                  <a:srgbClr val="FFFFFF"/>
                </a:solidFill>
                <a:latin typeface="Microsoft YaHei"/>
              </a:defRPr>
            </a:pPr>
            <a:r>
              <a:t>千克 (kg)</a:t>
            </a:r>
          </a:p>
        </p:txBody>
      </p:sp>
      <p:sp>
        <p:nvSpPr>
          <p:cNvPr id="21" name="Rectangle 20"/>
          <p:cNvSpPr/>
          <p:nvPr/>
        </p:nvSpPr>
        <p:spPr>
          <a:xfrm>
            <a:off x="2377440" y="5440680"/>
            <a:ext cx="1783080" cy="1554480"/>
          </a:xfrm>
          <a:prstGeom prst="rect">
            <a:avLst/>
          </a:prstGeom>
          <a:solidFill>
            <a:srgbClr val="0A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50592" y="5486400"/>
            <a:ext cx="1636776" cy="1417320"/>
          </a:xfrm>
          <a:prstGeom prst="rect">
            <a:avLst/>
          </a:prstGeom>
          <a:noFill/>
        </p:spPr>
        <p:txBody>
          <a:bodyPr wrap="square">
            <a:spAutoFit/>
          </a:bodyPr>
          <a:lstStyle/>
          <a:p>
            <a:pPr algn="l">
              <a:lnSpc>
                <a:spcPts val="1210"/>
              </a:lnSpc>
              <a:spcAft>
                <a:spcPts val="300"/>
              </a:spcAft>
              <a:defRPr sz="1100" b="1">
                <a:solidFill>
                  <a:srgbClr val="14B8A6"/>
                </a:solidFill>
                <a:latin typeface="Microsoft YaHei"/>
              </a:defRPr>
            </a:pPr>
            <a:r>
              <a:t>h · Δν_Cs · c⁻²</a:t>
            </a:r>
          </a:p>
          <a:p>
            <a:pPr algn="l">
              <a:lnSpc>
                <a:spcPts val="220"/>
              </a:lnSpc>
              <a:spcAft>
                <a:spcPts val="300"/>
              </a:spcAft>
              <a:defRPr sz="200" b="0">
                <a:solidFill>
                  <a:srgbClr val="FFFFFF"/>
                </a:solidFill>
                <a:latin typeface="Microsoft YaHei"/>
              </a:defRPr>
            </a:pPr>
          </a:p>
          <a:p>
            <a:pPr algn="l">
              <a:lnSpc>
                <a:spcPts val="1100"/>
              </a:lnSpc>
              <a:spcAft>
                <a:spcPts val="300"/>
              </a:spcAft>
              <a:defRPr sz="1000" b="0">
                <a:solidFill>
                  <a:srgbClr val="C8D2DC"/>
                </a:solidFill>
                <a:latin typeface="Microsoft YaHei"/>
              </a:defRPr>
            </a:pPr>
            <a:r>
              <a:t>普朗克常数关联时间与质量</a:t>
            </a:r>
          </a:p>
          <a:p>
            <a:pPr algn="l">
              <a:lnSpc>
                <a:spcPts val="220"/>
              </a:lnSpc>
              <a:spcAft>
                <a:spcPts val="300"/>
              </a:spcAft>
              <a:defRPr sz="200" b="0">
                <a:solidFill>
                  <a:srgbClr val="FFFFFF"/>
                </a:solidFill>
                <a:latin typeface="Microsoft YaHei"/>
              </a:defRPr>
            </a:pPr>
          </a:p>
          <a:p>
            <a:pPr algn="l">
              <a:lnSpc>
                <a:spcPts val="990"/>
              </a:lnSpc>
              <a:spcAft>
                <a:spcPts val="300"/>
              </a:spcAft>
              <a:defRPr sz="900" b="0">
                <a:solidFill>
                  <a:srgbClr val="94A3B8"/>
                </a:solidFill>
                <a:latin typeface="Microsoft YaHei"/>
              </a:defRPr>
            </a:pPr>
            <a:r>
              <a:t>质量 → 时间 + h + c（基布尔秤）</a:t>
            </a:r>
          </a:p>
        </p:txBody>
      </p:sp>
      <p:sp>
        <p:nvSpPr>
          <p:cNvPr id="23" name="Rectangle 22"/>
          <p:cNvSpPr/>
          <p:nvPr/>
        </p:nvSpPr>
        <p:spPr>
          <a:xfrm>
            <a:off x="4297680" y="5029200"/>
            <a:ext cx="1783080" cy="411480"/>
          </a:xfrm>
          <a:prstGeom prst="rect">
            <a:avLst/>
          </a:prstGeom>
          <a:solidFill>
            <a:srgbClr val="FC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97680" y="5047488"/>
            <a:ext cx="1783080" cy="365760"/>
          </a:xfrm>
          <a:prstGeom prst="rect">
            <a:avLst/>
          </a:prstGeom>
          <a:noFill/>
        </p:spPr>
        <p:txBody>
          <a:bodyPr wrap="square">
            <a:spAutoFit/>
          </a:bodyPr>
          <a:lstStyle/>
          <a:p>
            <a:pPr algn="ctr">
              <a:defRPr sz="1600" b="1">
                <a:solidFill>
                  <a:srgbClr val="FFFFFF"/>
                </a:solidFill>
                <a:latin typeface="Microsoft YaHei"/>
              </a:defRPr>
            </a:pPr>
            <a:r>
              <a:t>安培 (A)</a:t>
            </a:r>
          </a:p>
        </p:txBody>
      </p:sp>
      <p:sp>
        <p:nvSpPr>
          <p:cNvPr id="25" name="Rectangle 24"/>
          <p:cNvSpPr/>
          <p:nvPr/>
        </p:nvSpPr>
        <p:spPr>
          <a:xfrm>
            <a:off x="4297680" y="5440680"/>
            <a:ext cx="1783080" cy="1554480"/>
          </a:xfrm>
          <a:prstGeom prst="rect">
            <a:avLst/>
          </a:prstGeom>
          <a:solidFill>
            <a:srgbClr val="0A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0832" y="5486400"/>
            <a:ext cx="1636776" cy="1417320"/>
          </a:xfrm>
          <a:prstGeom prst="rect">
            <a:avLst/>
          </a:prstGeom>
          <a:noFill/>
        </p:spPr>
        <p:txBody>
          <a:bodyPr wrap="square">
            <a:spAutoFit/>
          </a:bodyPr>
          <a:lstStyle/>
          <a:p>
            <a:pPr algn="l">
              <a:lnSpc>
                <a:spcPts val="1210"/>
              </a:lnSpc>
              <a:spcAft>
                <a:spcPts val="300"/>
              </a:spcAft>
              <a:defRPr sz="1100" b="1">
                <a:solidFill>
                  <a:srgbClr val="FCCC00"/>
                </a:solidFill>
                <a:latin typeface="Microsoft YaHei"/>
              </a:defRPr>
            </a:pPr>
            <a:r>
              <a:t>e · Δν_Cs</a:t>
            </a:r>
          </a:p>
          <a:p>
            <a:pPr algn="l">
              <a:lnSpc>
                <a:spcPts val="220"/>
              </a:lnSpc>
              <a:spcAft>
                <a:spcPts val="300"/>
              </a:spcAft>
              <a:defRPr sz="200" b="0">
                <a:solidFill>
                  <a:srgbClr val="FFFFFF"/>
                </a:solidFill>
                <a:latin typeface="Microsoft YaHei"/>
              </a:defRPr>
            </a:pPr>
          </a:p>
          <a:p>
            <a:pPr algn="l">
              <a:lnSpc>
                <a:spcPts val="1100"/>
              </a:lnSpc>
              <a:spcAft>
                <a:spcPts val="300"/>
              </a:spcAft>
              <a:defRPr sz="1000" b="0">
                <a:solidFill>
                  <a:srgbClr val="C8D2DC"/>
                </a:solidFill>
                <a:latin typeface="Microsoft YaHei"/>
              </a:defRPr>
            </a:pPr>
            <a:r>
              <a:t>基本电荷 × Cs频率</a:t>
            </a:r>
          </a:p>
          <a:p>
            <a:pPr algn="l">
              <a:lnSpc>
                <a:spcPts val="220"/>
              </a:lnSpc>
              <a:spcAft>
                <a:spcPts val="300"/>
              </a:spcAft>
              <a:defRPr sz="200" b="0">
                <a:solidFill>
                  <a:srgbClr val="FFFFFF"/>
                </a:solidFill>
                <a:latin typeface="Microsoft YaHei"/>
              </a:defRPr>
            </a:pPr>
          </a:p>
          <a:p>
            <a:pPr algn="l">
              <a:lnSpc>
                <a:spcPts val="990"/>
              </a:lnSpc>
              <a:spcAft>
                <a:spcPts val="300"/>
              </a:spcAft>
              <a:defRPr sz="900" b="0">
                <a:solidFill>
                  <a:srgbClr val="94A3B8"/>
                </a:solidFill>
                <a:latin typeface="Microsoft YaHei"/>
              </a:defRPr>
            </a:pPr>
            <a:r>
              <a:t>电流 → 时间 + e（单电子泵）</a:t>
            </a:r>
          </a:p>
        </p:txBody>
      </p:sp>
      <p:sp>
        <p:nvSpPr>
          <p:cNvPr id="27" name="Rectangle 26"/>
          <p:cNvSpPr/>
          <p:nvPr/>
        </p:nvSpPr>
        <p:spPr>
          <a:xfrm>
            <a:off x="6217920" y="5029200"/>
            <a:ext cx="1783080" cy="4114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0" y="5047488"/>
            <a:ext cx="1783080" cy="365760"/>
          </a:xfrm>
          <a:prstGeom prst="rect">
            <a:avLst/>
          </a:prstGeom>
          <a:noFill/>
        </p:spPr>
        <p:txBody>
          <a:bodyPr wrap="square">
            <a:spAutoFit/>
          </a:bodyPr>
          <a:lstStyle/>
          <a:p>
            <a:pPr algn="ctr">
              <a:defRPr sz="1600" b="1">
                <a:solidFill>
                  <a:srgbClr val="FFFFFF"/>
                </a:solidFill>
                <a:latin typeface="Microsoft YaHei"/>
              </a:defRPr>
            </a:pPr>
            <a:r>
              <a:t>开尔文 (K)</a:t>
            </a:r>
          </a:p>
        </p:txBody>
      </p:sp>
      <p:sp>
        <p:nvSpPr>
          <p:cNvPr id="29" name="Rectangle 28"/>
          <p:cNvSpPr/>
          <p:nvPr/>
        </p:nvSpPr>
        <p:spPr>
          <a:xfrm>
            <a:off x="6217920" y="5440680"/>
            <a:ext cx="1783080" cy="1554480"/>
          </a:xfrm>
          <a:prstGeom prst="rect">
            <a:avLst/>
          </a:prstGeom>
          <a:solidFill>
            <a:srgbClr val="0A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91072" y="5486400"/>
            <a:ext cx="1636776" cy="1417320"/>
          </a:xfrm>
          <a:prstGeom prst="rect">
            <a:avLst/>
          </a:prstGeom>
          <a:noFill/>
        </p:spPr>
        <p:txBody>
          <a:bodyPr wrap="square">
            <a:spAutoFit/>
          </a:bodyPr>
          <a:lstStyle/>
          <a:p>
            <a:pPr algn="l">
              <a:lnSpc>
                <a:spcPts val="1210"/>
              </a:lnSpc>
              <a:spcAft>
                <a:spcPts val="300"/>
              </a:spcAft>
              <a:defRPr sz="1100" b="1">
                <a:solidFill>
                  <a:srgbClr val="F59E0B"/>
                </a:solidFill>
                <a:latin typeface="Microsoft YaHei"/>
              </a:defRPr>
            </a:pPr>
            <a:r>
              <a:t>Δν_Cs · h · k⁻¹</a:t>
            </a:r>
          </a:p>
          <a:p>
            <a:pPr algn="l">
              <a:lnSpc>
                <a:spcPts val="220"/>
              </a:lnSpc>
              <a:spcAft>
                <a:spcPts val="300"/>
              </a:spcAft>
              <a:defRPr sz="200" b="0">
                <a:solidFill>
                  <a:srgbClr val="FFFFFF"/>
                </a:solidFill>
                <a:latin typeface="Microsoft YaHei"/>
              </a:defRPr>
            </a:pPr>
          </a:p>
          <a:p>
            <a:pPr algn="l">
              <a:lnSpc>
                <a:spcPts val="1100"/>
              </a:lnSpc>
              <a:spcAft>
                <a:spcPts val="300"/>
              </a:spcAft>
              <a:defRPr sz="1000" b="0">
                <a:solidFill>
                  <a:srgbClr val="C8D2DC"/>
                </a:solidFill>
                <a:latin typeface="Microsoft YaHei"/>
              </a:defRPr>
            </a:pPr>
            <a:r>
              <a:t>热能与频率等价 (E=hν=kT)</a:t>
            </a:r>
          </a:p>
          <a:p>
            <a:pPr algn="l">
              <a:lnSpc>
                <a:spcPts val="220"/>
              </a:lnSpc>
              <a:spcAft>
                <a:spcPts val="300"/>
              </a:spcAft>
              <a:defRPr sz="200" b="0">
                <a:solidFill>
                  <a:srgbClr val="FFFFFF"/>
                </a:solidFill>
                <a:latin typeface="Microsoft YaHei"/>
              </a:defRPr>
            </a:pPr>
          </a:p>
          <a:p>
            <a:pPr algn="l">
              <a:lnSpc>
                <a:spcPts val="990"/>
              </a:lnSpc>
              <a:spcAft>
                <a:spcPts val="300"/>
              </a:spcAft>
              <a:defRPr sz="900" b="0">
                <a:solidFill>
                  <a:srgbClr val="94A3B8"/>
                </a:solidFill>
                <a:latin typeface="Microsoft YaHei"/>
              </a:defRPr>
            </a:pPr>
            <a:r>
              <a:t>温度 → 时间 + h + k</a:t>
            </a:r>
          </a:p>
        </p:txBody>
      </p:sp>
      <p:sp>
        <p:nvSpPr>
          <p:cNvPr id="31" name="Rectangle 30"/>
          <p:cNvSpPr/>
          <p:nvPr/>
        </p:nvSpPr>
        <p:spPr>
          <a:xfrm>
            <a:off x="8138160" y="5029200"/>
            <a:ext cx="1783080" cy="41148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60" y="5047488"/>
            <a:ext cx="1783080" cy="365760"/>
          </a:xfrm>
          <a:prstGeom prst="rect">
            <a:avLst/>
          </a:prstGeom>
          <a:noFill/>
        </p:spPr>
        <p:txBody>
          <a:bodyPr wrap="square">
            <a:spAutoFit/>
          </a:bodyPr>
          <a:lstStyle/>
          <a:p>
            <a:pPr algn="ctr">
              <a:defRPr sz="1600" b="1">
                <a:solidFill>
                  <a:srgbClr val="FFFFFF"/>
                </a:solidFill>
                <a:latin typeface="Microsoft YaHei"/>
              </a:defRPr>
            </a:pPr>
            <a:r>
              <a:t>坎德拉 (cd)</a:t>
            </a:r>
          </a:p>
        </p:txBody>
      </p:sp>
      <p:sp>
        <p:nvSpPr>
          <p:cNvPr id="33" name="Rectangle 32"/>
          <p:cNvSpPr/>
          <p:nvPr/>
        </p:nvSpPr>
        <p:spPr>
          <a:xfrm>
            <a:off x="8138160" y="5440680"/>
            <a:ext cx="1783080" cy="1554480"/>
          </a:xfrm>
          <a:prstGeom prst="rect">
            <a:avLst/>
          </a:prstGeom>
          <a:solidFill>
            <a:srgbClr val="0A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1312" y="5486400"/>
            <a:ext cx="1636776" cy="1417320"/>
          </a:xfrm>
          <a:prstGeom prst="rect">
            <a:avLst/>
          </a:prstGeom>
          <a:noFill/>
        </p:spPr>
        <p:txBody>
          <a:bodyPr wrap="square">
            <a:spAutoFit/>
          </a:bodyPr>
          <a:lstStyle/>
          <a:p>
            <a:pPr algn="l">
              <a:lnSpc>
                <a:spcPts val="1210"/>
              </a:lnSpc>
              <a:spcAft>
                <a:spcPts val="300"/>
              </a:spcAft>
              <a:defRPr sz="1100" b="1">
                <a:solidFill>
                  <a:srgbClr val="A855F7"/>
                </a:solidFill>
                <a:latin typeface="Microsoft YaHei"/>
              </a:defRPr>
            </a:pPr>
            <a:r>
              <a:t>K_cd · h · Δν_Cs²</a:t>
            </a:r>
          </a:p>
          <a:p>
            <a:pPr algn="l">
              <a:lnSpc>
                <a:spcPts val="220"/>
              </a:lnSpc>
              <a:spcAft>
                <a:spcPts val="300"/>
              </a:spcAft>
              <a:defRPr sz="200" b="0">
                <a:solidFill>
                  <a:srgbClr val="FFFFFF"/>
                </a:solidFill>
                <a:latin typeface="Microsoft YaHei"/>
              </a:defRPr>
            </a:pPr>
          </a:p>
          <a:p>
            <a:pPr algn="l">
              <a:lnSpc>
                <a:spcPts val="1100"/>
              </a:lnSpc>
              <a:spcAft>
                <a:spcPts val="300"/>
              </a:spcAft>
              <a:defRPr sz="1000" b="0">
                <a:solidFill>
                  <a:srgbClr val="C8D2DC"/>
                </a:solidFill>
                <a:latin typeface="Microsoft YaHei"/>
              </a:defRPr>
            </a:pPr>
            <a:r>
              <a:t>光视效能 + 辐射功率</a:t>
            </a:r>
          </a:p>
          <a:p>
            <a:pPr algn="l">
              <a:lnSpc>
                <a:spcPts val="220"/>
              </a:lnSpc>
              <a:spcAft>
                <a:spcPts val="300"/>
              </a:spcAft>
              <a:defRPr sz="200" b="0">
                <a:solidFill>
                  <a:srgbClr val="FFFFFF"/>
                </a:solidFill>
                <a:latin typeface="Microsoft YaHei"/>
              </a:defRPr>
            </a:pPr>
          </a:p>
          <a:p>
            <a:pPr algn="l">
              <a:lnSpc>
                <a:spcPts val="990"/>
              </a:lnSpc>
              <a:spcAft>
                <a:spcPts val="300"/>
              </a:spcAft>
              <a:defRPr sz="900" b="0">
                <a:solidFill>
                  <a:srgbClr val="94A3B8"/>
                </a:solidFill>
                <a:latin typeface="Microsoft YaHei"/>
              </a:defRPr>
            </a:pPr>
            <a:r>
              <a:t>光强 → 时间 + 频率定义功率</a:t>
            </a:r>
          </a:p>
        </p:txBody>
      </p:sp>
      <p:sp>
        <p:nvSpPr>
          <p:cNvPr id="35" name="Rectangle 34"/>
          <p:cNvSpPr/>
          <p:nvPr/>
        </p:nvSpPr>
        <p:spPr>
          <a:xfrm>
            <a:off x="10058400" y="5029200"/>
            <a:ext cx="1783080" cy="411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0" y="5047488"/>
            <a:ext cx="1783080" cy="365760"/>
          </a:xfrm>
          <a:prstGeom prst="rect">
            <a:avLst/>
          </a:prstGeom>
          <a:noFill/>
        </p:spPr>
        <p:txBody>
          <a:bodyPr wrap="square">
            <a:spAutoFit/>
          </a:bodyPr>
          <a:lstStyle/>
          <a:p>
            <a:pPr algn="ctr">
              <a:defRPr sz="1600" b="1">
                <a:solidFill>
                  <a:srgbClr val="FFFFFF"/>
                </a:solidFill>
                <a:latin typeface="Microsoft YaHei"/>
              </a:defRPr>
            </a:pPr>
            <a:r>
              <a:t>摩尔 (mol)</a:t>
            </a:r>
          </a:p>
        </p:txBody>
      </p:sp>
      <p:sp>
        <p:nvSpPr>
          <p:cNvPr id="37" name="Rectangle 36"/>
          <p:cNvSpPr/>
          <p:nvPr/>
        </p:nvSpPr>
        <p:spPr>
          <a:xfrm>
            <a:off x="10058400" y="5440680"/>
            <a:ext cx="1783080" cy="1554480"/>
          </a:xfrm>
          <a:prstGeom prst="rect">
            <a:avLst/>
          </a:prstGeom>
          <a:solidFill>
            <a:srgbClr val="0A1C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31552" y="5486400"/>
            <a:ext cx="1636776" cy="1417320"/>
          </a:xfrm>
          <a:prstGeom prst="rect">
            <a:avLst/>
          </a:prstGeom>
          <a:noFill/>
        </p:spPr>
        <p:txBody>
          <a:bodyPr wrap="square">
            <a:spAutoFit/>
          </a:bodyPr>
          <a:lstStyle/>
          <a:p>
            <a:pPr algn="l">
              <a:lnSpc>
                <a:spcPts val="1210"/>
              </a:lnSpc>
              <a:spcAft>
                <a:spcPts val="300"/>
              </a:spcAft>
              <a:defRPr sz="1100" b="1">
                <a:solidFill>
                  <a:srgbClr val="EF4444"/>
                </a:solidFill>
                <a:latin typeface="Microsoft YaHei"/>
              </a:defRPr>
            </a:pPr>
            <a:r>
              <a:t>N_A（独立常数）</a:t>
            </a:r>
          </a:p>
          <a:p>
            <a:pPr algn="l">
              <a:lnSpc>
                <a:spcPts val="220"/>
              </a:lnSpc>
              <a:spcAft>
                <a:spcPts val="300"/>
              </a:spcAft>
              <a:defRPr sz="200" b="0">
                <a:solidFill>
                  <a:srgbClr val="FFFFFF"/>
                </a:solidFill>
                <a:latin typeface="Microsoft YaHei"/>
              </a:defRPr>
            </a:pPr>
          </a:p>
          <a:p>
            <a:pPr algn="l">
              <a:lnSpc>
                <a:spcPts val="1100"/>
              </a:lnSpc>
              <a:spcAft>
                <a:spcPts val="300"/>
              </a:spcAft>
              <a:defRPr sz="1000" b="0">
                <a:solidFill>
                  <a:srgbClr val="C8D2DC"/>
                </a:solidFill>
                <a:latin typeface="Microsoft YaHei"/>
              </a:defRPr>
            </a:pPr>
            <a:r>
              <a:t>阿伏伽德罗常数独立定义</a:t>
            </a:r>
          </a:p>
          <a:p>
            <a:pPr algn="l">
              <a:lnSpc>
                <a:spcPts val="220"/>
              </a:lnSpc>
              <a:spcAft>
                <a:spcPts val="300"/>
              </a:spcAft>
              <a:defRPr sz="200" b="0">
                <a:solidFill>
                  <a:srgbClr val="FFFFFF"/>
                </a:solidFill>
                <a:latin typeface="Microsoft YaHei"/>
              </a:defRPr>
            </a:pPr>
          </a:p>
          <a:p>
            <a:pPr algn="l">
              <a:lnSpc>
                <a:spcPts val="990"/>
              </a:lnSpc>
              <a:spcAft>
                <a:spcPts val="300"/>
              </a:spcAft>
              <a:defRPr sz="900" b="0">
                <a:solidFill>
                  <a:srgbClr val="94A3B8"/>
                </a:solidFill>
                <a:latin typeface="Microsoft YaHei"/>
              </a:defRPr>
            </a:pPr>
            <a:r>
              <a:t>唯一不依赖秒的基本单位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为什么要重新定义SI秒？</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Motivation: 从微波标准走向光学标准</a:t>
            </a:r>
          </a:p>
        </p:txBody>
      </p:sp>
      <p:sp>
        <p:nvSpPr>
          <p:cNvPr id="6" name="Rectangle 5"/>
          <p:cNvSpPr/>
          <p:nvPr/>
        </p:nvSpPr>
        <p:spPr>
          <a:xfrm>
            <a:off x="457200" y="1828800"/>
            <a:ext cx="5303520" cy="43891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53035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03120"/>
            <a:ext cx="4846320" cy="3931920"/>
          </a:xfrm>
          <a:prstGeom prst="rect">
            <a:avLst/>
          </a:prstGeom>
          <a:noFill/>
        </p:spPr>
        <p:txBody>
          <a:bodyPr wrap="square">
            <a:spAutoFit/>
          </a:bodyPr>
          <a:lstStyle/>
          <a:p>
            <a:pPr algn="l">
              <a:lnSpc>
                <a:spcPts val="2860"/>
              </a:lnSpc>
              <a:spcAft>
                <a:spcPts val="400"/>
              </a:spcAft>
              <a:defRPr sz="2200" b="1">
                <a:solidFill>
                  <a:srgbClr val="FCCC00"/>
                </a:solidFill>
                <a:latin typeface="Microsoft YaHei"/>
              </a:defRPr>
            </a:pPr>
            <a:r>
              <a:t>当前SI秒定义（1967年至今）</a:t>
            </a:r>
          </a:p>
          <a:p>
            <a:pPr algn="l">
              <a:lnSpc>
                <a:spcPts val="780"/>
              </a:lnSpc>
              <a:spcAft>
                <a:spcPts val="400"/>
              </a:spcAft>
              <a:defRPr sz="600" b="0">
                <a:solidFill>
                  <a:srgbClr val="FFFFFF"/>
                </a:solidFill>
                <a:latin typeface="Microsoft YaHei"/>
              </a:defRPr>
            </a:pPr>
          </a:p>
          <a:p>
            <a:pPr algn="l">
              <a:lnSpc>
                <a:spcPts val="2210"/>
              </a:lnSpc>
              <a:spcAft>
                <a:spcPts val="400"/>
              </a:spcAft>
              <a:defRPr sz="1700" b="0">
                <a:solidFill>
                  <a:srgbClr val="C8D2DC"/>
                </a:solidFill>
                <a:latin typeface="Microsoft YaHei"/>
              </a:defRPr>
            </a:pPr>
            <a:r>
              <a:t>• 基于¹³³Cs原子基态超精细跃迁：Δν_Cs = 9,192,631,770 Hz</a:t>
            </a:r>
          </a:p>
          <a:p>
            <a:pPr algn="l">
              <a:lnSpc>
                <a:spcPts val="2210"/>
              </a:lnSpc>
              <a:spcAft>
                <a:spcPts val="400"/>
              </a:spcAft>
              <a:defRPr sz="1700" b="0">
                <a:solidFill>
                  <a:srgbClr val="C8D2DC"/>
                </a:solidFill>
                <a:latin typeface="Microsoft YaHei"/>
              </a:defRPr>
            </a:pPr>
            <a:r>
              <a:t>• 最佳Cs喷泉钟不确定度：~ 2×10⁻¹⁶（FO2-Cs, 2012）</a:t>
            </a:r>
          </a:p>
          <a:p>
            <a:pPr algn="l">
              <a:lnSpc>
                <a:spcPts val="2210"/>
              </a:lnSpc>
              <a:spcAft>
                <a:spcPts val="400"/>
              </a:spcAft>
              <a:defRPr sz="1700" b="0">
                <a:solidFill>
                  <a:srgbClr val="C8D2DC"/>
                </a:solidFill>
                <a:latin typeface="Microsoft YaHei"/>
              </a:defRPr>
            </a:pPr>
            <a:r>
              <a:t>• Cs喷泉钟已达到量子投影噪声极限</a:t>
            </a:r>
          </a:p>
          <a:p>
            <a:pPr algn="l">
              <a:lnSpc>
                <a:spcPts val="780"/>
              </a:lnSpc>
              <a:spcAft>
                <a:spcPts val="400"/>
              </a:spcAft>
              <a:defRPr sz="600" b="0">
                <a:solidFill>
                  <a:srgbClr val="FFFFFF"/>
                </a:solidFill>
                <a:latin typeface="Microsoft YaHei"/>
              </a:defRPr>
            </a:pPr>
          </a:p>
          <a:p>
            <a:pPr algn="l">
              <a:lnSpc>
                <a:spcPts val="2600"/>
              </a:lnSpc>
              <a:spcAft>
                <a:spcPts val="400"/>
              </a:spcAft>
              <a:defRPr sz="2000" b="1">
                <a:solidFill>
                  <a:srgbClr val="14B8A6"/>
                </a:solidFill>
                <a:latin typeface="Microsoft YaHei"/>
              </a:defRPr>
            </a:pPr>
            <a:r>
              <a:t>光学原子钟的飞跃进展：</a:t>
            </a:r>
          </a:p>
          <a:p>
            <a:pPr algn="l">
              <a:lnSpc>
                <a:spcPts val="780"/>
              </a:lnSpc>
              <a:spcAft>
                <a:spcPts val="400"/>
              </a:spcAft>
              <a:defRPr sz="600" b="0">
                <a:solidFill>
                  <a:srgbClr val="FFFFFF"/>
                </a:solidFill>
                <a:latin typeface="Microsoft YaHei"/>
              </a:defRPr>
            </a:pPr>
          </a:p>
          <a:p>
            <a:pPr algn="l">
              <a:lnSpc>
                <a:spcPts val="2210"/>
              </a:lnSpc>
              <a:spcAft>
                <a:spcPts val="400"/>
              </a:spcAft>
              <a:defRPr sz="1700" b="0">
                <a:solidFill>
                  <a:srgbClr val="C8D2DC"/>
                </a:solidFill>
                <a:latin typeface="Microsoft YaHei"/>
              </a:defRPr>
            </a:pPr>
            <a:r>
              <a:t>• 最佳光钟系统不确定度：8×10⁻¹⁹（2024, JILA Sr）</a:t>
            </a:r>
          </a:p>
          <a:p>
            <a:pPr algn="l">
              <a:lnSpc>
                <a:spcPts val="2210"/>
              </a:lnSpc>
              <a:spcAft>
                <a:spcPts val="400"/>
              </a:spcAft>
              <a:defRPr sz="1700" b="0">
                <a:solidFill>
                  <a:srgbClr val="C8D2DC"/>
                </a:solidFill>
                <a:latin typeface="Microsoft YaHei"/>
              </a:defRPr>
            </a:pPr>
            <a:r>
              <a:t>• 光钟稳定度比Cs喷泉钟高 100倍以上</a:t>
            </a:r>
          </a:p>
          <a:p>
            <a:pPr algn="l">
              <a:lnSpc>
                <a:spcPts val="2210"/>
              </a:lnSpc>
              <a:spcAft>
                <a:spcPts val="400"/>
              </a:spcAft>
              <a:defRPr sz="1700" b="0">
                <a:solidFill>
                  <a:srgbClr val="C8D2DC"/>
                </a:solidFill>
                <a:latin typeface="Microsoft YaHei"/>
              </a:defRPr>
            </a:pPr>
            <a:r>
              <a:t>• 频率比测量不确定度已达 ≤3.2×10⁻¹⁸（2025, BACON）</a:t>
            </a:r>
          </a:p>
        </p:txBody>
      </p:sp>
      <p:sp>
        <p:nvSpPr>
          <p:cNvPr id="9" name="Rectangle 8"/>
          <p:cNvSpPr/>
          <p:nvPr/>
        </p:nvSpPr>
        <p:spPr>
          <a:xfrm>
            <a:off x="6217920" y="1828800"/>
            <a:ext cx="5486400" cy="43891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28800"/>
            <a:ext cx="548640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03120"/>
            <a:ext cx="5029200" cy="3931920"/>
          </a:xfrm>
          <a:prstGeom prst="rect">
            <a:avLst/>
          </a:prstGeom>
          <a:noFill/>
        </p:spPr>
        <p:txBody>
          <a:bodyPr wrap="square">
            <a:spAutoFit/>
          </a:bodyPr>
          <a:lstStyle/>
          <a:p>
            <a:pPr algn="l">
              <a:lnSpc>
                <a:spcPts val="2860"/>
              </a:lnSpc>
              <a:spcAft>
                <a:spcPts val="400"/>
              </a:spcAft>
              <a:defRPr sz="2200" b="1">
                <a:solidFill>
                  <a:srgbClr val="14B8A6"/>
                </a:solidFill>
                <a:latin typeface="Microsoft YaHei"/>
              </a:defRPr>
            </a:pPr>
            <a:r>
              <a:t>重定义的意义</a:t>
            </a:r>
          </a:p>
          <a:p>
            <a:pPr algn="l">
              <a:lnSpc>
                <a:spcPts val="780"/>
              </a:lnSpc>
              <a:spcAft>
                <a:spcPts val="400"/>
              </a:spcAft>
              <a:defRPr sz="600" b="0">
                <a:solidFill>
                  <a:srgbClr val="FFFFFF"/>
                </a:solidFill>
                <a:latin typeface="Microsoft YaHei"/>
              </a:defRPr>
            </a:pPr>
          </a:p>
          <a:p>
            <a:pPr algn="l">
              <a:lnSpc>
                <a:spcPts val="2080"/>
              </a:lnSpc>
              <a:spcAft>
                <a:spcPts val="400"/>
              </a:spcAft>
              <a:defRPr sz="1600" b="0">
                <a:solidFill>
                  <a:srgbClr val="C8D2DC"/>
                </a:solidFill>
                <a:latin typeface="Microsoft YaHei"/>
              </a:defRPr>
            </a:pPr>
            <a:r>
              <a:t>🔬 精密测量物理：约束基本常数随时间变化</a:t>
            </a:r>
          </a:p>
          <a:p>
            <a:pPr algn="l">
              <a:lnSpc>
                <a:spcPts val="2080"/>
              </a:lnSpc>
              <a:spcAft>
                <a:spcPts val="400"/>
              </a:spcAft>
              <a:defRPr sz="1600" b="0">
                <a:solidFill>
                  <a:srgbClr val="94A3B8"/>
                </a:solidFill>
                <a:latin typeface="Microsoft YaHei"/>
              </a:defRPr>
            </a:pPr>
            <a:r>
              <a:t>   搜索暗物质、检验爱因斯坦等效原理</a:t>
            </a:r>
          </a:p>
          <a:p>
            <a:pPr algn="l">
              <a:lnSpc>
                <a:spcPts val="520"/>
              </a:lnSpc>
              <a:spcAft>
                <a:spcPts val="400"/>
              </a:spcAft>
              <a:defRPr sz="400" b="0">
                <a:solidFill>
                  <a:srgbClr val="FFFFFF"/>
                </a:solidFill>
                <a:latin typeface="Microsoft YaHei"/>
              </a:defRPr>
            </a:pPr>
          </a:p>
          <a:p>
            <a:pPr algn="l">
              <a:lnSpc>
                <a:spcPts val="2080"/>
              </a:lnSpc>
              <a:spcAft>
                <a:spcPts val="400"/>
              </a:spcAft>
              <a:defRPr sz="1600" b="0">
                <a:solidFill>
                  <a:srgbClr val="C8D2DC"/>
                </a:solidFill>
                <a:latin typeface="Microsoft YaHei"/>
              </a:defRPr>
            </a:pPr>
            <a:r>
              <a:t>🌍 大地测量学：1 cm 高程差 → Δf/f ≈ 10⁻¹⁸</a:t>
            </a:r>
          </a:p>
          <a:p>
            <a:pPr algn="l">
              <a:lnSpc>
                <a:spcPts val="2080"/>
              </a:lnSpc>
              <a:spcAft>
                <a:spcPts val="400"/>
              </a:spcAft>
              <a:defRPr sz="1600" b="0">
                <a:solidFill>
                  <a:srgbClr val="94A3B8"/>
                </a:solidFill>
                <a:latin typeface="Microsoft YaHei"/>
              </a:defRPr>
            </a:pPr>
            <a:r>
              <a:t>   光钟网络可实现厘米级全球高程基准统一</a:t>
            </a:r>
          </a:p>
          <a:p>
            <a:pPr algn="l">
              <a:lnSpc>
                <a:spcPts val="520"/>
              </a:lnSpc>
              <a:spcAft>
                <a:spcPts val="400"/>
              </a:spcAft>
              <a:defRPr sz="400" b="0">
                <a:solidFill>
                  <a:srgbClr val="FFFFFF"/>
                </a:solidFill>
                <a:latin typeface="Microsoft YaHei"/>
              </a:defRPr>
            </a:pPr>
          </a:p>
          <a:p>
            <a:pPr algn="l">
              <a:lnSpc>
                <a:spcPts val="2080"/>
              </a:lnSpc>
              <a:spcAft>
                <a:spcPts val="400"/>
              </a:spcAft>
              <a:defRPr sz="1600" b="0">
                <a:solidFill>
                  <a:srgbClr val="C8D2DC"/>
                </a:solidFill>
                <a:latin typeface="Microsoft YaHei"/>
              </a:defRPr>
            </a:pPr>
            <a:r>
              <a:t>🛰️ 深空导航：更精确的时频标准提升深空</a:t>
            </a:r>
          </a:p>
          <a:p>
            <a:pPr algn="l">
              <a:lnSpc>
                <a:spcPts val="2080"/>
              </a:lnSpc>
              <a:spcAft>
                <a:spcPts val="400"/>
              </a:spcAft>
              <a:defRPr sz="1600" b="0">
                <a:solidFill>
                  <a:srgbClr val="94A3B8"/>
                </a:solidFill>
                <a:latin typeface="Microsoft YaHei"/>
              </a:defRPr>
            </a:pPr>
            <a:r>
              <a:t>   探测器的自主导航能力</a:t>
            </a:r>
          </a:p>
          <a:p>
            <a:pPr algn="l">
              <a:lnSpc>
                <a:spcPts val="520"/>
              </a:lnSpc>
              <a:spcAft>
                <a:spcPts val="400"/>
              </a:spcAft>
              <a:defRPr sz="400" b="0">
                <a:solidFill>
                  <a:srgbClr val="FFFFFF"/>
                </a:solidFill>
                <a:latin typeface="Microsoft YaHei"/>
              </a:defRPr>
            </a:pPr>
          </a:p>
          <a:p>
            <a:pPr algn="l">
              <a:lnSpc>
                <a:spcPts val="2080"/>
              </a:lnSpc>
              <a:spcAft>
                <a:spcPts val="400"/>
              </a:spcAft>
              <a:defRPr sz="1600" b="0">
                <a:solidFill>
                  <a:srgbClr val="C8D2DC"/>
                </a:solidFill>
                <a:latin typeface="Microsoft YaHei"/>
              </a:defRPr>
            </a:pPr>
            <a:r>
              <a:t>⏱️ 计量学基础：秒是SI七个基本单位中精度</a:t>
            </a:r>
          </a:p>
          <a:p>
            <a:pPr algn="l">
              <a:lnSpc>
                <a:spcPts val="2080"/>
              </a:lnSpc>
              <a:spcAft>
                <a:spcPts val="400"/>
              </a:spcAft>
              <a:defRPr sz="1600" b="0">
                <a:solidFill>
                  <a:srgbClr val="94A3B8"/>
                </a:solidFill>
                <a:latin typeface="Microsoft YaHei"/>
              </a:defRPr>
            </a:pPr>
            <a:r>
              <a:t>   最高的，其改进带动其他单位的提升</a:t>
            </a:r>
          </a:p>
        </p:txBody>
      </p:sp>
      <p:sp>
        <p:nvSpPr>
          <p:cNvPr id="12" name="TextBox 11"/>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当前定义 vs 未来定义</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Cs微波跃迁 → 光学跃迁</a:t>
            </a:r>
          </a:p>
        </p:txBody>
      </p:sp>
      <p:graphicFrame>
        <p:nvGraphicFramePr>
          <p:cNvPr id="6" name="Table 5"/>
          <p:cNvGraphicFramePr>
            <a:graphicFrameLocks noGrp="1"/>
          </p:cNvGraphicFramePr>
          <p:nvPr/>
        </p:nvGraphicFramePr>
        <p:xfrm>
          <a:off x="731520" y="1828800"/>
          <a:ext cx="10789920" cy="1920240"/>
        </p:xfrm>
        <a:graphic>
          <a:graphicData uri="http://schemas.openxmlformats.org/drawingml/2006/table">
            <a:tbl>
              <a:tblPr firstRow="1" bandRow="1">
                <a:tableStyleId>{5C22544A-7EE6-4342-B048-85BDC9FD1C3A}</a:tableStyleId>
              </a:tblPr>
              <a:tblGrid>
                <a:gridCol w="2560320"/>
                <a:gridCol w="4114800"/>
                <a:gridCol w="4114800"/>
              </a:tblGrid>
              <a:tr h="320040">
                <a:tc>
                  <a:txBody>
                    <a:bodyPr/>
                    <a:lstStyle/>
                    <a:p>
                      <a:pPr algn="ctr">
                        <a:defRPr sz="1300" b="1">
                          <a:solidFill>
                            <a:srgbClr val="FFFFFF"/>
                          </a:solidFill>
                          <a:latin typeface="Calibri"/>
                        </a:defRPr>
                      </a:pPr>
                    </a:p>
                  </a:txBody>
                  <a:tcPr>
                    <a:solidFill>
                      <a:srgbClr val="122E52"/>
                    </a:solidFill>
                  </a:tcPr>
                </a:tc>
                <a:tc>
                  <a:txBody>
                    <a:bodyPr/>
                    <a:lstStyle/>
                    <a:p>
                      <a:pPr algn="ctr">
                        <a:defRPr sz="1300" b="1">
                          <a:solidFill>
                            <a:srgbClr val="FFFFFF"/>
                          </a:solidFill>
                          <a:latin typeface="Calibri"/>
                        </a:defRPr>
                      </a:pPr>
                      <a:r>
                        <a:t>当前SI秒（Cs喷泉钟）</a:t>
                      </a:r>
                    </a:p>
                  </a:txBody>
                  <a:tcPr>
                    <a:solidFill>
                      <a:srgbClr val="122E52"/>
                    </a:solidFill>
                  </a:tcPr>
                </a:tc>
                <a:tc>
                  <a:txBody>
                    <a:bodyPr/>
                    <a:lstStyle/>
                    <a:p>
                      <a:pPr algn="ctr">
                        <a:defRPr sz="1300" b="1">
                          <a:solidFill>
                            <a:srgbClr val="FFFFFF"/>
                          </a:solidFill>
                          <a:latin typeface="Calibri"/>
                        </a:defRPr>
                      </a:pPr>
                      <a:r>
                        <a:t>光学频率标准（未来重定义候选）</a:t>
                      </a:r>
                    </a:p>
                  </a:txBody>
                  <a:tcPr>
                    <a:solidFill>
                      <a:srgbClr val="122E52"/>
                    </a:solidFill>
                  </a:tcPr>
                </a:tc>
              </a:tr>
              <a:tr h="320040">
                <a:tc>
                  <a:txBody>
                    <a:bodyPr/>
                    <a:lstStyle/>
                    <a:p>
                      <a:pPr algn="ctr">
                        <a:defRPr sz="1100">
                          <a:solidFill>
                            <a:srgbClr val="C8D2DC"/>
                          </a:solidFill>
                          <a:latin typeface="Calibri"/>
                        </a:defRPr>
                      </a:pPr>
                      <a:r>
                        <a:t>定义常数</a:t>
                      </a:r>
                    </a:p>
                  </a:txBody>
                  <a:tcPr>
                    <a:solidFill>
                      <a:srgbClr val="0F2748"/>
                    </a:solidFill>
                  </a:tcPr>
                </a:tc>
                <a:tc>
                  <a:txBody>
                    <a:bodyPr/>
                    <a:lstStyle/>
                    <a:p>
                      <a:pPr algn="ctr">
                        <a:defRPr sz="1100">
                          <a:solidFill>
                            <a:srgbClr val="C8D2DC"/>
                          </a:solidFill>
                          <a:latin typeface="Calibri"/>
                        </a:defRPr>
                      </a:pPr>
                      <a:r>
                        <a:t>Δν_Cs = 9,192,631,770 Hz</a:t>
                      </a:r>
                    </a:p>
                    <a:p>
                      <a:pPr algn="ctr">
                        <a:defRPr sz="1100">
                          <a:solidFill>
                            <a:srgbClr val="C8D2DC"/>
                          </a:solidFill>
                          <a:latin typeface="Calibri"/>
                        </a:defRPr>
                      </a:pPr>
                      <a:r>
                        <a:t>（微波，~9.2 GHz）</a:t>
                      </a:r>
                    </a:p>
                  </a:txBody>
                  <a:tcPr>
                    <a:solidFill>
                      <a:srgbClr val="0F2748"/>
                    </a:solidFill>
                  </a:tcPr>
                </a:tc>
                <a:tc>
                  <a:txBody>
                    <a:bodyPr/>
                    <a:lstStyle/>
                    <a:p>
                      <a:pPr algn="ctr">
                        <a:defRPr sz="1100">
                          <a:solidFill>
                            <a:srgbClr val="C8D2DC"/>
                          </a:solidFill>
                          <a:latin typeface="Calibri"/>
                        </a:defRPr>
                      </a:pPr>
                      <a:r>
                        <a:t>未确定（光学频率，~10¹⁴–10¹⁵ Hz）</a:t>
                      </a:r>
                    </a:p>
                    <a:p>
                      <a:pPr algn="ctr">
                        <a:defRPr sz="1100">
                          <a:solidFill>
                            <a:srgbClr val="C8D2DC"/>
                          </a:solidFill>
                          <a:latin typeface="Calibri"/>
                        </a:defRPr>
                      </a:pPr>
                      <a:r>
                        <a:t>方案1: 选单一光学跃迁</a:t>
                      </a:r>
                    </a:p>
                    <a:p>
                      <a:pPr algn="ctr">
                        <a:defRPr sz="1100">
                          <a:solidFill>
                            <a:srgbClr val="C8D2DC"/>
                          </a:solidFill>
                          <a:latin typeface="Calibri"/>
                        </a:defRPr>
                      </a:pPr>
                      <a:r>
                        <a:t>方案2: 多跃迁加权几何平均</a:t>
                      </a:r>
                    </a:p>
                  </a:txBody>
                  <a:tcPr>
                    <a:solidFill>
                      <a:srgbClr val="0F2748"/>
                    </a:solidFill>
                  </a:tcPr>
                </a:tc>
              </a:tr>
              <a:tr h="320040">
                <a:tc>
                  <a:txBody>
                    <a:bodyPr/>
                    <a:lstStyle/>
                    <a:p>
                      <a:pPr algn="ctr">
                        <a:defRPr sz="1100">
                          <a:solidFill>
                            <a:srgbClr val="C8D2DC"/>
                          </a:solidFill>
                          <a:latin typeface="Calibri"/>
                        </a:defRPr>
                      </a:pPr>
                      <a:r>
                        <a:t>最佳系统不确定度</a:t>
                      </a:r>
                    </a:p>
                  </a:txBody>
                  <a:tcPr>
                    <a:solidFill>
                      <a:srgbClr val="0B1D3A"/>
                    </a:solidFill>
                  </a:tcPr>
                </a:tc>
                <a:tc>
                  <a:txBody>
                    <a:bodyPr/>
                    <a:lstStyle/>
                    <a:p>
                      <a:pPr algn="ctr">
                        <a:defRPr sz="1100">
                          <a:solidFill>
                            <a:srgbClr val="C8D2DC"/>
                          </a:solidFill>
                          <a:latin typeface="Calibri"/>
                        </a:defRPr>
                      </a:pPr>
                      <a:r>
                        <a:t>~2×10⁻¹⁶ (FO2-Cs)</a:t>
                      </a:r>
                    </a:p>
                    <a:p>
                      <a:pPr algn="ctr">
                        <a:defRPr sz="1100">
                          <a:solidFill>
                            <a:srgbClr val="C8D2DC"/>
                          </a:solidFill>
                          <a:latin typeface="Calibri"/>
                        </a:defRPr>
                      </a:pPr>
                      <a:r>
                        <a:t>NIST-F1: ~3×10⁻¹⁶</a:t>
                      </a:r>
                    </a:p>
                  </a:txBody>
                  <a:tcPr>
                    <a:solidFill>
                      <a:srgbClr val="0B1D3A"/>
                    </a:solidFill>
                  </a:tcPr>
                </a:tc>
                <a:tc>
                  <a:txBody>
                    <a:bodyPr/>
                    <a:lstStyle/>
                    <a:p>
                      <a:pPr algn="ctr">
                        <a:defRPr sz="1100">
                          <a:solidFill>
                            <a:srgbClr val="C8D2DC"/>
                          </a:solidFill>
                          <a:latin typeface="Calibri"/>
                        </a:defRPr>
                      </a:pPr>
                      <a:r>
                        <a:t>8×10⁻¹⁹ (JILA Sr, 2024)</a:t>
                      </a:r>
                    </a:p>
                    <a:p>
                      <a:pPr algn="ctr">
                        <a:defRPr sz="1100">
                          <a:solidFill>
                            <a:srgbClr val="C8D2DC"/>
                          </a:solidFill>
                          <a:latin typeface="Calibri"/>
                        </a:defRPr>
                      </a:pPr>
                      <a:r>
                        <a:t>5.5×10⁻¹⁹ (NIST Al⁺)</a:t>
                      </a:r>
                    </a:p>
                    <a:p>
                      <a:pPr algn="ctr">
                        <a:defRPr sz="1100">
                          <a:solidFill>
                            <a:srgbClr val="C8D2DC"/>
                          </a:solidFill>
                          <a:latin typeface="Calibri"/>
                        </a:defRPr>
                      </a:pPr>
                      <a:r>
                        <a:t>整体已达 &lt;10⁻¹⁸ 水平</a:t>
                      </a:r>
                    </a:p>
                  </a:txBody>
                  <a:tcPr>
                    <a:solidFill>
                      <a:srgbClr val="0B1D3A"/>
                    </a:solidFill>
                  </a:tcPr>
                </a:tc>
              </a:tr>
              <a:tr h="320040">
                <a:tc>
                  <a:txBody>
                    <a:bodyPr/>
                    <a:lstStyle/>
                    <a:p>
                      <a:pPr algn="ctr">
                        <a:defRPr sz="1100">
                          <a:solidFill>
                            <a:srgbClr val="C8D2DC"/>
                          </a:solidFill>
                          <a:latin typeface="Calibri"/>
                        </a:defRPr>
                      </a:pPr>
                      <a:r>
                        <a:t>短期稳定度 σ_y(1s)</a:t>
                      </a:r>
                    </a:p>
                  </a:txBody>
                  <a:tcPr>
                    <a:solidFill>
                      <a:srgbClr val="0F2748"/>
                    </a:solidFill>
                  </a:tcPr>
                </a:tc>
                <a:tc>
                  <a:txBody>
                    <a:bodyPr/>
                    <a:lstStyle/>
                    <a:p>
                      <a:pPr algn="ctr">
                        <a:defRPr sz="1100">
                          <a:solidFill>
                            <a:srgbClr val="C8D2DC"/>
                          </a:solidFill>
                          <a:latin typeface="Calibri"/>
                        </a:defRPr>
                      </a:pPr>
                      <a:r>
                        <a:t>~1.6×10⁻¹⁴ /√τ</a:t>
                      </a:r>
                    </a:p>
                  </a:txBody>
                  <a:tcPr>
                    <a:solidFill>
                      <a:srgbClr val="0F2748"/>
                    </a:solidFill>
                  </a:tcPr>
                </a:tc>
                <a:tc>
                  <a:txBody>
                    <a:bodyPr/>
                    <a:lstStyle/>
                    <a:p>
                      <a:pPr algn="ctr">
                        <a:defRPr sz="1100">
                          <a:solidFill>
                            <a:srgbClr val="C8D2DC"/>
                          </a:solidFill>
                          <a:latin typeface="Calibri"/>
                        </a:defRPr>
                      </a:pPr>
                      <a:r>
                        <a:t>~5×10⁻¹⁷ /√τ</a:t>
                      </a:r>
                    </a:p>
                    <a:p>
                      <a:pPr algn="ctr">
                        <a:defRPr sz="1100">
                          <a:solidFill>
                            <a:srgbClr val="C8D2DC"/>
                          </a:solidFill>
                          <a:latin typeface="Calibri"/>
                        </a:defRPr>
                      </a:pPr>
                      <a:r>
                        <a:t>（优于Cs喷泉钟300倍）</a:t>
                      </a:r>
                    </a:p>
                  </a:txBody>
                  <a:tcPr>
                    <a:solidFill>
                      <a:srgbClr val="0F2748"/>
                    </a:solidFill>
                  </a:tcPr>
                </a:tc>
              </a:tr>
              <a:tr h="320040">
                <a:tc>
                  <a:txBody>
                    <a:bodyPr/>
                    <a:lstStyle/>
                    <a:p>
                      <a:pPr algn="ctr">
                        <a:defRPr sz="1100">
                          <a:solidFill>
                            <a:srgbClr val="C8D2DC"/>
                          </a:solidFill>
                          <a:latin typeface="Calibri"/>
                        </a:defRPr>
                      </a:pPr>
                      <a:r>
                        <a:t>主要跃迁类型</a:t>
                      </a:r>
                    </a:p>
                  </a:txBody>
                  <a:tcPr>
                    <a:solidFill>
                      <a:srgbClr val="0B1D3A"/>
                    </a:solidFill>
                  </a:tcPr>
                </a:tc>
                <a:tc>
                  <a:txBody>
                    <a:bodyPr/>
                    <a:lstStyle/>
                    <a:p>
                      <a:pPr algn="ctr">
                        <a:defRPr sz="1100">
                          <a:solidFill>
                            <a:srgbClr val="C8D2DC"/>
                          </a:solidFill>
                          <a:latin typeface="Calibri"/>
                        </a:defRPr>
                      </a:pPr>
                      <a:r>
                        <a:t>超精细跃迁</a:t>
                      </a:r>
                    </a:p>
                    <a:p>
                      <a:pPr algn="ctr">
                        <a:defRPr sz="1100">
                          <a:solidFill>
                            <a:srgbClr val="C8D2DC"/>
                          </a:solidFill>
                          <a:latin typeface="Calibri"/>
                        </a:defRPr>
                      </a:pPr>
                      <a:r>
                        <a:t>（对基本常数灵敏度受限）</a:t>
                      </a:r>
                    </a:p>
                  </a:txBody>
                  <a:tcPr>
                    <a:solidFill>
                      <a:srgbClr val="0B1D3A"/>
                    </a:solidFill>
                  </a:tcPr>
                </a:tc>
                <a:tc>
                  <a:txBody>
                    <a:bodyPr/>
                    <a:lstStyle/>
                    <a:p>
                      <a:pPr algn="ctr">
                        <a:defRPr sz="1100">
                          <a:solidFill>
                            <a:srgbClr val="C8D2DC"/>
                          </a:solidFill>
                          <a:latin typeface="Calibri"/>
                        </a:defRPr>
                      </a:pPr>
                      <a:r>
                        <a:t>光学电子跃迁 / 核跃迁</a:t>
                      </a:r>
                    </a:p>
                    <a:p>
                      <a:pPr algn="ctr">
                        <a:defRPr sz="1100">
                          <a:solidFill>
                            <a:srgbClr val="C8D2DC"/>
                          </a:solidFill>
                          <a:latin typeface="Calibri"/>
                        </a:defRPr>
                      </a:pPr>
                      <a:r>
                        <a:t>（可检验基本常数变化）</a:t>
                      </a:r>
                    </a:p>
                  </a:txBody>
                  <a:tcPr>
                    <a:solidFill>
                      <a:srgbClr val="0B1D3A"/>
                    </a:solidFill>
                  </a:tcPr>
                </a:tc>
              </a:tr>
              <a:tr h="320040">
                <a:tc>
                  <a:txBody>
                    <a:bodyPr/>
                    <a:lstStyle/>
                    <a:p>
                      <a:pPr algn="ctr">
                        <a:defRPr sz="1100">
                          <a:solidFill>
                            <a:srgbClr val="C8D2DC"/>
                          </a:solidFill>
                          <a:latin typeface="Calibri"/>
                        </a:defRPr>
                      </a:pPr>
                      <a:r>
                        <a:t>技术成熟度</a:t>
                      </a:r>
                    </a:p>
                  </a:txBody>
                  <a:tcPr>
                    <a:solidFill>
                      <a:srgbClr val="0F2748"/>
                    </a:solidFill>
                  </a:tcPr>
                </a:tc>
                <a:tc>
                  <a:txBody>
                    <a:bodyPr/>
                    <a:lstStyle/>
                    <a:p>
                      <a:pPr algn="ctr">
                        <a:defRPr sz="1100">
                          <a:solidFill>
                            <a:srgbClr val="C8D2DC"/>
                          </a:solidFill>
                          <a:latin typeface="Calibri"/>
                        </a:defRPr>
                      </a:pPr>
                      <a:r>
                        <a:t>TRL 9 — 成熟运行</a:t>
                      </a:r>
                    </a:p>
                  </a:txBody>
                  <a:tcPr>
                    <a:solidFill>
                      <a:srgbClr val="0F2748"/>
                    </a:solidFill>
                  </a:tcPr>
                </a:tc>
                <a:tc>
                  <a:txBody>
                    <a:bodyPr/>
                    <a:lstStyle/>
                    <a:p>
                      <a:pPr algn="ctr">
                        <a:defRPr sz="1100">
                          <a:solidFill>
                            <a:srgbClr val="C8D2DC"/>
                          </a:solidFill>
                          <a:latin typeface="Calibri"/>
                        </a:defRPr>
                      </a:pPr>
                      <a:r>
                        <a:t>TRL 4-6 — 发展中</a:t>
                      </a:r>
                    </a:p>
                    <a:p>
                      <a:pPr algn="ctr">
                        <a:defRPr sz="1100">
                          <a:solidFill>
                            <a:srgbClr val="C8D2DC"/>
                          </a:solidFill>
                          <a:latin typeface="Calibri"/>
                        </a:defRPr>
                      </a:pPr>
                      <a:r>
                        <a:t>（可搬运系统已演示）</a:t>
                      </a:r>
                    </a:p>
                  </a:txBody>
                  <a:tcPr>
                    <a:solidFill>
                      <a:srgbClr val="0F2748"/>
                    </a:solidFill>
                  </a:tcPr>
                </a:tc>
              </a:tr>
            </a:tbl>
          </a:graphicData>
        </a:graphic>
      </p:graphicFrame>
      <p:sp>
        <p:nvSpPr>
          <p:cNvPr id="7" name="TextBox 6"/>
          <p:cNvSpPr txBox="1"/>
          <p:nvPr/>
        </p:nvSpPr>
        <p:spPr>
          <a:xfrm>
            <a:off x="731520" y="6217920"/>
            <a:ext cx="10058400" cy="365760"/>
          </a:xfrm>
          <a:prstGeom prst="rect">
            <a:avLst/>
          </a:prstGeom>
          <a:noFill/>
        </p:spPr>
        <p:txBody>
          <a:bodyPr wrap="square">
            <a:spAutoFit/>
          </a:bodyPr>
          <a:lstStyle/>
          <a:p>
            <a:pPr algn="l">
              <a:defRPr sz="1100" b="0">
                <a:solidFill>
                  <a:srgbClr val="94A3B8"/>
                </a:solidFill>
                <a:latin typeface="Calibri"/>
              </a:defRPr>
            </a:pPr>
            <a:r>
              <a:t>来源：Dimarcq et al., Metrologia (2024) — Roadmap towards the redefinition of the second; Aeppli et al. (2024)</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CCTF / CGPM 路线图</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从2020到2030：通向秒重定义的十年</a:t>
            </a:r>
          </a:p>
        </p:txBody>
      </p:sp>
      <p:sp>
        <p:nvSpPr>
          <p:cNvPr id="6" name="Rectangle 5"/>
          <p:cNvSpPr/>
          <p:nvPr/>
        </p:nvSpPr>
        <p:spPr>
          <a:xfrm>
            <a:off x="457200" y="2011680"/>
            <a:ext cx="1508760" cy="822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48840"/>
            <a:ext cx="1508760" cy="548640"/>
          </a:xfrm>
          <a:prstGeom prst="rect">
            <a:avLst/>
          </a:prstGeom>
          <a:noFill/>
        </p:spPr>
        <p:txBody>
          <a:bodyPr wrap="square">
            <a:spAutoFit/>
          </a:bodyPr>
          <a:lstStyle/>
          <a:p>
            <a:pPr algn="ctr">
              <a:defRPr sz="2800" b="1">
                <a:solidFill>
                  <a:srgbClr val="FFFFFF"/>
                </a:solidFill>
                <a:latin typeface="Calibri Light"/>
              </a:defRPr>
            </a:pPr>
            <a:r>
              <a:t>2016</a:t>
            </a:r>
          </a:p>
        </p:txBody>
      </p:sp>
      <p:sp>
        <p:nvSpPr>
          <p:cNvPr id="8" name="Rectangle 7"/>
          <p:cNvSpPr/>
          <p:nvPr/>
        </p:nvSpPr>
        <p:spPr>
          <a:xfrm>
            <a:off x="457200" y="2834640"/>
            <a:ext cx="150876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971800"/>
            <a:ext cx="1325880" cy="1828800"/>
          </a:xfrm>
          <a:prstGeom prst="rect">
            <a:avLst/>
          </a:prstGeom>
          <a:noFill/>
        </p:spPr>
        <p:txBody>
          <a:bodyPr wrap="square">
            <a:spAutoFit/>
          </a:bodyPr>
          <a:lstStyle/>
          <a:p>
            <a:pPr algn="ctr">
              <a:defRPr sz="1300" b="0">
                <a:solidFill>
                  <a:srgbClr val="C8D2DC"/>
                </a:solidFill>
                <a:latin typeface="Calibri"/>
              </a:defRPr>
            </a:pPr>
            <a:r>
              <a:t>CCTF制定</a:t>
            </a:r>
            <a:br/>
            <a:r>
              <a:t>第一版路线图</a:t>
            </a:r>
          </a:p>
        </p:txBody>
      </p:sp>
      <p:sp>
        <p:nvSpPr>
          <p:cNvPr id="10" name="Rectangle 9"/>
          <p:cNvSpPr/>
          <p:nvPr/>
        </p:nvSpPr>
        <p:spPr>
          <a:xfrm>
            <a:off x="2121408" y="2011680"/>
            <a:ext cx="1508760" cy="822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21408" y="2148840"/>
            <a:ext cx="1508760" cy="548640"/>
          </a:xfrm>
          <a:prstGeom prst="rect">
            <a:avLst/>
          </a:prstGeom>
          <a:noFill/>
        </p:spPr>
        <p:txBody>
          <a:bodyPr wrap="square">
            <a:spAutoFit/>
          </a:bodyPr>
          <a:lstStyle/>
          <a:p>
            <a:pPr algn="ctr">
              <a:defRPr sz="2800" b="1">
                <a:solidFill>
                  <a:srgbClr val="FFFFFF"/>
                </a:solidFill>
                <a:latin typeface="Calibri Light"/>
              </a:defRPr>
            </a:pPr>
            <a:r>
              <a:t>2020</a:t>
            </a:r>
          </a:p>
        </p:txBody>
      </p:sp>
      <p:sp>
        <p:nvSpPr>
          <p:cNvPr id="12" name="Rectangle 11"/>
          <p:cNvSpPr/>
          <p:nvPr/>
        </p:nvSpPr>
        <p:spPr>
          <a:xfrm>
            <a:off x="2121408" y="2834640"/>
            <a:ext cx="150876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12848" y="2971800"/>
            <a:ext cx="1325880" cy="1828800"/>
          </a:xfrm>
          <a:prstGeom prst="rect">
            <a:avLst/>
          </a:prstGeom>
          <a:noFill/>
        </p:spPr>
        <p:txBody>
          <a:bodyPr wrap="square">
            <a:spAutoFit/>
          </a:bodyPr>
          <a:lstStyle/>
          <a:p>
            <a:pPr algn="ctr">
              <a:defRPr sz="1300" b="0">
                <a:solidFill>
                  <a:srgbClr val="C8D2DC"/>
                </a:solidFill>
                <a:latin typeface="Calibri"/>
              </a:defRPr>
            </a:pPr>
            <a:r>
              <a:t>CCTF工作组</a:t>
            </a:r>
            <a:br/>
            <a:r>
              <a:t>更新路线图</a:t>
            </a:r>
          </a:p>
        </p:txBody>
      </p:sp>
      <p:sp>
        <p:nvSpPr>
          <p:cNvPr id="14" name="Rectangle 13"/>
          <p:cNvSpPr/>
          <p:nvPr/>
        </p:nvSpPr>
        <p:spPr>
          <a:xfrm>
            <a:off x="3785616" y="2011680"/>
            <a:ext cx="1508760" cy="822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85616" y="2148840"/>
            <a:ext cx="1508760" cy="548640"/>
          </a:xfrm>
          <a:prstGeom prst="rect">
            <a:avLst/>
          </a:prstGeom>
          <a:noFill/>
        </p:spPr>
        <p:txBody>
          <a:bodyPr wrap="square">
            <a:spAutoFit/>
          </a:bodyPr>
          <a:lstStyle/>
          <a:p>
            <a:pPr algn="ctr">
              <a:defRPr sz="2800" b="1">
                <a:solidFill>
                  <a:srgbClr val="FFFFFF"/>
                </a:solidFill>
                <a:latin typeface="Calibri Light"/>
              </a:defRPr>
            </a:pPr>
            <a:r>
              <a:t>2022</a:t>
            </a:r>
          </a:p>
        </p:txBody>
      </p:sp>
      <p:sp>
        <p:nvSpPr>
          <p:cNvPr id="16" name="Rectangle 15"/>
          <p:cNvSpPr/>
          <p:nvPr/>
        </p:nvSpPr>
        <p:spPr>
          <a:xfrm>
            <a:off x="3785616" y="2834640"/>
            <a:ext cx="150876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77056" y="2971800"/>
            <a:ext cx="1325880" cy="1828800"/>
          </a:xfrm>
          <a:prstGeom prst="rect">
            <a:avLst/>
          </a:prstGeom>
          <a:noFill/>
        </p:spPr>
        <p:txBody>
          <a:bodyPr wrap="square">
            <a:spAutoFit/>
          </a:bodyPr>
          <a:lstStyle/>
          <a:p>
            <a:pPr algn="ctr">
              <a:defRPr sz="1300" b="0">
                <a:solidFill>
                  <a:srgbClr val="C8D2DC"/>
                </a:solidFill>
                <a:latin typeface="Calibri"/>
              </a:defRPr>
            </a:pPr>
            <a:r>
              <a:t>CCTF发布</a:t>
            </a:r>
            <a:br/>
            <a:r>
              <a:t>强制性判据</a:t>
            </a:r>
            <a:br/>
            <a:r>
              <a:t>（5+5条）</a:t>
            </a:r>
          </a:p>
        </p:txBody>
      </p:sp>
      <p:sp>
        <p:nvSpPr>
          <p:cNvPr id="18" name="Rectangle 17"/>
          <p:cNvSpPr/>
          <p:nvPr/>
        </p:nvSpPr>
        <p:spPr>
          <a:xfrm>
            <a:off x="5449824" y="2011680"/>
            <a:ext cx="1508760" cy="822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9824" y="2148840"/>
            <a:ext cx="1508760" cy="548640"/>
          </a:xfrm>
          <a:prstGeom prst="rect">
            <a:avLst/>
          </a:prstGeom>
          <a:noFill/>
        </p:spPr>
        <p:txBody>
          <a:bodyPr wrap="square">
            <a:spAutoFit/>
          </a:bodyPr>
          <a:lstStyle/>
          <a:p>
            <a:pPr algn="ctr">
              <a:defRPr sz="2800" b="1">
                <a:solidFill>
                  <a:srgbClr val="FFFFFF"/>
                </a:solidFill>
                <a:latin typeface="Calibri Light"/>
              </a:defRPr>
            </a:pPr>
            <a:r>
              <a:t>2024</a:t>
            </a:r>
          </a:p>
        </p:txBody>
      </p:sp>
      <p:sp>
        <p:nvSpPr>
          <p:cNvPr id="20" name="Rectangle 19"/>
          <p:cNvSpPr/>
          <p:nvPr/>
        </p:nvSpPr>
        <p:spPr>
          <a:xfrm>
            <a:off x="5449824" y="2834640"/>
            <a:ext cx="150876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41264" y="2971800"/>
            <a:ext cx="1325880" cy="1828800"/>
          </a:xfrm>
          <a:prstGeom prst="rect">
            <a:avLst/>
          </a:prstGeom>
          <a:noFill/>
        </p:spPr>
        <p:txBody>
          <a:bodyPr wrap="square">
            <a:spAutoFit/>
          </a:bodyPr>
          <a:lstStyle/>
          <a:p>
            <a:pPr algn="ctr">
              <a:defRPr sz="1300" b="0">
                <a:solidFill>
                  <a:srgbClr val="C8D2DC"/>
                </a:solidFill>
                <a:latin typeface="Calibri"/>
              </a:defRPr>
            </a:pPr>
            <a:r>
              <a:t>Dimarcq et al.</a:t>
            </a:r>
            <a:br/>
            <a:r>
              <a:t>路线图论文</a:t>
            </a:r>
            <a:br/>
            <a:r>
              <a:t>Metrologia发表</a:t>
            </a:r>
          </a:p>
        </p:txBody>
      </p:sp>
      <p:sp>
        <p:nvSpPr>
          <p:cNvPr id="22" name="Rectangle 21"/>
          <p:cNvSpPr/>
          <p:nvPr/>
        </p:nvSpPr>
        <p:spPr>
          <a:xfrm>
            <a:off x="7114032" y="2011680"/>
            <a:ext cx="1508760" cy="822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2" y="2148840"/>
            <a:ext cx="1508760" cy="548640"/>
          </a:xfrm>
          <a:prstGeom prst="rect">
            <a:avLst/>
          </a:prstGeom>
          <a:noFill/>
        </p:spPr>
        <p:txBody>
          <a:bodyPr wrap="square">
            <a:spAutoFit/>
          </a:bodyPr>
          <a:lstStyle/>
          <a:p>
            <a:pPr algn="ctr">
              <a:defRPr sz="2800" b="1">
                <a:solidFill>
                  <a:srgbClr val="FFFFFF"/>
                </a:solidFill>
                <a:latin typeface="Calibri Light"/>
              </a:defRPr>
            </a:pPr>
            <a:r>
              <a:t>2025</a:t>
            </a:r>
          </a:p>
        </p:txBody>
      </p:sp>
      <p:sp>
        <p:nvSpPr>
          <p:cNvPr id="24" name="Rectangle 23"/>
          <p:cNvSpPr/>
          <p:nvPr/>
        </p:nvSpPr>
        <p:spPr>
          <a:xfrm>
            <a:off x="7114032" y="2834640"/>
            <a:ext cx="150876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05472" y="2971800"/>
            <a:ext cx="1325880" cy="1828800"/>
          </a:xfrm>
          <a:prstGeom prst="rect">
            <a:avLst/>
          </a:prstGeom>
          <a:noFill/>
        </p:spPr>
        <p:txBody>
          <a:bodyPr wrap="square">
            <a:spAutoFit/>
          </a:bodyPr>
          <a:lstStyle/>
          <a:p>
            <a:pPr algn="ctr">
              <a:defRPr sz="1300" b="0">
                <a:solidFill>
                  <a:srgbClr val="C8D2DC"/>
                </a:solidFill>
                <a:latin typeface="Calibri"/>
              </a:defRPr>
            </a:pPr>
            <a:r>
              <a:t>CCTF会议</a:t>
            </a:r>
            <a:br/>
            <a:r>
              <a:t>确认2030目标</a:t>
            </a:r>
            <a:br/>
            <a:r>
              <a:t>评估判据进展</a:t>
            </a:r>
          </a:p>
        </p:txBody>
      </p:sp>
      <p:sp>
        <p:nvSpPr>
          <p:cNvPr id="26" name="Rectangle 25"/>
          <p:cNvSpPr/>
          <p:nvPr/>
        </p:nvSpPr>
        <p:spPr>
          <a:xfrm>
            <a:off x="8778240" y="2011680"/>
            <a:ext cx="1508760" cy="822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2148840"/>
            <a:ext cx="1508760" cy="548640"/>
          </a:xfrm>
          <a:prstGeom prst="rect">
            <a:avLst/>
          </a:prstGeom>
          <a:noFill/>
        </p:spPr>
        <p:txBody>
          <a:bodyPr wrap="square">
            <a:spAutoFit/>
          </a:bodyPr>
          <a:lstStyle/>
          <a:p>
            <a:pPr algn="ctr">
              <a:defRPr sz="2800" b="1">
                <a:solidFill>
                  <a:srgbClr val="FFFFFF"/>
                </a:solidFill>
                <a:latin typeface="Calibri Light"/>
              </a:defRPr>
            </a:pPr>
            <a:r>
              <a:t>2026</a:t>
            </a:r>
          </a:p>
        </p:txBody>
      </p:sp>
      <p:sp>
        <p:nvSpPr>
          <p:cNvPr id="28" name="Rectangle 27"/>
          <p:cNvSpPr/>
          <p:nvPr/>
        </p:nvSpPr>
        <p:spPr>
          <a:xfrm>
            <a:off x="8778240" y="2834640"/>
            <a:ext cx="150876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0" y="2971800"/>
            <a:ext cx="1325880" cy="1828800"/>
          </a:xfrm>
          <a:prstGeom prst="rect">
            <a:avLst/>
          </a:prstGeom>
          <a:noFill/>
        </p:spPr>
        <p:txBody>
          <a:bodyPr wrap="square">
            <a:spAutoFit/>
          </a:bodyPr>
          <a:lstStyle/>
          <a:p>
            <a:pPr algn="ctr">
              <a:defRPr sz="1300" b="0">
                <a:solidFill>
                  <a:srgbClr val="C8D2DC"/>
                </a:solidFill>
                <a:latin typeface="Calibri"/>
              </a:defRPr>
            </a:pPr>
            <a:r>
              <a:t>CGPM第28届大会</a:t>
            </a:r>
            <a:br/>
            <a:r>
              <a:t>提交重定义</a:t>
            </a:r>
            <a:br/>
            <a:r>
              <a:t>提案草案</a:t>
            </a:r>
          </a:p>
        </p:txBody>
      </p:sp>
      <p:sp>
        <p:nvSpPr>
          <p:cNvPr id="30" name="Rectangle 29"/>
          <p:cNvSpPr/>
          <p:nvPr/>
        </p:nvSpPr>
        <p:spPr>
          <a:xfrm>
            <a:off x="10442448" y="2011680"/>
            <a:ext cx="1508760" cy="8229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42448" y="2148840"/>
            <a:ext cx="1508760" cy="548640"/>
          </a:xfrm>
          <a:prstGeom prst="rect">
            <a:avLst/>
          </a:prstGeom>
          <a:noFill/>
        </p:spPr>
        <p:txBody>
          <a:bodyPr wrap="square">
            <a:spAutoFit/>
          </a:bodyPr>
          <a:lstStyle/>
          <a:p>
            <a:pPr algn="ctr">
              <a:defRPr sz="2800" b="1">
                <a:solidFill>
                  <a:srgbClr val="FFFFFF"/>
                </a:solidFill>
                <a:latin typeface="Calibri Light"/>
              </a:defRPr>
            </a:pPr>
            <a:r>
              <a:t>2030</a:t>
            </a:r>
          </a:p>
        </p:txBody>
      </p:sp>
      <p:sp>
        <p:nvSpPr>
          <p:cNvPr id="32" name="Rectangle 31"/>
          <p:cNvSpPr/>
          <p:nvPr/>
        </p:nvSpPr>
        <p:spPr>
          <a:xfrm>
            <a:off x="10442448" y="2834640"/>
            <a:ext cx="150876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33888" y="2971800"/>
            <a:ext cx="1325880" cy="1828800"/>
          </a:xfrm>
          <a:prstGeom prst="rect">
            <a:avLst/>
          </a:prstGeom>
          <a:noFill/>
        </p:spPr>
        <p:txBody>
          <a:bodyPr wrap="square">
            <a:spAutoFit/>
          </a:bodyPr>
          <a:lstStyle/>
          <a:p>
            <a:pPr algn="ctr">
              <a:defRPr sz="1300" b="0">
                <a:solidFill>
                  <a:srgbClr val="C8D2DC"/>
                </a:solidFill>
                <a:latin typeface="Calibri"/>
              </a:defRPr>
            </a:pPr>
            <a:r>
              <a:t>CGPM第29届大会</a:t>
            </a:r>
            <a:br/>
            <a:r>
              <a:t>正式批准</a:t>
            </a:r>
            <a:br/>
            <a:r>
              <a:t>新的SI秒定义</a:t>
            </a:r>
          </a:p>
        </p:txBody>
      </p:sp>
      <p:sp>
        <p:nvSpPr>
          <p:cNvPr id="34" name="Right Arrow 33"/>
          <p:cNvSpPr/>
          <p:nvPr/>
        </p:nvSpPr>
        <p:spPr>
          <a:xfrm>
            <a:off x="1965960" y="2377440"/>
            <a:ext cx="274320" cy="22860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ight Arrow 34"/>
          <p:cNvSpPr/>
          <p:nvPr/>
        </p:nvSpPr>
        <p:spPr>
          <a:xfrm>
            <a:off x="3630168" y="2377440"/>
            <a:ext cx="274320" cy="22860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ight Arrow 35"/>
          <p:cNvSpPr/>
          <p:nvPr/>
        </p:nvSpPr>
        <p:spPr>
          <a:xfrm>
            <a:off x="5294376" y="2377440"/>
            <a:ext cx="274320" cy="22860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Arrow 36"/>
          <p:cNvSpPr/>
          <p:nvPr/>
        </p:nvSpPr>
        <p:spPr>
          <a:xfrm>
            <a:off x="6958583" y="2377440"/>
            <a:ext cx="274320" cy="22860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Arrow 37"/>
          <p:cNvSpPr/>
          <p:nvPr/>
        </p:nvSpPr>
        <p:spPr>
          <a:xfrm>
            <a:off x="8622792" y="2377440"/>
            <a:ext cx="274320" cy="22860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Arrow 38"/>
          <p:cNvSpPr/>
          <p:nvPr/>
        </p:nvSpPr>
        <p:spPr>
          <a:xfrm>
            <a:off x="10287000" y="2377440"/>
            <a:ext cx="274320" cy="22860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754880"/>
            <a:ext cx="10515600" cy="1645920"/>
          </a:xfrm>
          <a:prstGeom prst="rect">
            <a:avLst/>
          </a:prstGeom>
          <a:noFill/>
        </p:spPr>
        <p:txBody>
          <a:bodyPr wrap="square">
            <a:spAutoFit/>
          </a:bodyPr>
          <a:lstStyle/>
          <a:p>
            <a:pPr algn="l">
              <a:lnSpc>
                <a:spcPts val="2600"/>
              </a:lnSpc>
              <a:spcAft>
                <a:spcPts val="400"/>
              </a:spcAft>
              <a:defRPr sz="2000" b="1">
                <a:solidFill>
                  <a:srgbClr val="14B8A6"/>
                </a:solidFill>
                <a:latin typeface="Microsoft YaHei"/>
              </a:defRPr>
            </a:pPr>
            <a:r>
              <a:t>关键路径</a:t>
            </a:r>
          </a:p>
          <a:p>
            <a:pPr algn="l">
              <a:lnSpc>
                <a:spcPts val="2080"/>
              </a:lnSpc>
              <a:spcAft>
                <a:spcPts val="400"/>
              </a:spcAft>
              <a:defRPr sz="1600" b="0">
                <a:solidFill>
                  <a:srgbClr val="C8D2DC"/>
                </a:solidFill>
                <a:latin typeface="Microsoft YaHei"/>
              </a:defRPr>
            </a:pPr>
            <a:r>
              <a:t>• 2026 CGPM: 提交决议草案，需表明强制性判据可在2030年前满足</a:t>
            </a:r>
          </a:p>
          <a:p>
            <a:pPr algn="l">
              <a:lnSpc>
                <a:spcPts val="2080"/>
              </a:lnSpc>
              <a:spcAft>
                <a:spcPts val="400"/>
              </a:spcAft>
              <a:defRPr sz="1600" b="0">
                <a:solidFill>
                  <a:srgbClr val="C8D2DC"/>
                </a:solidFill>
                <a:latin typeface="Microsoft YaHei"/>
              </a:defRPr>
            </a:pPr>
            <a:r>
              <a:t>• 2030 CGPM: 投票表决；批准后至少需要数年过渡期，Cs秒与光秒并行</a:t>
            </a:r>
          </a:p>
          <a:p>
            <a:pPr algn="l">
              <a:lnSpc>
                <a:spcPts val="2080"/>
              </a:lnSpc>
              <a:spcAft>
                <a:spcPts val="400"/>
              </a:spcAft>
              <a:defRPr sz="1600" b="0">
                <a:solidFill>
                  <a:srgbClr val="C8D2DC"/>
                </a:solidFill>
                <a:latin typeface="Microsoft YaHei"/>
              </a:defRPr>
            </a:pPr>
            <a:r>
              <a:t>• 三个候选方案：方案1（单一跃迁）、方案2（多跃迁加权平均）、方案3（固定其他基本常数，不现实）</a:t>
            </a:r>
          </a:p>
          <a:p>
            <a:pPr algn="l">
              <a:lnSpc>
                <a:spcPts val="2080"/>
              </a:lnSpc>
              <a:spcAft>
                <a:spcPts val="400"/>
              </a:spcAft>
              <a:defRPr sz="1600" b="0">
                <a:solidFill>
                  <a:srgbClr val="C8D2DC"/>
                </a:solidFill>
                <a:latin typeface="Microsoft YaHei"/>
              </a:defRPr>
            </a:pPr>
            <a:r>
              <a:t>• 目前方案1（单一光学跃迁替代Δν_Cs）最受关注，但具体选哪种原子/离子尚未确定</a:t>
            </a:r>
          </a:p>
        </p:txBody>
      </p:sp>
      <p:sp>
        <p:nvSpPr>
          <p:cNvPr id="41" name="TextBox 40"/>
          <p:cNvSpPr txBox="1"/>
          <p:nvPr/>
        </p:nvSpPr>
        <p:spPr>
          <a:xfrm>
            <a:off x="731520" y="6400800"/>
            <a:ext cx="10515600" cy="274320"/>
          </a:xfrm>
          <a:prstGeom prst="rect">
            <a:avLst/>
          </a:prstGeom>
          <a:noFill/>
        </p:spPr>
        <p:txBody>
          <a:bodyPr wrap="square">
            <a:spAutoFit/>
          </a:bodyPr>
          <a:lstStyle/>
          <a:p>
            <a:pPr algn="l">
              <a:defRPr sz="1000" b="0">
                <a:solidFill>
                  <a:srgbClr val="94A3B8"/>
                </a:solidFill>
                <a:latin typeface="Calibri"/>
              </a:defRPr>
            </a:pPr>
            <a:r>
              <a:t>来源: BIPM CCTF Recommendation 24-3 (2024); CCTF Meeting (2025); Dimarcq et al. (2024)</a:t>
            </a:r>
          </a:p>
        </p:txBody>
      </p:sp>
      <p:sp>
        <p:nvSpPr>
          <p:cNvPr id="42" name="TextBox 41"/>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重定义的强制性判据</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CCTF Task Force on the Roadmap (2022, 更新至2024)</a:t>
            </a:r>
          </a:p>
        </p:txBody>
      </p:sp>
      <p:sp>
        <p:nvSpPr>
          <p:cNvPr id="6" name="Rectangle 5"/>
          <p:cNvSpPr/>
          <p:nvPr/>
        </p:nvSpPr>
        <p:spPr>
          <a:xfrm>
            <a:off x="457200" y="1645920"/>
            <a:ext cx="5486400" cy="47548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54864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5029200" cy="4389120"/>
          </a:xfrm>
          <a:prstGeom prst="rect">
            <a:avLst/>
          </a:prstGeom>
          <a:noFill/>
        </p:spPr>
        <p:txBody>
          <a:bodyPr wrap="square">
            <a:spAutoFit/>
          </a:bodyPr>
          <a:lstStyle/>
          <a:p>
            <a:pPr algn="l">
              <a:lnSpc>
                <a:spcPts val="2600"/>
              </a:lnSpc>
              <a:spcAft>
                <a:spcPts val="400"/>
              </a:spcAft>
              <a:defRPr sz="2000" b="1">
                <a:solidFill>
                  <a:srgbClr val="3B82F6"/>
                </a:solidFill>
                <a:latin typeface="Microsoft YaHei"/>
              </a:defRPr>
            </a:pPr>
            <a:r>
              <a:t>频率标准条件（I.1 – I.5）</a:t>
            </a:r>
          </a:p>
          <a:p>
            <a:pPr algn="l">
              <a:lnSpc>
                <a:spcPts val="520"/>
              </a:lnSpc>
              <a:spcAft>
                <a:spcPts val="400"/>
              </a:spcAft>
              <a:defRPr sz="400" b="0">
                <a:solidFill>
                  <a:srgbClr val="FFFFFF"/>
                </a:solidFill>
                <a:latin typeface="Microsoft YaHei"/>
              </a:defRPr>
            </a:pPr>
          </a:p>
          <a:p>
            <a:pPr algn="l">
              <a:lnSpc>
                <a:spcPts val="1820"/>
              </a:lnSpc>
              <a:spcAft>
                <a:spcPts val="400"/>
              </a:spcAft>
              <a:defRPr sz="1400" b="0">
                <a:solidFill>
                  <a:srgbClr val="C8D2DC"/>
                </a:solidFill>
                <a:latin typeface="Microsoft YaHei"/>
              </a:defRPr>
            </a:pPr>
            <a:r>
              <a:t>I.1 ≥3种光钟（同类型不同实验室 + 不同类型）验证不确定度 &lt; 2×10⁻¹⁸</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I.2 ≥5个光频比测量，每个至少2次独立验证，一致性 &lt; 5×10⁻¹⁸</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I.3 ≥3次OFS与TAI/Cs喷泉钟独立比对，受限于TAI (~3×10⁻¹⁶)</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I.4 每月≥3次OFS对TAI的贡献（不确定度 &lt; 2×10⁻¹⁶），≥5台OFS运行 ≥1年</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I.5 光钟TRL &gt; 4，可靠连续运行 &gt; 10天</a:t>
            </a:r>
          </a:p>
        </p:txBody>
      </p:sp>
      <p:sp>
        <p:nvSpPr>
          <p:cNvPr id="9" name="Rectangle 8"/>
          <p:cNvSpPr/>
          <p:nvPr/>
        </p:nvSpPr>
        <p:spPr>
          <a:xfrm>
            <a:off x="6217920" y="1645920"/>
            <a:ext cx="5486400" cy="47548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48640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5029200" cy="4389120"/>
          </a:xfrm>
          <a:prstGeom prst="rect">
            <a:avLst/>
          </a:prstGeom>
          <a:noFill/>
        </p:spPr>
        <p:txBody>
          <a:bodyPr wrap="square">
            <a:spAutoFit/>
          </a:bodyPr>
          <a:lstStyle/>
          <a:p>
            <a:pPr algn="l">
              <a:lnSpc>
                <a:spcPts val="2600"/>
              </a:lnSpc>
              <a:spcAft>
                <a:spcPts val="400"/>
              </a:spcAft>
              <a:defRPr sz="2000" b="1">
                <a:solidFill>
                  <a:srgbClr val="14B8A6"/>
                </a:solidFill>
                <a:latin typeface="Microsoft YaHei"/>
              </a:defRPr>
            </a:pPr>
            <a:r>
              <a:t>时频传递条件（II.1 – II.5）</a:t>
            </a:r>
          </a:p>
          <a:p>
            <a:pPr algn="l">
              <a:lnSpc>
                <a:spcPts val="520"/>
              </a:lnSpc>
              <a:spcAft>
                <a:spcPts val="400"/>
              </a:spcAft>
              <a:defRPr sz="400" b="0">
                <a:solidFill>
                  <a:srgbClr val="FFFFFF"/>
                </a:solidFill>
                <a:latin typeface="Microsoft YaHei"/>
              </a:defRPr>
            </a:pPr>
          </a:p>
          <a:p>
            <a:pPr algn="l">
              <a:lnSpc>
                <a:spcPts val="1820"/>
              </a:lnSpc>
              <a:spcAft>
                <a:spcPts val="400"/>
              </a:spcAft>
              <a:defRPr sz="1400" b="0">
                <a:solidFill>
                  <a:srgbClr val="C8D2DC"/>
                </a:solidFill>
                <a:latin typeface="Microsoft YaHei"/>
              </a:defRPr>
            </a:pPr>
            <a:r>
              <a:t>II.1 国家/大陆尺度：所有光钟均可通过合适链路比对，不确定度 &lt; 5×10⁻¹⁸</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II.2 至少一部分光钟在不同机构间已验证比对</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II.3 运行不确定度 &lt; 5×10⁻¹⁸的OFS的NMI需知道大地水准面差，不确定度 &lt; 5×10⁻¹⁸</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II.4 时频传递链路性能经验证可支持5×10⁻¹⁸不确定度</a:t>
            </a:r>
          </a:p>
          <a:p>
            <a:pPr algn="l">
              <a:lnSpc>
                <a:spcPts val="260"/>
              </a:lnSpc>
              <a:spcAft>
                <a:spcPts val="400"/>
              </a:spcAft>
              <a:defRPr sz="200" b="0">
                <a:solidFill>
                  <a:srgbClr val="FFFFFF"/>
                </a:solidFill>
                <a:latin typeface="Microsoft YaHei"/>
              </a:defRPr>
            </a:pPr>
          </a:p>
          <a:p>
            <a:pPr algn="l">
              <a:lnSpc>
                <a:spcPts val="1820"/>
              </a:lnSpc>
              <a:spcAft>
                <a:spcPts val="400"/>
              </a:spcAft>
              <a:defRPr sz="1400" b="0">
                <a:solidFill>
                  <a:srgbClr val="C8D2DC"/>
                </a:solidFill>
                <a:latin typeface="Microsoft YaHei"/>
              </a:defRPr>
            </a:pPr>
            <a:r>
              <a:t>II.5 T/F链路 TRL &gt; 6，可靠连续运行 &gt; 30天</a:t>
            </a:r>
          </a:p>
        </p:txBody>
      </p:sp>
      <p:sp>
        <p:nvSpPr>
          <p:cNvPr id="12" name="TextBox 11"/>
          <p:cNvSpPr txBox="1"/>
          <p:nvPr/>
        </p:nvSpPr>
        <p:spPr>
          <a:xfrm>
            <a:off x="731520" y="6400800"/>
            <a:ext cx="10515600" cy="365760"/>
          </a:xfrm>
          <a:prstGeom prst="rect">
            <a:avLst/>
          </a:prstGeom>
          <a:noFill/>
        </p:spPr>
        <p:txBody>
          <a:bodyPr wrap="square">
            <a:spAutoFit/>
          </a:bodyPr>
          <a:lstStyle/>
          <a:p>
            <a:pPr algn="l">
              <a:lnSpc>
                <a:spcPts val="1300"/>
              </a:lnSpc>
              <a:spcAft>
                <a:spcPts val="400"/>
              </a:spcAft>
              <a:defRPr sz="1000" b="0">
                <a:solidFill>
                  <a:srgbClr val="94A3B8"/>
                </a:solidFill>
                <a:latin typeface="Calibri"/>
              </a:defRPr>
            </a:pPr>
            <a:r>
              <a:t>来源：CCTF Recommendation 24-3 (2024); Gertsvolf, CCTF TE 28042025</a:t>
            </a:r>
          </a:p>
        </p:txBody>
      </p:sp>
      <p:sp>
        <p:nvSpPr>
          <p:cNvPr id="13" name="TextBox 12"/>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判据满足状态</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2025 CCTF评估：哪些判据已满足？哪些仍需努力？</a:t>
            </a:r>
          </a:p>
        </p:txBody>
      </p:sp>
      <p:graphicFrame>
        <p:nvGraphicFramePr>
          <p:cNvPr id="6" name="Table 5"/>
          <p:cNvGraphicFramePr>
            <a:graphicFrameLocks noGrp="1"/>
          </p:cNvGraphicFramePr>
          <p:nvPr/>
        </p:nvGraphicFramePr>
        <p:xfrm>
          <a:off x="457200" y="1828800"/>
          <a:ext cx="11795760" cy="2240280"/>
        </p:xfrm>
        <a:graphic>
          <a:graphicData uri="http://schemas.openxmlformats.org/drawingml/2006/table">
            <a:tbl>
              <a:tblPr firstRow="1" bandRow="1">
                <a:tableStyleId>{5C22544A-7EE6-4342-B048-85BDC9FD1C3A}</a:tableStyleId>
              </a:tblPr>
              <a:tblGrid>
                <a:gridCol w="1097280"/>
                <a:gridCol w="3840480"/>
                <a:gridCol w="2286000"/>
                <a:gridCol w="2286000"/>
                <a:gridCol w="2286000"/>
              </a:tblGrid>
              <a:tr h="320040">
                <a:tc>
                  <a:txBody>
                    <a:bodyPr/>
                    <a:lstStyle/>
                    <a:p>
                      <a:pPr algn="ctr">
                        <a:defRPr sz="1100" b="1">
                          <a:solidFill>
                            <a:srgbClr val="FFFFFF"/>
                          </a:solidFill>
                          <a:latin typeface="Calibri"/>
                        </a:defRPr>
                      </a:pPr>
                      <a:r>
                        <a:t>判据</a:t>
                      </a:r>
                    </a:p>
                  </a:txBody>
                  <a:tcPr>
                    <a:solidFill>
                      <a:srgbClr val="122E52"/>
                    </a:solidFill>
                  </a:tcPr>
                </a:tc>
                <a:tc>
                  <a:txBody>
                    <a:bodyPr/>
                    <a:lstStyle/>
                    <a:p>
                      <a:pPr algn="ctr">
                        <a:defRPr sz="1100" b="1">
                          <a:solidFill>
                            <a:srgbClr val="FFFFFF"/>
                          </a:solidFill>
                          <a:latin typeface="Calibri"/>
                        </a:defRPr>
                      </a:pPr>
                      <a:r>
                        <a:t>要求</a:t>
                      </a:r>
                    </a:p>
                  </a:txBody>
                  <a:tcPr>
                    <a:solidFill>
                      <a:srgbClr val="122E52"/>
                    </a:solidFill>
                  </a:tcPr>
                </a:tc>
                <a:tc>
                  <a:txBody>
                    <a:bodyPr/>
                    <a:lstStyle/>
                    <a:p>
                      <a:pPr algn="ctr">
                        <a:defRPr sz="1100" b="1">
                          <a:solidFill>
                            <a:srgbClr val="FFFFFF"/>
                          </a:solidFill>
                          <a:latin typeface="Calibri"/>
                        </a:defRPr>
                      </a:pPr>
                      <a:r>
                        <a:t>当前状态</a:t>
                      </a:r>
                    </a:p>
                  </a:txBody>
                  <a:tcPr>
                    <a:solidFill>
                      <a:srgbClr val="122E52"/>
                    </a:solidFill>
                  </a:tcPr>
                </a:tc>
                <a:tc>
                  <a:txBody>
                    <a:bodyPr/>
                    <a:lstStyle/>
                    <a:p>
                      <a:pPr algn="ctr">
                        <a:defRPr sz="1100" b="1">
                          <a:solidFill>
                            <a:srgbClr val="FFFFFF"/>
                          </a:solidFill>
                          <a:latin typeface="Calibri"/>
                        </a:defRPr>
                      </a:pPr>
                      <a:r>
                        <a:t>到2030可行性</a:t>
                      </a:r>
                    </a:p>
                  </a:txBody>
                  <a:tcPr>
                    <a:solidFill>
                      <a:srgbClr val="122E52"/>
                    </a:solidFill>
                  </a:tcPr>
                </a:tc>
                <a:tc>
                  <a:txBody>
                    <a:bodyPr/>
                    <a:lstStyle/>
                    <a:p>
                      <a:pPr algn="ctr">
                        <a:defRPr sz="1100" b="1">
                          <a:solidFill>
                            <a:srgbClr val="FFFFFF"/>
                          </a:solidFill>
                          <a:latin typeface="Calibri"/>
                        </a:defRPr>
                      </a:pPr>
                      <a:r>
                        <a:t>主要瓶颈</a:t>
                      </a:r>
                    </a:p>
                  </a:txBody>
                  <a:tcPr>
                    <a:solidFill>
                      <a:srgbClr val="122E52"/>
                    </a:solidFill>
                  </a:tcPr>
                </a:tc>
              </a:tr>
              <a:tr h="320040">
                <a:tc>
                  <a:txBody>
                    <a:bodyPr/>
                    <a:lstStyle/>
                    <a:p>
                      <a:pPr algn="ctr">
                        <a:defRPr sz="900">
                          <a:solidFill>
                            <a:srgbClr val="C8D2DC"/>
                          </a:solidFill>
                          <a:latin typeface="Calibri"/>
                        </a:defRPr>
                      </a:pPr>
                      <a:r>
                        <a:t>I.1</a:t>
                      </a:r>
                    </a:p>
                  </a:txBody>
                  <a:tcPr>
                    <a:solidFill>
                      <a:srgbClr val="122E52"/>
                    </a:solidFill>
                  </a:tcPr>
                </a:tc>
                <a:tc>
                  <a:txBody>
                    <a:bodyPr/>
                    <a:lstStyle/>
                    <a:p>
                      <a:pPr algn="ctr">
                        <a:defRPr sz="900">
                          <a:solidFill>
                            <a:srgbClr val="C8D2DC"/>
                          </a:solidFill>
                          <a:latin typeface="Calibri"/>
                        </a:defRPr>
                      </a:pPr>
                      <a:r>
                        <a:t>≥3种光钟</a:t>
                      </a:r>
                    </a:p>
                    <a:p>
                      <a:pPr algn="ctr">
                        <a:defRPr sz="900">
                          <a:solidFill>
                            <a:srgbClr val="C8D2DC"/>
                          </a:solidFill>
                          <a:latin typeface="Calibri"/>
                        </a:defRPr>
                      </a:pPr>
                      <a:r>
                        <a:t>&lt; 2×10⁻¹⁸</a:t>
                      </a:r>
                    </a:p>
                  </a:txBody>
                  <a:tcPr>
                    <a:solidFill>
                      <a:srgbClr val="122E52"/>
                    </a:solidFill>
                  </a:tcPr>
                </a:tc>
                <a:tc>
                  <a:txBody>
                    <a:bodyPr/>
                    <a:lstStyle/>
                    <a:p>
                      <a:pPr algn="ctr">
                        <a:defRPr sz="900">
                          <a:solidFill>
                            <a:srgbClr val="C8D2DC"/>
                          </a:solidFill>
                          <a:latin typeface="Calibri"/>
                        </a:defRPr>
                      </a:pPr>
                      <a:r>
                        <a:t>✅ 部分满足</a:t>
                      </a:r>
                    </a:p>
                    <a:p>
                      <a:pPr algn="ctr">
                        <a:defRPr sz="900">
                          <a:solidFill>
                            <a:srgbClr val="C8D2DC"/>
                          </a:solidFill>
                          <a:latin typeface="Calibri"/>
                        </a:defRPr>
                      </a:pPr>
                      <a:r>
                        <a:t>Sr(8×10⁻¹⁹), Al+(5.5×10⁻¹⁹)</a:t>
                      </a:r>
                    </a:p>
                    <a:p>
                      <a:pPr algn="ctr">
                        <a:defRPr sz="900">
                          <a:solidFill>
                            <a:srgbClr val="C8D2DC"/>
                          </a:solidFill>
                          <a:latin typeface="Calibri"/>
                        </a:defRPr>
                      </a:pPr>
                      <a:r>
                        <a:t>Yb, Yb+ E3已达~10⁻¹⁸</a:t>
                      </a:r>
                    </a:p>
                  </a:txBody>
                  <a:tcPr>
                    <a:solidFill>
                      <a:srgbClr val="122E52"/>
                    </a:solidFill>
                  </a:tcPr>
                </a:tc>
                <a:tc>
                  <a:txBody>
                    <a:bodyPr/>
                    <a:lstStyle/>
                    <a:p>
                      <a:pPr algn="ctr">
                        <a:defRPr sz="900">
                          <a:solidFill>
                            <a:srgbClr val="C8D2DC"/>
                          </a:solidFill>
                          <a:latin typeface="Calibri"/>
                        </a:defRPr>
                      </a:pPr>
                      <a:r>
                        <a:t>高</a:t>
                      </a:r>
                    </a:p>
                  </a:txBody>
                  <a:tcPr>
                    <a:solidFill>
                      <a:srgbClr val="122E52"/>
                    </a:solidFill>
                  </a:tcPr>
                </a:tc>
                <a:tc>
                  <a:txBody>
                    <a:bodyPr/>
                    <a:lstStyle/>
                    <a:p>
                      <a:pPr algn="ctr">
                        <a:defRPr sz="900">
                          <a:solidFill>
                            <a:srgbClr val="C8D2DC"/>
                          </a:solidFill>
                          <a:latin typeface="Calibri"/>
                        </a:defRPr>
                      </a:pPr>
                      <a:r>
                        <a:t>不同类型间的</a:t>
                      </a:r>
                    </a:p>
                    <a:p>
                      <a:pPr algn="ctr">
                        <a:defRPr sz="900">
                          <a:solidFill>
                            <a:srgbClr val="C8D2DC"/>
                          </a:solidFill>
                          <a:latin typeface="Calibri"/>
                        </a:defRPr>
                      </a:pPr>
                      <a:r>
                        <a:t>系统不一致性</a:t>
                      </a:r>
                    </a:p>
                  </a:txBody>
                  <a:tcPr>
                    <a:solidFill>
                      <a:srgbClr val="122E52"/>
                    </a:solidFill>
                  </a:tcPr>
                </a:tc>
              </a:tr>
              <a:tr h="320040">
                <a:tc>
                  <a:txBody>
                    <a:bodyPr/>
                    <a:lstStyle/>
                    <a:p>
                      <a:pPr algn="ctr">
                        <a:defRPr sz="900">
                          <a:solidFill>
                            <a:srgbClr val="C8D2DC"/>
                          </a:solidFill>
                          <a:latin typeface="Calibri"/>
                        </a:defRPr>
                      </a:pPr>
                      <a:r>
                        <a:t>I.2</a:t>
                      </a:r>
                    </a:p>
                  </a:txBody>
                  <a:tcPr>
                    <a:solidFill>
                      <a:srgbClr val="0B1D3A"/>
                    </a:solidFill>
                  </a:tcPr>
                </a:tc>
                <a:tc>
                  <a:txBody>
                    <a:bodyPr/>
                    <a:lstStyle/>
                    <a:p>
                      <a:pPr algn="ctr">
                        <a:defRPr sz="900">
                          <a:solidFill>
                            <a:srgbClr val="C8D2DC"/>
                          </a:solidFill>
                          <a:latin typeface="Calibri"/>
                        </a:defRPr>
                      </a:pPr>
                      <a:r>
                        <a:t>≥5频率比</a:t>
                      </a:r>
                    </a:p>
                    <a:p>
                      <a:pPr algn="ctr">
                        <a:defRPr sz="900">
                          <a:solidFill>
                            <a:srgbClr val="C8D2DC"/>
                          </a:solidFill>
                          <a:latin typeface="Calibri"/>
                        </a:defRPr>
                      </a:pPr>
                      <a:r>
                        <a:t>&lt; 5×10⁻¹⁸</a:t>
                      </a:r>
                    </a:p>
                  </a:txBody>
                  <a:tcPr>
                    <a:solidFill>
                      <a:srgbClr val="0B1D3A"/>
                    </a:solidFill>
                  </a:tcPr>
                </a:tc>
                <a:tc>
                  <a:txBody>
                    <a:bodyPr/>
                    <a:lstStyle/>
                    <a:p>
                      <a:pPr algn="ctr">
                        <a:defRPr sz="900">
                          <a:solidFill>
                            <a:srgbClr val="C8D2DC"/>
                          </a:solidFill>
                          <a:latin typeface="Calibri"/>
                        </a:defRPr>
                      </a:pPr>
                      <a:r>
                        <a:t>⚠️ 接近但不完全</a:t>
                      </a:r>
                    </a:p>
                    <a:p>
                      <a:pPr algn="ctr">
                        <a:defRPr sz="900">
                          <a:solidFill>
                            <a:srgbClr val="C8D2DC"/>
                          </a:solidFill>
                          <a:latin typeface="Calibri"/>
                        </a:defRPr>
                      </a:pPr>
                      <a:r>
                        <a:t>BACON: ≤3.2×10⁻¹⁸ (3种)</a:t>
                      </a:r>
                    </a:p>
                    <a:p>
                      <a:pPr algn="ctr">
                        <a:defRPr sz="900">
                          <a:solidFill>
                            <a:srgbClr val="C8D2DC"/>
                          </a:solidFill>
                          <a:latin typeface="Calibri"/>
                        </a:defRPr>
                      </a:pPr>
                      <a:r>
                        <a:t>Yb+/Sr: 2.5×10⁻¹⁷</a:t>
                      </a:r>
                    </a:p>
                  </a:txBody>
                  <a:tcPr>
                    <a:solidFill>
                      <a:srgbClr val="0B1D3A"/>
                    </a:solidFill>
                  </a:tcPr>
                </a:tc>
                <a:tc>
                  <a:txBody>
                    <a:bodyPr/>
                    <a:lstStyle/>
                    <a:p>
                      <a:pPr algn="ctr">
                        <a:defRPr sz="900">
                          <a:solidFill>
                            <a:srgbClr val="C8D2DC"/>
                          </a:solidFill>
                          <a:latin typeface="Calibri"/>
                        </a:defRPr>
                      </a:pPr>
                      <a:r>
                        <a:t>中-高</a:t>
                      </a:r>
                    </a:p>
                  </a:txBody>
                  <a:tcPr>
                    <a:solidFill>
                      <a:srgbClr val="0B1D3A"/>
                    </a:solidFill>
                  </a:tcPr>
                </a:tc>
                <a:tc>
                  <a:txBody>
                    <a:bodyPr/>
                    <a:lstStyle/>
                    <a:p>
                      <a:pPr algn="ctr">
                        <a:defRPr sz="900">
                          <a:solidFill>
                            <a:srgbClr val="C8D2DC"/>
                          </a:solidFill>
                          <a:latin typeface="Calibri"/>
                        </a:defRPr>
                      </a:pPr>
                      <a:r>
                        <a:t>某些频率比存在</a:t>
                      </a:r>
                    </a:p>
                    <a:p>
                      <a:pPr algn="ctr">
                        <a:defRPr sz="900">
                          <a:solidFill>
                            <a:srgbClr val="C8D2DC"/>
                          </a:solidFill>
                          <a:latin typeface="Calibri"/>
                        </a:defRPr>
                      </a:pPr>
                      <a:r>
                        <a:t>1×10⁻¹⁶量级偏差</a:t>
                      </a:r>
                    </a:p>
                  </a:txBody>
                  <a:tcPr>
                    <a:solidFill>
                      <a:srgbClr val="0B1D3A"/>
                    </a:solidFill>
                  </a:tcPr>
                </a:tc>
              </a:tr>
              <a:tr h="320040">
                <a:tc>
                  <a:txBody>
                    <a:bodyPr/>
                    <a:lstStyle/>
                    <a:p>
                      <a:pPr algn="ctr">
                        <a:defRPr sz="900">
                          <a:solidFill>
                            <a:srgbClr val="C8D2DC"/>
                          </a:solidFill>
                          <a:latin typeface="Calibri"/>
                        </a:defRPr>
                      </a:pPr>
                      <a:r>
                        <a:t>I.3</a:t>
                      </a:r>
                    </a:p>
                  </a:txBody>
                  <a:tcPr>
                    <a:solidFill>
                      <a:srgbClr val="122E52"/>
                    </a:solidFill>
                  </a:tcPr>
                </a:tc>
                <a:tc>
                  <a:txBody>
                    <a:bodyPr/>
                    <a:lstStyle/>
                    <a:p>
                      <a:pPr algn="ctr">
                        <a:defRPr sz="900">
                          <a:solidFill>
                            <a:srgbClr val="C8D2DC"/>
                          </a:solidFill>
                          <a:latin typeface="Calibri"/>
                        </a:defRPr>
                      </a:pPr>
                      <a:r>
                        <a:t>≥3次OFS vs</a:t>
                      </a:r>
                    </a:p>
                    <a:p>
                      <a:pPr algn="ctr">
                        <a:defRPr sz="900">
                          <a:solidFill>
                            <a:srgbClr val="C8D2DC"/>
                          </a:solidFill>
                          <a:latin typeface="Calibri"/>
                        </a:defRPr>
                      </a:pPr>
                      <a:r>
                        <a:t>TAI/Cs比对</a:t>
                      </a:r>
                    </a:p>
                  </a:txBody>
                  <a:tcPr>
                    <a:solidFill>
                      <a:srgbClr val="122E52"/>
                    </a:solidFill>
                  </a:tcPr>
                </a:tc>
                <a:tc>
                  <a:txBody>
                    <a:bodyPr/>
                    <a:lstStyle/>
                    <a:p>
                      <a:pPr algn="ctr">
                        <a:defRPr sz="900">
                          <a:solidFill>
                            <a:srgbClr val="C8D2DC"/>
                          </a:solidFill>
                          <a:latin typeface="Calibri"/>
                        </a:defRPr>
                      </a:pPr>
                      <a:r>
                        <a:t>⚠️ 进行中</a:t>
                      </a:r>
                    </a:p>
                    <a:p>
                      <a:pPr algn="ctr">
                        <a:defRPr sz="900">
                          <a:solidFill>
                            <a:srgbClr val="C8D2DC"/>
                          </a:solidFill>
                          <a:latin typeface="Calibri"/>
                        </a:defRPr>
                      </a:pPr>
                      <a:r>
                        <a:t>多国NMI已开始</a:t>
                      </a:r>
                    </a:p>
                    <a:p>
                      <a:pPr algn="ctr">
                        <a:defRPr sz="900">
                          <a:solidFill>
                            <a:srgbClr val="C8D2DC"/>
                          </a:solidFill>
                          <a:latin typeface="Calibri"/>
                        </a:defRPr>
                      </a:pPr>
                      <a:r>
                        <a:t>但数量和质量待提升</a:t>
                      </a:r>
                    </a:p>
                  </a:txBody>
                  <a:tcPr>
                    <a:solidFill>
                      <a:srgbClr val="122E52"/>
                    </a:solidFill>
                  </a:tcPr>
                </a:tc>
                <a:tc>
                  <a:txBody>
                    <a:bodyPr/>
                    <a:lstStyle/>
                    <a:p>
                      <a:pPr algn="ctr">
                        <a:defRPr sz="900">
                          <a:solidFill>
                            <a:srgbClr val="C8D2DC"/>
                          </a:solidFill>
                          <a:latin typeface="Calibri"/>
                        </a:defRPr>
                      </a:pPr>
                      <a:r>
                        <a:t>中</a:t>
                      </a:r>
                    </a:p>
                  </a:txBody>
                  <a:tcPr>
                    <a:solidFill>
                      <a:srgbClr val="122E52"/>
                    </a:solidFill>
                  </a:tcPr>
                </a:tc>
                <a:tc>
                  <a:txBody>
                    <a:bodyPr/>
                    <a:lstStyle/>
                    <a:p>
                      <a:pPr algn="ctr">
                        <a:defRPr sz="900">
                          <a:solidFill>
                            <a:srgbClr val="C8D2DC"/>
                          </a:solidFill>
                          <a:latin typeface="Calibri"/>
                        </a:defRPr>
                      </a:pPr>
                      <a:r>
                        <a:t>TAI本身噪声</a:t>
                      </a:r>
                    </a:p>
                    <a:p>
                      <a:pPr algn="ctr">
                        <a:defRPr sz="900">
                          <a:solidFill>
                            <a:srgbClr val="C8D2DC"/>
                          </a:solidFill>
                          <a:latin typeface="Calibri"/>
                        </a:defRPr>
                      </a:pPr>
                      <a:r>
                        <a:t>和Cs喷泉钟极限</a:t>
                      </a:r>
                    </a:p>
                  </a:txBody>
                  <a:tcPr>
                    <a:solidFill>
                      <a:srgbClr val="122E52"/>
                    </a:solidFill>
                  </a:tcPr>
                </a:tc>
              </a:tr>
              <a:tr h="320040">
                <a:tc>
                  <a:txBody>
                    <a:bodyPr/>
                    <a:lstStyle/>
                    <a:p>
                      <a:pPr algn="ctr">
                        <a:defRPr sz="900">
                          <a:solidFill>
                            <a:srgbClr val="C8D2DC"/>
                          </a:solidFill>
                          <a:latin typeface="Calibri"/>
                        </a:defRPr>
                      </a:pPr>
                      <a:r>
                        <a:t>I.4</a:t>
                      </a:r>
                    </a:p>
                  </a:txBody>
                  <a:tcPr>
                    <a:solidFill>
                      <a:srgbClr val="0B1D3A"/>
                    </a:solidFill>
                  </a:tcPr>
                </a:tc>
                <a:tc>
                  <a:txBody>
                    <a:bodyPr/>
                    <a:lstStyle/>
                    <a:p>
                      <a:pPr algn="ctr">
                        <a:defRPr sz="900">
                          <a:solidFill>
                            <a:srgbClr val="C8D2DC"/>
                          </a:solidFill>
                          <a:latin typeface="Calibri"/>
                        </a:defRPr>
                      </a:pPr>
                      <a:r>
                        <a:t>OFS常态贡献</a:t>
                      </a:r>
                    </a:p>
                    <a:p>
                      <a:pPr algn="ctr">
                        <a:defRPr sz="900">
                          <a:solidFill>
                            <a:srgbClr val="C8D2DC"/>
                          </a:solidFill>
                          <a:latin typeface="Calibri"/>
                        </a:defRPr>
                      </a:pPr>
                      <a:r>
                        <a:t>TAI ≥1年</a:t>
                      </a:r>
                    </a:p>
                  </a:txBody>
                  <a:tcPr>
                    <a:solidFill>
                      <a:srgbClr val="0B1D3A"/>
                    </a:solidFill>
                  </a:tcPr>
                </a:tc>
                <a:tc>
                  <a:txBody>
                    <a:bodyPr/>
                    <a:lstStyle/>
                    <a:p>
                      <a:pPr algn="ctr">
                        <a:defRPr sz="900">
                          <a:solidFill>
                            <a:srgbClr val="C8D2DC"/>
                          </a:solidFill>
                          <a:latin typeface="Calibri"/>
                        </a:defRPr>
                      </a:pPr>
                      <a:r>
                        <a:t>❌ 未满足</a:t>
                      </a:r>
                    </a:p>
                    <a:p>
                      <a:pPr algn="ctr">
                        <a:defRPr sz="900">
                          <a:solidFill>
                            <a:srgbClr val="C8D2DC"/>
                          </a:solidFill>
                          <a:latin typeface="Calibri"/>
                        </a:defRPr>
                      </a:pPr>
                      <a:r>
                        <a:t>OFS尚未常态运行</a:t>
                      </a:r>
                    </a:p>
                    <a:p>
                      <a:pPr algn="ctr">
                        <a:defRPr sz="900">
                          <a:solidFill>
                            <a:srgbClr val="C8D2DC"/>
                          </a:solidFill>
                          <a:latin typeface="Calibri"/>
                        </a:defRPr>
                      </a:pPr>
                      <a:r>
                        <a:t>对TAI贡献不够</a:t>
                      </a:r>
                    </a:p>
                  </a:txBody>
                  <a:tcPr>
                    <a:solidFill>
                      <a:srgbClr val="0B1D3A"/>
                    </a:solidFill>
                  </a:tcPr>
                </a:tc>
                <a:tc>
                  <a:txBody>
                    <a:bodyPr/>
                    <a:lstStyle/>
                    <a:p>
                      <a:pPr algn="ctr">
                        <a:defRPr sz="900">
                          <a:solidFill>
                            <a:srgbClr val="C8D2DC"/>
                          </a:solidFill>
                          <a:latin typeface="Calibri"/>
                        </a:defRPr>
                      </a:pPr>
                      <a:r>
                        <a:t>中</a:t>
                      </a:r>
                    </a:p>
                  </a:txBody>
                  <a:tcPr>
                    <a:solidFill>
                      <a:srgbClr val="0B1D3A"/>
                    </a:solidFill>
                  </a:tcPr>
                </a:tc>
                <a:tc>
                  <a:txBody>
                    <a:bodyPr/>
                    <a:lstStyle/>
                    <a:p>
                      <a:pPr algn="ctr">
                        <a:defRPr sz="900">
                          <a:solidFill>
                            <a:srgbClr val="C8D2DC"/>
                          </a:solidFill>
                          <a:latin typeface="Calibri"/>
                        </a:defRPr>
                      </a:pPr>
                      <a:r>
                        <a:t>光钟可靠性和</a:t>
                      </a:r>
                    </a:p>
                    <a:p>
                      <a:pPr algn="ctr">
                        <a:defRPr sz="900">
                          <a:solidFill>
                            <a:srgbClr val="C8D2DC"/>
                          </a:solidFill>
                          <a:latin typeface="Calibri"/>
                        </a:defRPr>
                      </a:pPr>
                      <a:r>
                        <a:t>长期连续运行</a:t>
                      </a:r>
                    </a:p>
                  </a:txBody>
                  <a:tcPr>
                    <a:solidFill>
                      <a:srgbClr val="0B1D3A"/>
                    </a:solidFill>
                  </a:tcPr>
                </a:tc>
              </a:tr>
              <a:tr h="320040">
                <a:tc>
                  <a:txBody>
                    <a:bodyPr/>
                    <a:lstStyle/>
                    <a:p>
                      <a:pPr algn="ctr">
                        <a:defRPr sz="900">
                          <a:solidFill>
                            <a:srgbClr val="C8D2DC"/>
                          </a:solidFill>
                          <a:latin typeface="Calibri"/>
                        </a:defRPr>
                      </a:pPr>
                      <a:r>
                        <a:t>I.5</a:t>
                      </a:r>
                    </a:p>
                  </a:txBody>
                  <a:tcPr>
                    <a:solidFill>
                      <a:srgbClr val="122E52"/>
                    </a:solidFill>
                  </a:tcPr>
                </a:tc>
                <a:tc>
                  <a:txBody>
                    <a:bodyPr/>
                    <a:lstStyle/>
                    <a:p>
                      <a:pPr algn="ctr">
                        <a:defRPr sz="900">
                          <a:solidFill>
                            <a:srgbClr val="C8D2DC"/>
                          </a:solidFill>
                          <a:latin typeface="Calibri"/>
                        </a:defRPr>
                      </a:pPr>
                      <a:r>
                        <a:t>TRL &gt; 4</a:t>
                      </a:r>
                    </a:p>
                    <a:p>
                      <a:pPr algn="ctr">
                        <a:defRPr sz="900">
                          <a:solidFill>
                            <a:srgbClr val="C8D2DC"/>
                          </a:solidFill>
                          <a:latin typeface="Calibri"/>
                        </a:defRPr>
                      </a:pPr>
                      <a:r>
                        <a:t>运行 &gt; 10天</a:t>
                      </a:r>
                    </a:p>
                  </a:txBody>
                  <a:tcPr>
                    <a:solidFill>
                      <a:srgbClr val="122E52"/>
                    </a:solidFill>
                  </a:tcPr>
                </a:tc>
                <a:tc>
                  <a:txBody>
                    <a:bodyPr/>
                    <a:lstStyle/>
                    <a:p>
                      <a:pPr algn="ctr">
                        <a:defRPr sz="900">
                          <a:solidFill>
                            <a:srgbClr val="C8D2DC"/>
                          </a:solidFill>
                          <a:latin typeface="Calibri"/>
                        </a:defRPr>
                      </a:pPr>
                      <a:r>
                        <a:t>⚠️ 部分满足</a:t>
                      </a:r>
                    </a:p>
                    <a:p>
                      <a:pPr algn="ctr">
                        <a:defRPr sz="900">
                          <a:solidFill>
                            <a:srgbClr val="C8D2DC"/>
                          </a:solidFill>
                          <a:latin typeface="Calibri"/>
                        </a:defRPr>
                      </a:pPr>
                      <a:r>
                        <a:t>可搬运Sr钟已演示</a:t>
                      </a:r>
                    </a:p>
                    <a:p>
                      <a:pPr algn="ctr">
                        <a:defRPr sz="900">
                          <a:solidFill>
                            <a:srgbClr val="C8D2DC"/>
                          </a:solidFill>
                          <a:latin typeface="Calibri"/>
                        </a:defRPr>
                      </a:pPr>
                      <a:r>
                        <a:t>舰载运行为期数月</a:t>
                      </a:r>
                    </a:p>
                  </a:txBody>
                  <a:tcPr>
                    <a:solidFill>
                      <a:srgbClr val="122E52"/>
                    </a:solidFill>
                  </a:tcPr>
                </a:tc>
                <a:tc>
                  <a:txBody>
                    <a:bodyPr/>
                    <a:lstStyle/>
                    <a:p>
                      <a:pPr algn="ctr">
                        <a:defRPr sz="900">
                          <a:solidFill>
                            <a:srgbClr val="C8D2DC"/>
                          </a:solidFill>
                          <a:latin typeface="Calibri"/>
                        </a:defRPr>
                      </a:pPr>
                      <a:r>
                        <a:t>高</a:t>
                      </a:r>
                    </a:p>
                  </a:txBody>
                  <a:tcPr>
                    <a:solidFill>
                      <a:srgbClr val="122E52"/>
                    </a:solidFill>
                  </a:tcPr>
                </a:tc>
                <a:tc>
                  <a:txBody>
                    <a:bodyPr/>
                    <a:lstStyle/>
                    <a:p>
                      <a:pPr algn="ctr">
                        <a:defRPr sz="900">
                          <a:solidFill>
                            <a:srgbClr val="C8D2DC"/>
                          </a:solidFill>
                          <a:latin typeface="Calibri"/>
                        </a:defRPr>
                      </a:pPr>
                      <a:r>
                        <a:t>工程化与稳定性</a:t>
                      </a:r>
                    </a:p>
                  </a:txBody>
                  <a:tcPr>
                    <a:solidFill>
                      <a:srgbClr val="122E52"/>
                    </a:solidFill>
                  </a:tcPr>
                </a:tc>
              </a:tr>
              <a:tr h="320040">
                <a:tc>
                  <a:txBody>
                    <a:bodyPr/>
                    <a:lstStyle/>
                    <a:p>
                      <a:pPr algn="ctr">
                        <a:defRPr sz="900">
                          <a:solidFill>
                            <a:srgbClr val="C8D2DC"/>
                          </a:solidFill>
                          <a:latin typeface="Calibri"/>
                        </a:defRPr>
                      </a:pPr>
                      <a:r>
                        <a:t>II.1-5</a:t>
                      </a:r>
                    </a:p>
                  </a:txBody>
                  <a:tcPr>
                    <a:solidFill>
                      <a:srgbClr val="0B1D3A"/>
                    </a:solidFill>
                  </a:tcPr>
                </a:tc>
                <a:tc>
                  <a:txBody>
                    <a:bodyPr/>
                    <a:lstStyle/>
                    <a:p>
                      <a:pPr algn="ctr">
                        <a:defRPr sz="900">
                          <a:solidFill>
                            <a:srgbClr val="C8D2DC"/>
                          </a:solidFill>
                          <a:latin typeface="Calibri"/>
                        </a:defRPr>
                      </a:pPr>
                      <a:r>
                        <a:t>时频传递</a:t>
                      </a:r>
                    </a:p>
                    <a:p>
                      <a:pPr algn="ctr">
                        <a:defRPr sz="900">
                          <a:solidFill>
                            <a:srgbClr val="C8D2DC"/>
                          </a:solidFill>
                          <a:latin typeface="Calibri"/>
                        </a:defRPr>
                      </a:pPr>
                      <a:r>
                        <a:t>链路比对</a:t>
                      </a:r>
                    </a:p>
                  </a:txBody>
                  <a:tcPr>
                    <a:solidFill>
                      <a:srgbClr val="0B1D3A"/>
                    </a:solidFill>
                  </a:tcPr>
                </a:tc>
                <a:tc>
                  <a:txBody>
                    <a:bodyPr/>
                    <a:lstStyle/>
                    <a:p>
                      <a:pPr algn="ctr">
                        <a:defRPr sz="900">
                          <a:solidFill>
                            <a:srgbClr val="C8D2DC"/>
                          </a:solidFill>
                          <a:latin typeface="Calibri"/>
                        </a:defRPr>
                      </a:pPr>
                      <a:r>
                        <a:t>⚠️ 部分满足</a:t>
                      </a:r>
                    </a:p>
                    <a:p>
                      <a:pPr algn="ctr">
                        <a:defRPr sz="900">
                          <a:solidFill>
                            <a:srgbClr val="C8D2DC"/>
                          </a:solidFill>
                          <a:latin typeface="Calibri"/>
                        </a:defRPr>
                      </a:pPr>
                      <a:r>
                        <a:t>光纤链路已达</a:t>
                      </a:r>
                    </a:p>
                    <a:p>
                      <a:pPr algn="ctr">
                        <a:defRPr sz="900">
                          <a:solidFill>
                            <a:srgbClr val="C8D2DC"/>
                          </a:solidFill>
                          <a:latin typeface="Calibri"/>
                        </a:defRPr>
                      </a:pPr>
                      <a:r>
                        <a:t>自由空间在推进</a:t>
                      </a:r>
                    </a:p>
                  </a:txBody>
                  <a:tcPr>
                    <a:solidFill>
                      <a:srgbClr val="0B1D3A"/>
                    </a:solidFill>
                  </a:tcPr>
                </a:tc>
                <a:tc>
                  <a:txBody>
                    <a:bodyPr/>
                    <a:lstStyle/>
                    <a:p>
                      <a:pPr algn="ctr">
                        <a:defRPr sz="900">
                          <a:solidFill>
                            <a:srgbClr val="C8D2DC"/>
                          </a:solidFill>
                          <a:latin typeface="Calibri"/>
                        </a:defRPr>
                      </a:pPr>
                      <a:r>
                        <a:t>中-高</a:t>
                      </a:r>
                    </a:p>
                  </a:txBody>
                  <a:tcPr>
                    <a:solidFill>
                      <a:srgbClr val="0B1D3A"/>
                    </a:solidFill>
                  </a:tcPr>
                </a:tc>
                <a:tc>
                  <a:txBody>
                    <a:bodyPr/>
                    <a:lstStyle/>
                    <a:p>
                      <a:pPr algn="ctr">
                        <a:defRPr sz="900">
                          <a:solidFill>
                            <a:srgbClr val="C8D2DC"/>
                          </a:solidFill>
                          <a:latin typeface="Calibri"/>
                        </a:defRPr>
                      </a:pPr>
                      <a:r>
                        <a:t>大地水准面精度</a:t>
                      </a:r>
                    </a:p>
                    <a:p>
                      <a:pPr algn="ctr">
                        <a:defRPr sz="900">
                          <a:solidFill>
                            <a:srgbClr val="C8D2DC"/>
                          </a:solidFill>
                          <a:latin typeface="Calibri"/>
                        </a:defRPr>
                      </a:pPr>
                      <a:r>
                        <a:t>远程自由空间链路</a:t>
                      </a:r>
                    </a:p>
                  </a:txBody>
                  <a:tcPr>
                    <a:solidFill>
                      <a:srgbClr val="0B1D3A"/>
                    </a:solidFill>
                  </a:tcPr>
                </a:tc>
              </a:tr>
            </a:tbl>
          </a:graphicData>
        </a:graphic>
      </p:graphicFrame>
      <p:sp>
        <p:nvSpPr>
          <p:cNvPr id="7" name="TextBox 6"/>
          <p:cNvSpPr txBox="1"/>
          <p:nvPr/>
        </p:nvSpPr>
        <p:spPr>
          <a:xfrm>
            <a:off x="457200" y="6217920"/>
            <a:ext cx="10972800" cy="457200"/>
          </a:xfrm>
          <a:prstGeom prst="rect">
            <a:avLst/>
          </a:prstGeom>
          <a:noFill/>
        </p:spPr>
        <p:txBody>
          <a:bodyPr wrap="square">
            <a:spAutoFit/>
          </a:bodyPr>
          <a:lstStyle/>
          <a:p>
            <a:pPr algn="l">
              <a:defRPr sz="1000" b="0">
                <a:solidFill>
                  <a:srgbClr val="94A3B8"/>
                </a:solidFill>
                <a:latin typeface="Calibri"/>
              </a:defRPr>
            </a:pPr>
            <a:r>
              <a:t>来源：CCTF 2025 Meeting Summary; Gertsvolf presentation (2025); BIPM FAQ on redefinition-second</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主要光学频率标准类型</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光晶格钟 · 单离子钟 · 核光钟</a:t>
            </a:r>
          </a:p>
        </p:txBody>
      </p:sp>
      <p:sp>
        <p:nvSpPr>
          <p:cNvPr id="6" name="Rectangle 5"/>
          <p:cNvSpPr/>
          <p:nvPr/>
        </p:nvSpPr>
        <p:spPr>
          <a:xfrm>
            <a:off x="274320" y="1645920"/>
            <a:ext cx="2148840" cy="914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783080"/>
            <a:ext cx="1965960" cy="640080"/>
          </a:xfrm>
          <a:prstGeom prst="rect">
            <a:avLst/>
          </a:prstGeom>
          <a:noFill/>
        </p:spPr>
        <p:txBody>
          <a:bodyPr wrap="square">
            <a:spAutoFit/>
          </a:bodyPr>
          <a:lstStyle/>
          <a:p>
            <a:pPr algn="ctr">
              <a:defRPr sz="2000" b="1">
                <a:solidFill>
                  <a:srgbClr val="FFFFFF"/>
                </a:solidFill>
                <a:latin typeface="Microsoft YaHei"/>
              </a:defRPr>
            </a:pPr>
            <a:r>
              <a:t>⁸⁷Sr 光晶格钟</a:t>
            </a:r>
          </a:p>
        </p:txBody>
      </p:sp>
      <p:sp>
        <p:nvSpPr>
          <p:cNvPr id="8" name="Rectangle 7"/>
          <p:cNvSpPr/>
          <p:nvPr/>
        </p:nvSpPr>
        <p:spPr>
          <a:xfrm>
            <a:off x="274320" y="2560320"/>
            <a:ext cx="2148840" cy="39319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2743200"/>
            <a:ext cx="1874520" cy="3474720"/>
          </a:xfrm>
          <a:prstGeom prst="rect">
            <a:avLst/>
          </a:prstGeom>
          <a:noFill/>
        </p:spPr>
        <p:txBody>
          <a:bodyPr wrap="square">
            <a:spAutoFit/>
          </a:bodyPr>
          <a:lstStyle/>
          <a:p>
            <a:pPr algn="l">
              <a:lnSpc>
                <a:spcPts val="1920"/>
              </a:lnSpc>
              <a:spcAft>
                <a:spcPts val="400"/>
              </a:spcAft>
              <a:defRPr sz="1600" b="1">
                <a:solidFill>
                  <a:srgbClr val="3B82F6"/>
                </a:solidFill>
                <a:latin typeface="Microsoft YaHei"/>
              </a:defRPr>
            </a:pPr>
            <a:r>
              <a:t>429 THz</a:t>
            </a:r>
            <a:br/>
            <a:r>
              <a:t>(698 nm)</a:t>
            </a:r>
          </a:p>
          <a:p>
            <a:pPr algn="l">
              <a:lnSpc>
                <a:spcPts val="480"/>
              </a:lnSpc>
              <a:spcAft>
                <a:spcPts val="400"/>
              </a:spcAft>
              <a:defRPr sz="400" b="0">
                <a:solidFill>
                  <a:srgbClr val="FFFFFF"/>
                </a:solidFill>
                <a:latin typeface="Microsoft YaHei"/>
              </a:defRPr>
            </a:pPr>
          </a:p>
          <a:p>
            <a:pPr algn="l">
              <a:lnSpc>
                <a:spcPts val="1680"/>
              </a:lnSpc>
              <a:spcAft>
                <a:spcPts val="400"/>
              </a:spcAft>
              <a:defRPr sz="1400" b="1">
                <a:solidFill>
                  <a:srgbClr val="C8D2DC"/>
                </a:solidFill>
                <a:latin typeface="Microsoft YaHei"/>
              </a:defRPr>
            </a:pPr>
            <a:r>
              <a:t>不确定度记录:</a:t>
            </a:r>
          </a:p>
          <a:p>
            <a:pPr algn="l">
              <a:lnSpc>
                <a:spcPts val="1560"/>
              </a:lnSpc>
              <a:spcAft>
                <a:spcPts val="400"/>
              </a:spcAft>
              <a:defRPr sz="1300" b="0">
                <a:solidFill>
                  <a:srgbClr val="94A3B8"/>
                </a:solidFill>
                <a:latin typeface="Microsoft YaHei"/>
              </a:defRPr>
            </a:pPr>
            <a:r>
              <a:t>JILA: 8×10⁻¹⁹</a:t>
            </a:r>
            <a:br/>
            <a:r>
              <a:t>NTSC: 4.8×10⁻¹⁸</a:t>
            </a:r>
            <a:br/>
            <a:r>
              <a:t>NMIJ: 1.1×10⁻¹⁶</a:t>
            </a:r>
          </a:p>
          <a:p>
            <a:pPr algn="l">
              <a:lnSpc>
                <a:spcPts val="480"/>
              </a:lnSpc>
              <a:spcAft>
                <a:spcPts val="400"/>
              </a:spcAft>
              <a:defRPr sz="400" b="0">
                <a:solidFill>
                  <a:srgbClr val="FFFFFF"/>
                </a:solidFill>
                <a:latin typeface="Microsoft YaHei"/>
              </a:defRPr>
            </a:pPr>
          </a:p>
          <a:p>
            <a:pPr algn="l">
              <a:lnSpc>
                <a:spcPts val="1439"/>
              </a:lnSpc>
              <a:spcAft>
                <a:spcPts val="400"/>
              </a:spcAft>
              <a:defRPr sz="1200" b="0">
                <a:solidFill>
                  <a:srgbClr val="94A3B8"/>
                </a:solidFill>
                <a:latin typeface="Microsoft YaHei"/>
              </a:defRPr>
            </a:pPr>
            <a:r>
              <a:t>Sr-87</a:t>
            </a:r>
            <a:br/>
            <a:r>
              <a:t>光晶格</a:t>
            </a:r>
          </a:p>
        </p:txBody>
      </p:sp>
      <p:sp>
        <p:nvSpPr>
          <p:cNvPr id="10" name="Rectangle 9"/>
          <p:cNvSpPr/>
          <p:nvPr/>
        </p:nvSpPr>
        <p:spPr>
          <a:xfrm>
            <a:off x="2606039" y="1645920"/>
            <a:ext cx="2148840" cy="914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7479" y="1783080"/>
            <a:ext cx="1965960" cy="640080"/>
          </a:xfrm>
          <a:prstGeom prst="rect">
            <a:avLst/>
          </a:prstGeom>
          <a:noFill/>
        </p:spPr>
        <p:txBody>
          <a:bodyPr wrap="square">
            <a:spAutoFit/>
          </a:bodyPr>
          <a:lstStyle/>
          <a:p>
            <a:pPr algn="ctr">
              <a:defRPr sz="2000" b="1">
                <a:solidFill>
                  <a:srgbClr val="FFFFFF"/>
                </a:solidFill>
                <a:latin typeface="Microsoft YaHei"/>
              </a:defRPr>
            </a:pPr>
            <a:r>
              <a:t>¹⁷¹Yb 光晶格钟</a:t>
            </a:r>
          </a:p>
        </p:txBody>
      </p:sp>
      <p:sp>
        <p:nvSpPr>
          <p:cNvPr id="12" name="Rectangle 11"/>
          <p:cNvSpPr/>
          <p:nvPr/>
        </p:nvSpPr>
        <p:spPr>
          <a:xfrm>
            <a:off x="2606039" y="2560320"/>
            <a:ext cx="2148840" cy="39319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199" y="2743200"/>
            <a:ext cx="1874520" cy="3474720"/>
          </a:xfrm>
          <a:prstGeom prst="rect">
            <a:avLst/>
          </a:prstGeom>
          <a:noFill/>
        </p:spPr>
        <p:txBody>
          <a:bodyPr wrap="square">
            <a:spAutoFit/>
          </a:bodyPr>
          <a:lstStyle/>
          <a:p>
            <a:pPr algn="l">
              <a:lnSpc>
                <a:spcPts val="1920"/>
              </a:lnSpc>
              <a:spcAft>
                <a:spcPts val="400"/>
              </a:spcAft>
              <a:defRPr sz="1600" b="1">
                <a:solidFill>
                  <a:srgbClr val="14B8A6"/>
                </a:solidFill>
                <a:latin typeface="Microsoft YaHei"/>
              </a:defRPr>
            </a:pPr>
            <a:r>
              <a:t>518 THz</a:t>
            </a:r>
            <a:br/>
            <a:r>
              <a:t>(578 nm)</a:t>
            </a:r>
          </a:p>
          <a:p>
            <a:pPr algn="l">
              <a:lnSpc>
                <a:spcPts val="480"/>
              </a:lnSpc>
              <a:spcAft>
                <a:spcPts val="400"/>
              </a:spcAft>
              <a:defRPr sz="400" b="0">
                <a:solidFill>
                  <a:srgbClr val="FFFFFF"/>
                </a:solidFill>
                <a:latin typeface="Microsoft YaHei"/>
              </a:defRPr>
            </a:pPr>
          </a:p>
          <a:p>
            <a:pPr algn="l">
              <a:lnSpc>
                <a:spcPts val="1680"/>
              </a:lnSpc>
              <a:spcAft>
                <a:spcPts val="400"/>
              </a:spcAft>
              <a:defRPr sz="1400" b="1">
                <a:solidFill>
                  <a:srgbClr val="C8D2DC"/>
                </a:solidFill>
                <a:latin typeface="Microsoft YaHei"/>
              </a:defRPr>
            </a:pPr>
            <a:r>
              <a:t>不确定度记录:</a:t>
            </a:r>
          </a:p>
          <a:p>
            <a:pPr algn="l">
              <a:lnSpc>
                <a:spcPts val="1560"/>
              </a:lnSpc>
              <a:spcAft>
                <a:spcPts val="400"/>
              </a:spcAft>
              <a:defRPr sz="1300" b="0">
                <a:solidFill>
                  <a:srgbClr val="94A3B8"/>
                </a:solidFill>
                <a:latin typeface="Microsoft YaHei"/>
              </a:defRPr>
            </a:pPr>
            <a:r>
              <a:t>NIST: ~1×10⁻¹⁸</a:t>
            </a:r>
            <a:br/>
            <a:r>
              <a:t>NMIJ: 4×10⁻¹⁶</a:t>
            </a:r>
            <a:br/>
            <a:r>
              <a:t>KRISS: ~10⁻¹⁷</a:t>
            </a:r>
          </a:p>
          <a:p>
            <a:pPr algn="l">
              <a:lnSpc>
                <a:spcPts val="480"/>
              </a:lnSpc>
              <a:spcAft>
                <a:spcPts val="400"/>
              </a:spcAft>
              <a:defRPr sz="400" b="0">
                <a:solidFill>
                  <a:srgbClr val="FFFFFF"/>
                </a:solidFill>
                <a:latin typeface="Microsoft YaHei"/>
              </a:defRPr>
            </a:pPr>
          </a:p>
          <a:p>
            <a:pPr algn="l">
              <a:lnSpc>
                <a:spcPts val="1439"/>
              </a:lnSpc>
              <a:spcAft>
                <a:spcPts val="400"/>
              </a:spcAft>
              <a:defRPr sz="1200" b="0">
                <a:solidFill>
                  <a:srgbClr val="94A3B8"/>
                </a:solidFill>
                <a:latin typeface="Microsoft YaHei"/>
              </a:defRPr>
            </a:pPr>
            <a:r>
              <a:t>Yb-171</a:t>
            </a:r>
            <a:br/>
            <a:r>
              <a:t>光晶格</a:t>
            </a:r>
          </a:p>
        </p:txBody>
      </p:sp>
      <p:sp>
        <p:nvSpPr>
          <p:cNvPr id="14" name="Rectangle 13"/>
          <p:cNvSpPr/>
          <p:nvPr/>
        </p:nvSpPr>
        <p:spPr>
          <a:xfrm>
            <a:off x="4937759" y="1645920"/>
            <a:ext cx="2148840" cy="914400"/>
          </a:xfrm>
          <a:prstGeom prst="rect">
            <a:avLst/>
          </a:prstGeom>
          <a:solidFill>
            <a:srgbClr val="FC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199" y="1783080"/>
            <a:ext cx="1965960" cy="640080"/>
          </a:xfrm>
          <a:prstGeom prst="rect">
            <a:avLst/>
          </a:prstGeom>
          <a:noFill/>
        </p:spPr>
        <p:txBody>
          <a:bodyPr wrap="square">
            <a:spAutoFit/>
          </a:bodyPr>
          <a:lstStyle/>
          <a:p>
            <a:pPr algn="ctr">
              <a:defRPr sz="2000" b="1">
                <a:solidFill>
                  <a:srgbClr val="FFFFFF"/>
                </a:solidFill>
                <a:latin typeface="Microsoft YaHei"/>
              </a:defRPr>
            </a:pPr>
            <a:r>
              <a:t>²⁷Al⁺ 量子逻辑钟</a:t>
            </a:r>
          </a:p>
        </p:txBody>
      </p:sp>
      <p:sp>
        <p:nvSpPr>
          <p:cNvPr id="16" name="Rectangle 15"/>
          <p:cNvSpPr/>
          <p:nvPr/>
        </p:nvSpPr>
        <p:spPr>
          <a:xfrm>
            <a:off x="4937759" y="2560320"/>
            <a:ext cx="2148840" cy="39319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19" y="2743200"/>
            <a:ext cx="1874520" cy="3474720"/>
          </a:xfrm>
          <a:prstGeom prst="rect">
            <a:avLst/>
          </a:prstGeom>
          <a:noFill/>
        </p:spPr>
        <p:txBody>
          <a:bodyPr wrap="square">
            <a:spAutoFit/>
          </a:bodyPr>
          <a:lstStyle/>
          <a:p>
            <a:pPr algn="l">
              <a:lnSpc>
                <a:spcPts val="1920"/>
              </a:lnSpc>
              <a:spcAft>
                <a:spcPts val="400"/>
              </a:spcAft>
              <a:defRPr sz="1600" b="1">
                <a:solidFill>
                  <a:srgbClr val="FCCC00"/>
                </a:solidFill>
                <a:latin typeface="Microsoft YaHei"/>
              </a:defRPr>
            </a:pPr>
            <a:r>
              <a:t>1121 THz</a:t>
            </a:r>
            <a:br/>
            <a:r>
              <a:t>(267 nm)</a:t>
            </a:r>
          </a:p>
          <a:p>
            <a:pPr algn="l">
              <a:lnSpc>
                <a:spcPts val="480"/>
              </a:lnSpc>
              <a:spcAft>
                <a:spcPts val="400"/>
              </a:spcAft>
              <a:defRPr sz="400" b="0">
                <a:solidFill>
                  <a:srgbClr val="FFFFFF"/>
                </a:solidFill>
                <a:latin typeface="Microsoft YaHei"/>
              </a:defRPr>
            </a:pPr>
          </a:p>
          <a:p>
            <a:pPr algn="l">
              <a:lnSpc>
                <a:spcPts val="1680"/>
              </a:lnSpc>
              <a:spcAft>
                <a:spcPts val="400"/>
              </a:spcAft>
              <a:defRPr sz="1400" b="1">
                <a:solidFill>
                  <a:srgbClr val="C8D2DC"/>
                </a:solidFill>
                <a:latin typeface="Microsoft YaHei"/>
              </a:defRPr>
            </a:pPr>
            <a:r>
              <a:t>不确定度记录:</a:t>
            </a:r>
          </a:p>
          <a:p>
            <a:pPr algn="l">
              <a:lnSpc>
                <a:spcPts val="1560"/>
              </a:lnSpc>
              <a:spcAft>
                <a:spcPts val="400"/>
              </a:spcAft>
              <a:defRPr sz="1300" b="0">
                <a:solidFill>
                  <a:srgbClr val="94A3B8"/>
                </a:solidFill>
                <a:latin typeface="Microsoft YaHei"/>
              </a:defRPr>
            </a:pPr>
            <a:r>
              <a:t>NIST: 5.5×10⁻¹⁹</a:t>
            </a:r>
            <a:br/>
            <a:r>
              <a:t>(当前最佳)</a:t>
            </a:r>
          </a:p>
          <a:p>
            <a:pPr algn="l">
              <a:lnSpc>
                <a:spcPts val="480"/>
              </a:lnSpc>
              <a:spcAft>
                <a:spcPts val="400"/>
              </a:spcAft>
              <a:defRPr sz="400" b="0">
                <a:solidFill>
                  <a:srgbClr val="FFFFFF"/>
                </a:solidFill>
                <a:latin typeface="Microsoft YaHei"/>
              </a:defRPr>
            </a:pPr>
          </a:p>
          <a:p>
            <a:pPr algn="l">
              <a:lnSpc>
                <a:spcPts val="1439"/>
              </a:lnSpc>
              <a:spcAft>
                <a:spcPts val="400"/>
              </a:spcAft>
              <a:defRPr sz="1200" b="0">
                <a:solidFill>
                  <a:srgbClr val="94A3B8"/>
                </a:solidFill>
                <a:latin typeface="Microsoft YaHei"/>
              </a:defRPr>
            </a:pPr>
            <a:r>
              <a:t>Al+-27</a:t>
            </a:r>
            <a:br/>
            <a:r>
              <a:t>离子阱</a:t>
            </a:r>
          </a:p>
        </p:txBody>
      </p:sp>
      <p:sp>
        <p:nvSpPr>
          <p:cNvPr id="18" name="Rectangle 17"/>
          <p:cNvSpPr/>
          <p:nvPr/>
        </p:nvSpPr>
        <p:spPr>
          <a:xfrm>
            <a:off x="7269479" y="1645920"/>
            <a:ext cx="2148840" cy="914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0919" y="1783080"/>
            <a:ext cx="1965960" cy="640080"/>
          </a:xfrm>
          <a:prstGeom prst="rect">
            <a:avLst/>
          </a:prstGeom>
          <a:noFill/>
        </p:spPr>
        <p:txBody>
          <a:bodyPr wrap="square">
            <a:spAutoFit/>
          </a:bodyPr>
          <a:lstStyle/>
          <a:p>
            <a:pPr algn="ctr">
              <a:defRPr sz="2000" b="1">
                <a:solidFill>
                  <a:srgbClr val="FFFFFF"/>
                </a:solidFill>
                <a:latin typeface="Microsoft YaHei"/>
              </a:defRPr>
            </a:pPr>
            <a:r>
              <a:t>¹⁷¹Yb⁺ E3 光钟</a:t>
            </a:r>
          </a:p>
        </p:txBody>
      </p:sp>
      <p:sp>
        <p:nvSpPr>
          <p:cNvPr id="20" name="Rectangle 19"/>
          <p:cNvSpPr/>
          <p:nvPr/>
        </p:nvSpPr>
        <p:spPr>
          <a:xfrm>
            <a:off x="7269479" y="2560320"/>
            <a:ext cx="2148840" cy="39319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39" y="2743200"/>
            <a:ext cx="1874520" cy="3474720"/>
          </a:xfrm>
          <a:prstGeom prst="rect">
            <a:avLst/>
          </a:prstGeom>
          <a:noFill/>
        </p:spPr>
        <p:txBody>
          <a:bodyPr wrap="square">
            <a:spAutoFit/>
          </a:bodyPr>
          <a:lstStyle/>
          <a:p>
            <a:pPr algn="l">
              <a:lnSpc>
                <a:spcPts val="1920"/>
              </a:lnSpc>
              <a:spcAft>
                <a:spcPts val="400"/>
              </a:spcAft>
              <a:defRPr sz="1600" b="1">
                <a:solidFill>
                  <a:srgbClr val="F59E0B"/>
                </a:solidFill>
                <a:latin typeface="Microsoft YaHei"/>
              </a:defRPr>
            </a:pPr>
            <a:r>
              <a:t>642 THz</a:t>
            </a:r>
            <a:br/>
            <a:r>
              <a:t>(467 nm)</a:t>
            </a:r>
          </a:p>
          <a:p>
            <a:pPr algn="l">
              <a:lnSpc>
                <a:spcPts val="480"/>
              </a:lnSpc>
              <a:spcAft>
                <a:spcPts val="400"/>
              </a:spcAft>
              <a:defRPr sz="400" b="0">
                <a:solidFill>
                  <a:srgbClr val="FFFFFF"/>
                </a:solidFill>
                <a:latin typeface="Microsoft YaHei"/>
              </a:defRPr>
            </a:pPr>
          </a:p>
          <a:p>
            <a:pPr algn="l">
              <a:lnSpc>
                <a:spcPts val="1680"/>
              </a:lnSpc>
              <a:spcAft>
                <a:spcPts val="400"/>
              </a:spcAft>
              <a:defRPr sz="1400" b="1">
                <a:solidFill>
                  <a:srgbClr val="C8D2DC"/>
                </a:solidFill>
                <a:latin typeface="Microsoft YaHei"/>
              </a:defRPr>
            </a:pPr>
            <a:r>
              <a:t>不确定度记录:</a:t>
            </a:r>
          </a:p>
          <a:p>
            <a:pPr algn="l">
              <a:lnSpc>
                <a:spcPts val="1560"/>
              </a:lnSpc>
              <a:spcAft>
                <a:spcPts val="400"/>
              </a:spcAft>
              <a:defRPr sz="1300" b="0">
                <a:solidFill>
                  <a:srgbClr val="94A3B8"/>
                </a:solidFill>
                <a:latin typeface="Microsoft YaHei"/>
              </a:defRPr>
            </a:pPr>
            <a:r>
              <a:t>PTB: ~3×10⁻¹⁸</a:t>
            </a:r>
            <a:br/>
            <a:r>
              <a:t>(E3八极跃迁)</a:t>
            </a:r>
          </a:p>
          <a:p>
            <a:pPr algn="l">
              <a:lnSpc>
                <a:spcPts val="480"/>
              </a:lnSpc>
              <a:spcAft>
                <a:spcPts val="400"/>
              </a:spcAft>
              <a:defRPr sz="400" b="0">
                <a:solidFill>
                  <a:srgbClr val="FFFFFF"/>
                </a:solidFill>
                <a:latin typeface="Microsoft YaHei"/>
              </a:defRPr>
            </a:pPr>
          </a:p>
          <a:p>
            <a:pPr algn="l">
              <a:lnSpc>
                <a:spcPts val="1439"/>
              </a:lnSpc>
              <a:spcAft>
                <a:spcPts val="400"/>
              </a:spcAft>
              <a:defRPr sz="1200" b="0">
                <a:solidFill>
                  <a:srgbClr val="94A3B8"/>
                </a:solidFill>
                <a:latin typeface="Microsoft YaHei"/>
              </a:defRPr>
            </a:pPr>
            <a:r>
              <a:t>Yb+-171</a:t>
            </a:r>
            <a:br/>
            <a:r>
              <a:t>单离子</a:t>
            </a:r>
          </a:p>
        </p:txBody>
      </p:sp>
      <p:sp>
        <p:nvSpPr>
          <p:cNvPr id="22" name="Rectangle 21"/>
          <p:cNvSpPr/>
          <p:nvPr/>
        </p:nvSpPr>
        <p:spPr>
          <a:xfrm>
            <a:off x="9601200" y="1645920"/>
            <a:ext cx="2148840" cy="9144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0" y="1783080"/>
            <a:ext cx="1965960" cy="640080"/>
          </a:xfrm>
          <a:prstGeom prst="rect">
            <a:avLst/>
          </a:prstGeom>
          <a:noFill/>
        </p:spPr>
        <p:txBody>
          <a:bodyPr wrap="square">
            <a:spAutoFit/>
          </a:bodyPr>
          <a:lstStyle/>
          <a:p>
            <a:pPr algn="ctr">
              <a:defRPr sz="2000" b="1">
                <a:solidFill>
                  <a:srgbClr val="FFFFFF"/>
                </a:solidFill>
                <a:latin typeface="Microsoft YaHei"/>
              </a:defRPr>
            </a:pPr>
            <a:r>
              <a:t>²²⁹Th 核光钟</a:t>
            </a:r>
          </a:p>
        </p:txBody>
      </p:sp>
      <p:sp>
        <p:nvSpPr>
          <p:cNvPr id="24" name="Rectangle 23"/>
          <p:cNvSpPr/>
          <p:nvPr/>
        </p:nvSpPr>
        <p:spPr>
          <a:xfrm>
            <a:off x="9601200" y="2560320"/>
            <a:ext cx="2148840" cy="39319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38360" y="2743200"/>
            <a:ext cx="1874520" cy="3474720"/>
          </a:xfrm>
          <a:prstGeom prst="rect">
            <a:avLst/>
          </a:prstGeom>
          <a:noFill/>
        </p:spPr>
        <p:txBody>
          <a:bodyPr wrap="square">
            <a:spAutoFit/>
          </a:bodyPr>
          <a:lstStyle/>
          <a:p>
            <a:pPr algn="l">
              <a:lnSpc>
                <a:spcPts val="1920"/>
              </a:lnSpc>
              <a:spcAft>
                <a:spcPts val="400"/>
              </a:spcAft>
              <a:defRPr sz="1600" b="1">
                <a:solidFill>
                  <a:srgbClr val="EF4444"/>
                </a:solidFill>
                <a:latin typeface="Microsoft YaHei"/>
              </a:defRPr>
            </a:pPr>
            <a:r>
              <a:t>~2020 THz</a:t>
            </a:r>
            <a:br/>
            <a:r>
              <a:t>(~148 nm, VUV)</a:t>
            </a:r>
          </a:p>
          <a:p>
            <a:pPr algn="l">
              <a:lnSpc>
                <a:spcPts val="480"/>
              </a:lnSpc>
              <a:spcAft>
                <a:spcPts val="400"/>
              </a:spcAft>
              <a:defRPr sz="400" b="0">
                <a:solidFill>
                  <a:srgbClr val="FFFFFF"/>
                </a:solidFill>
                <a:latin typeface="Microsoft YaHei"/>
              </a:defRPr>
            </a:pPr>
          </a:p>
          <a:p>
            <a:pPr algn="l">
              <a:lnSpc>
                <a:spcPts val="1680"/>
              </a:lnSpc>
              <a:spcAft>
                <a:spcPts val="400"/>
              </a:spcAft>
              <a:defRPr sz="1400" b="1">
                <a:solidFill>
                  <a:srgbClr val="C8D2DC"/>
                </a:solidFill>
                <a:latin typeface="Microsoft YaHei"/>
              </a:defRPr>
            </a:pPr>
            <a:r>
              <a:t>不确定度记录:</a:t>
            </a:r>
          </a:p>
          <a:p>
            <a:pPr algn="l">
              <a:lnSpc>
                <a:spcPts val="1560"/>
              </a:lnSpc>
              <a:spcAft>
                <a:spcPts val="400"/>
              </a:spcAft>
              <a:defRPr sz="1300" b="0">
                <a:solidFill>
                  <a:srgbClr val="94A3B8"/>
                </a:solidFill>
                <a:latin typeface="Microsoft YaHei"/>
              </a:defRPr>
            </a:pPr>
            <a:r>
              <a:t>JILA 2024:</a:t>
            </a:r>
            <a:br/>
            <a:r>
              <a:t>首次核跃迁激发</a:t>
            </a:r>
            <a:br/>
            <a:r>
              <a:t>(概念验证)</a:t>
            </a:r>
          </a:p>
          <a:p>
            <a:pPr algn="l">
              <a:lnSpc>
                <a:spcPts val="480"/>
              </a:lnSpc>
              <a:spcAft>
                <a:spcPts val="400"/>
              </a:spcAft>
              <a:defRPr sz="400" b="0">
                <a:solidFill>
                  <a:srgbClr val="FFFFFF"/>
                </a:solidFill>
                <a:latin typeface="Microsoft YaHei"/>
              </a:defRPr>
            </a:pPr>
          </a:p>
          <a:p>
            <a:pPr algn="l">
              <a:lnSpc>
                <a:spcPts val="1439"/>
              </a:lnSpc>
              <a:spcAft>
                <a:spcPts val="400"/>
              </a:spcAft>
              <a:defRPr sz="1200" b="0">
                <a:solidFill>
                  <a:srgbClr val="94A3B8"/>
                </a:solidFill>
                <a:latin typeface="Microsoft YaHei"/>
              </a:defRPr>
            </a:pPr>
            <a:r>
              <a:t>Th-229</a:t>
            </a:r>
            <a:br/>
            <a:r>
              <a:t>核跃迁</a:t>
            </a:r>
          </a:p>
        </p:txBody>
      </p:sp>
      <p:sp>
        <p:nvSpPr>
          <p:cNvPr id="26" name="TextBox 25"/>
          <p:cNvSpPr txBox="1"/>
          <p:nvPr/>
        </p:nvSpPr>
        <p:spPr>
          <a:xfrm>
            <a:off x="457200" y="6217920"/>
            <a:ext cx="10972800" cy="457200"/>
          </a:xfrm>
          <a:prstGeom prst="rect">
            <a:avLst/>
          </a:prstGeom>
          <a:noFill/>
        </p:spPr>
        <p:txBody>
          <a:bodyPr wrap="square">
            <a:spAutoFit/>
          </a:bodyPr>
          <a:lstStyle/>
          <a:p>
            <a:pPr algn="l">
              <a:defRPr sz="1000" b="0">
                <a:solidFill>
                  <a:srgbClr val="94A3B8"/>
                </a:solidFill>
                <a:latin typeface="Calibri"/>
              </a:defRPr>
            </a:pPr>
            <a:r>
              <a:t>来源：sci-logic-kb; Aeppli et al. (2024); Fortier et al. (2026); Zhang et al. (2024, Th nuclear); Li et al. (2024, NTSC)</a:t>
            </a:r>
          </a:p>
        </p:txBody>
      </p:sp>
      <p:sp>
        <p:nvSpPr>
          <p:cNvPr id="27" name="TextBox 26"/>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光钟不确定度进化史</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从10⁻¹⁴到10⁻¹⁹的三十年和关键的比对实验</a:t>
            </a:r>
          </a:p>
        </p:txBody>
      </p:sp>
      <p:graphicFrame>
        <p:nvGraphicFramePr>
          <p:cNvPr id="6" name="Table 5"/>
          <p:cNvGraphicFramePr>
            <a:graphicFrameLocks noGrp="1"/>
          </p:cNvGraphicFramePr>
          <p:nvPr/>
        </p:nvGraphicFramePr>
        <p:xfrm>
          <a:off x="457200" y="1828800"/>
          <a:ext cx="11247120" cy="2880360"/>
        </p:xfrm>
        <a:graphic>
          <a:graphicData uri="http://schemas.openxmlformats.org/drawingml/2006/table">
            <a:tbl>
              <a:tblPr firstRow="1" bandRow="1">
                <a:tableStyleId>{5C22544A-7EE6-4342-B048-85BDC9FD1C3A}</a:tableStyleId>
              </a:tblPr>
              <a:tblGrid>
                <a:gridCol w="1371600"/>
                <a:gridCol w="1645920"/>
                <a:gridCol w="1828800"/>
                <a:gridCol w="2926080"/>
                <a:gridCol w="3474720"/>
              </a:tblGrid>
              <a:tr h="320040">
                <a:tc>
                  <a:txBody>
                    <a:bodyPr/>
                    <a:lstStyle/>
                    <a:p>
                      <a:pPr algn="ctr">
                        <a:defRPr sz="1100" b="1">
                          <a:solidFill>
                            <a:srgbClr val="FFFFFF"/>
                          </a:solidFill>
                          <a:latin typeface="Calibri"/>
                        </a:defRPr>
                      </a:pPr>
                      <a:r>
                        <a:t>年份</a:t>
                      </a:r>
                    </a:p>
                  </a:txBody>
                  <a:tcPr>
                    <a:solidFill>
                      <a:srgbClr val="122E52"/>
                    </a:solidFill>
                  </a:tcPr>
                </a:tc>
                <a:tc>
                  <a:txBody>
                    <a:bodyPr/>
                    <a:lstStyle/>
                    <a:p>
                      <a:pPr algn="ctr">
                        <a:defRPr sz="1100" b="1">
                          <a:solidFill>
                            <a:srgbClr val="FFFFFF"/>
                          </a:solidFill>
                          <a:latin typeface="Calibri"/>
                        </a:defRPr>
                      </a:pPr>
                      <a:r>
                        <a:t>光钟类型</a:t>
                      </a:r>
                    </a:p>
                  </a:txBody>
                  <a:tcPr>
                    <a:solidFill>
                      <a:srgbClr val="122E52"/>
                    </a:solidFill>
                  </a:tcPr>
                </a:tc>
                <a:tc>
                  <a:txBody>
                    <a:bodyPr/>
                    <a:lstStyle/>
                    <a:p>
                      <a:pPr algn="ctr">
                        <a:defRPr sz="1100" b="1">
                          <a:solidFill>
                            <a:srgbClr val="FFFFFF"/>
                          </a:solidFill>
                          <a:latin typeface="Calibri"/>
                        </a:defRPr>
                      </a:pPr>
                      <a:r>
                        <a:t>实验室</a:t>
                      </a:r>
                    </a:p>
                  </a:txBody>
                  <a:tcPr>
                    <a:solidFill>
                      <a:srgbClr val="122E52"/>
                    </a:solidFill>
                  </a:tcPr>
                </a:tc>
                <a:tc>
                  <a:txBody>
                    <a:bodyPr/>
                    <a:lstStyle/>
                    <a:p>
                      <a:pPr algn="ctr">
                        <a:defRPr sz="1100" b="1">
                          <a:solidFill>
                            <a:srgbClr val="FFFFFF"/>
                          </a:solidFill>
                          <a:latin typeface="Calibri"/>
                        </a:defRPr>
                      </a:pPr>
                      <a:r>
                        <a:t>系统不确定度</a:t>
                      </a:r>
                    </a:p>
                  </a:txBody>
                  <a:tcPr>
                    <a:solidFill>
                      <a:srgbClr val="122E52"/>
                    </a:solidFill>
                  </a:tcPr>
                </a:tc>
                <a:tc>
                  <a:txBody>
                    <a:bodyPr/>
                    <a:lstStyle/>
                    <a:p>
                      <a:pPr algn="ctr">
                        <a:defRPr sz="1100" b="1">
                          <a:solidFill>
                            <a:srgbClr val="FFFFFF"/>
                          </a:solidFill>
                          <a:latin typeface="Calibri"/>
                        </a:defRPr>
                      </a:pPr>
                      <a:r>
                        <a:t>关键意义</a:t>
                      </a:r>
                    </a:p>
                  </a:txBody>
                  <a:tcPr>
                    <a:solidFill>
                      <a:srgbClr val="122E52"/>
                    </a:solidFill>
                  </a:tcPr>
                </a:tc>
              </a:tr>
              <a:tr h="320040">
                <a:tc>
                  <a:txBody>
                    <a:bodyPr/>
                    <a:lstStyle/>
                    <a:p>
                      <a:pPr algn="ctr">
                        <a:defRPr sz="900">
                          <a:solidFill>
                            <a:srgbClr val="C8D2DC"/>
                          </a:solidFill>
                          <a:latin typeface="Calibri"/>
                        </a:defRPr>
                      </a:pPr>
                      <a:r>
                        <a:t>2008</a:t>
                      </a:r>
                    </a:p>
                  </a:txBody>
                  <a:tcPr>
                    <a:solidFill>
                      <a:srgbClr val="122E52"/>
                    </a:solidFill>
                  </a:tcPr>
                </a:tc>
                <a:tc>
                  <a:txBody>
                    <a:bodyPr/>
                    <a:lstStyle/>
                    <a:p>
                      <a:pPr algn="ctr">
                        <a:defRPr sz="900">
                          <a:solidFill>
                            <a:srgbClr val="C8D2DC"/>
                          </a:solidFill>
                          <a:latin typeface="Calibri"/>
                        </a:defRPr>
                      </a:pPr>
                      <a:r>
                        <a:t>²⁷Al⁺ 量子逻辑</a:t>
                      </a:r>
                    </a:p>
                  </a:txBody>
                  <a:tcPr>
                    <a:solidFill>
                      <a:srgbClr val="122E52"/>
                    </a:solidFill>
                  </a:tcPr>
                </a:tc>
                <a:tc>
                  <a:txBody>
                    <a:bodyPr/>
                    <a:lstStyle/>
                    <a:p>
                      <a:pPr algn="ctr">
                        <a:defRPr sz="900">
                          <a:solidFill>
                            <a:srgbClr val="C8D2DC"/>
                          </a:solidFill>
                          <a:latin typeface="Calibri"/>
                        </a:defRPr>
                      </a:pPr>
                      <a:r>
                        <a:t>NIST</a:t>
                      </a:r>
                    </a:p>
                  </a:txBody>
                  <a:tcPr>
                    <a:solidFill>
                      <a:srgbClr val="122E52"/>
                    </a:solidFill>
                  </a:tcPr>
                </a:tc>
                <a:tc>
                  <a:txBody>
                    <a:bodyPr/>
                    <a:lstStyle/>
                    <a:p>
                      <a:pPr algn="ctr">
                        <a:defRPr sz="900">
                          <a:solidFill>
                            <a:srgbClr val="C8D2DC"/>
                          </a:solidFill>
                          <a:latin typeface="Calibri"/>
                        </a:defRPr>
                      </a:pPr>
                      <a:r>
                        <a:t>8.6×10⁻¹⁸</a:t>
                      </a:r>
                    </a:p>
                  </a:txBody>
                  <a:tcPr>
                    <a:solidFill>
                      <a:srgbClr val="122E52"/>
                    </a:solidFill>
                  </a:tcPr>
                </a:tc>
                <a:tc>
                  <a:txBody>
                    <a:bodyPr/>
                    <a:lstStyle/>
                    <a:p>
                      <a:pPr algn="ctr">
                        <a:defRPr sz="900">
                          <a:solidFill>
                            <a:srgbClr val="C8D2DC"/>
                          </a:solidFill>
                          <a:latin typeface="Calibri"/>
                        </a:defRPr>
                      </a:pPr>
                      <a:r>
                        <a:t>Rosenband et al.</a:t>
                      </a:r>
                    </a:p>
                    <a:p>
                      <a:pPr algn="ctr">
                        <a:defRPr sz="900">
                          <a:solidFill>
                            <a:srgbClr val="C8D2DC"/>
                          </a:solidFill>
                          <a:latin typeface="Calibri"/>
                        </a:defRPr>
                      </a:pPr>
                      <a:r>
                        <a:t>首次展示离子光钟10⁻¹⁸能力</a:t>
                      </a:r>
                    </a:p>
                  </a:txBody>
                  <a:tcPr>
                    <a:solidFill>
                      <a:srgbClr val="122E52"/>
                    </a:solidFill>
                  </a:tcPr>
                </a:tc>
              </a:tr>
              <a:tr h="320040">
                <a:tc>
                  <a:txBody>
                    <a:bodyPr/>
                    <a:lstStyle/>
                    <a:p>
                      <a:pPr algn="ctr">
                        <a:defRPr sz="900">
                          <a:solidFill>
                            <a:srgbClr val="C8D2DC"/>
                          </a:solidFill>
                          <a:latin typeface="Calibri"/>
                        </a:defRPr>
                      </a:pPr>
                      <a:r>
                        <a:t>2014</a:t>
                      </a:r>
                    </a:p>
                  </a:txBody>
                  <a:tcPr>
                    <a:solidFill>
                      <a:srgbClr val="0B1D3A"/>
                    </a:solidFill>
                  </a:tcPr>
                </a:tc>
                <a:tc>
                  <a:txBody>
                    <a:bodyPr/>
                    <a:lstStyle/>
                    <a:p>
                      <a:pPr algn="ctr">
                        <a:defRPr sz="900">
                          <a:solidFill>
                            <a:srgbClr val="C8D2DC"/>
                          </a:solidFill>
                          <a:latin typeface="Calibri"/>
                        </a:defRPr>
                      </a:pPr>
                      <a:r>
                        <a:t>⁸⁷Sr 光晶格</a:t>
                      </a:r>
                    </a:p>
                  </a:txBody>
                  <a:tcPr>
                    <a:solidFill>
                      <a:srgbClr val="0B1D3A"/>
                    </a:solidFill>
                  </a:tcPr>
                </a:tc>
                <a:tc>
                  <a:txBody>
                    <a:bodyPr/>
                    <a:lstStyle/>
                    <a:p>
                      <a:pPr algn="ctr">
                        <a:defRPr sz="900">
                          <a:solidFill>
                            <a:srgbClr val="C8D2DC"/>
                          </a:solidFill>
                          <a:latin typeface="Calibri"/>
                        </a:defRPr>
                      </a:pPr>
                      <a:r>
                        <a:t>JILA</a:t>
                      </a:r>
                    </a:p>
                  </a:txBody>
                  <a:tcPr>
                    <a:solidFill>
                      <a:srgbClr val="0B1D3A"/>
                    </a:solidFill>
                  </a:tcPr>
                </a:tc>
                <a:tc>
                  <a:txBody>
                    <a:bodyPr/>
                    <a:lstStyle/>
                    <a:p>
                      <a:pPr algn="ctr">
                        <a:defRPr sz="900">
                          <a:solidFill>
                            <a:srgbClr val="C8D2DC"/>
                          </a:solidFill>
                          <a:latin typeface="Calibri"/>
                        </a:defRPr>
                      </a:pPr>
                      <a:r>
                        <a:t>6.4×10⁻¹⁸</a:t>
                      </a:r>
                    </a:p>
                  </a:txBody>
                  <a:tcPr>
                    <a:solidFill>
                      <a:srgbClr val="0B1D3A"/>
                    </a:solidFill>
                  </a:tcPr>
                </a:tc>
                <a:tc>
                  <a:txBody>
                    <a:bodyPr/>
                    <a:lstStyle/>
                    <a:p>
                      <a:pPr algn="ctr">
                        <a:defRPr sz="900">
                          <a:solidFill>
                            <a:srgbClr val="C8D2DC"/>
                          </a:solidFill>
                          <a:latin typeface="Calibri"/>
                        </a:defRPr>
                      </a:pPr>
                      <a:r>
                        <a:t>Bloom et al.</a:t>
                      </a:r>
                    </a:p>
                    <a:p>
                      <a:pPr algn="ctr">
                        <a:defRPr sz="900">
                          <a:solidFill>
                            <a:srgbClr val="C8D2DC"/>
                          </a:solidFill>
                          <a:latin typeface="Calibri"/>
                        </a:defRPr>
                      </a:pPr>
                      <a:r>
                        <a:t>Sr光钟进入10⁻¹⁸时代</a:t>
                      </a:r>
                    </a:p>
                  </a:txBody>
                  <a:tcPr>
                    <a:solidFill>
                      <a:srgbClr val="0B1D3A"/>
                    </a:solidFill>
                  </a:tcPr>
                </a:tc>
              </a:tr>
              <a:tr h="320040">
                <a:tc>
                  <a:txBody>
                    <a:bodyPr/>
                    <a:lstStyle/>
                    <a:p>
                      <a:pPr algn="ctr">
                        <a:defRPr sz="900">
                          <a:solidFill>
                            <a:srgbClr val="C8D2DC"/>
                          </a:solidFill>
                          <a:latin typeface="Calibri"/>
                        </a:defRPr>
                      </a:pPr>
                      <a:r>
                        <a:t>2015</a:t>
                      </a:r>
                    </a:p>
                  </a:txBody>
                  <a:tcPr>
                    <a:solidFill>
                      <a:srgbClr val="122E52"/>
                    </a:solidFill>
                  </a:tcPr>
                </a:tc>
                <a:tc>
                  <a:txBody>
                    <a:bodyPr/>
                    <a:lstStyle/>
                    <a:p>
                      <a:pPr algn="ctr">
                        <a:defRPr sz="900">
                          <a:solidFill>
                            <a:srgbClr val="C8D2DC"/>
                          </a:solidFill>
                          <a:latin typeface="Calibri"/>
                        </a:defRPr>
                      </a:pPr>
                      <a:r>
                        <a:t>⁸⁷Sr 光晶格</a:t>
                      </a:r>
                    </a:p>
                  </a:txBody>
                  <a:tcPr>
                    <a:solidFill>
                      <a:srgbClr val="122E52"/>
                    </a:solidFill>
                  </a:tcPr>
                </a:tc>
                <a:tc>
                  <a:txBody>
                    <a:bodyPr/>
                    <a:lstStyle/>
                    <a:p>
                      <a:pPr algn="ctr">
                        <a:defRPr sz="900">
                          <a:solidFill>
                            <a:srgbClr val="C8D2DC"/>
                          </a:solidFill>
                          <a:latin typeface="Calibri"/>
                        </a:defRPr>
                      </a:pPr>
                      <a:r>
                        <a:t>JILA</a:t>
                      </a:r>
                    </a:p>
                  </a:txBody>
                  <a:tcPr>
                    <a:solidFill>
                      <a:srgbClr val="122E52"/>
                    </a:solidFill>
                  </a:tcPr>
                </a:tc>
                <a:tc>
                  <a:txBody>
                    <a:bodyPr/>
                    <a:lstStyle/>
                    <a:p>
                      <a:pPr algn="ctr">
                        <a:defRPr sz="900">
                          <a:solidFill>
                            <a:srgbClr val="C8D2DC"/>
                          </a:solidFill>
                          <a:latin typeface="Calibri"/>
                        </a:defRPr>
                      </a:pPr>
                      <a:r>
                        <a:t>2.1×10⁻¹⁸</a:t>
                      </a:r>
                    </a:p>
                  </a:txBody>
                  <a:tcPr>
                    <a:solidFill>
                      <a:srgbClr val="122E52"/>
                    </a:solidFill>
                  </a:tcPr>
                </a:tc>
                <a:tc>
                  <a:txBody>
                    <a:bodyPr/>
                    <a:lstStyle/>
                    <a:p>
                      <a:pPr algn="ctr">
                        <a:defRPr sz="900">
                          <a:solidFill>
                            <a:srgbClr val="C8D2DC"/>
                          </a:solidFill>
                          <a:latin typeface="Calibri"/>
                        </a:defRPr>
                      </a:pPr>
                      <a:r>
                        <a:t>Nicholson et al.</a:t>
                      </a:r>
                    </a:p>
                    <a:p>
                      <a:pPr algn="ctr">
                        <a:defRPr sz="900">
                          <a:solidFill>
                            <a:srgbClr val="C8D2DC"/>
                          </a:solidFill>
                          <a:latin typeface="Calibri"/>
                        </a:defRPr>
                      </a:pPr>
                      <a:r>
                        <a:t>首次突破2×10⁻¹⁸</a:t>
                      </a:r>
                    </a:p>
                  </a:txBody>
                  <a:tcPr>
                    <a:solidFill>
                      <a:srgbClr val="122E52"/>
                    </a:solidFill>
                  </a:tcPr>
                </a:tc>
              </a:tr>
              <a:tr h="320040">
                <a:tc>
                  <a:txBody>
                    <a:bodyPr/>
                    <a:lstStyle/>
                    <a:p>
                      <a:pPr algn="ctr">
                        <a:defRPr sz="900">
                          <a:solidFill>
                            <a:srgbClr val="C8D2DC"/>
                          </a:solidFill>
                          <a:latin typeface="Calibri"/>
                        </a:defRPr>
                      </a:pPr>
                      <a:r>
                        <a:t>2019</a:t>
                      </a:r>
                    </a:p>
                  </a:txBody>
                  <a:tcPr>
                    <a:solidFill>
                      <a:srgbClr val="0B1D3A"/>
                    </a:solidFill>
                  </a:tcPr>
                </a:tc>
                <a:tc>
                  <a:txBody>
                    <a:bodyPr/>
                    <a:lstStyle/>
                    <a:p>
                      <a:pPr algn="ctr">
                        <a:defRPr sz="900">
                          <a:solidFill>
                            <a:srgbClr val="C8D2DC"/>
                          </a:solidFill>
                          <a:latin typeface="Calibri"/>
                        </a:defRPr>
                      </a:pPr>
                      <a:r>
                        <a:t>⁸⁷Sr 光晶格</a:t>
                      </a:r>
                    </a:p>
                  </a:txBody>
                  <a:tcPr>
                    <a:solidFill>
                      <a:srgbClr val="0B1D3A"/>
                    </a:solidFill>
                  </a:tcPr>
                </a:tc>
                <a:tc>
                  <a:txBody>
                    <a:bodyPr/>
                    <a:lstStyle/>
                    <a:p>
                      <a:pPr algn="ctr">
                        <a:defRPr sz="900">
                          <a:solidFill>
                            <a:srgbClr val="C8D2DC"/>
                          </a:solidFill>
                          <a:latin typeface="Calibri"/>
                        </a:defRPr>
                      </a:pPr>
                      <a:r>
                        <a:t>JILA</a:t>
                      </a:r>
                    </a:p>
                  </a:txBody>
                  <a:tcPr>
                    <a:solidFill>
                      <a:srgbClr val="0B1D3A"/>
                    </a:solidFill>
                  </a:tcPr>
                </a:tc>
                <a:tc>
                  <a:txBody>
                    <a:bodyPr/>
                    <a:lstStyle/>
                    <a:p>
                      <a:pPr algn="ctr">
                        <a:defRPr sz="900">
                          <a:solidFill>
                            <a:srgbClr val="C8D2DC"/>
                          </a:solidFill>
                          <a:latin typeface="Calibri"/>
                        </a:defRPr>
                      </a:pPr>
                      <a:r>
                        <a:t>2.0×10⁻¹⁸</a:t>
                      </a:r>
                    </a:p>
                  </a:txBody>
                  <a:tcPr>
                    <a:solidFill>
                      <a:srgbClr val="0B1D3A"/>
                    </a:solidFill>
                  </a:tcPr>
                </a:tc>
                <a:tc>
                  <a:txBody>
                    <a:bodyPr/>
                    <a:lstStyle/>
                    <a:p>
                      <a:pPr algn="ctr">
                        <a:defRPr sz="900">
                          <a:solidFill>
                            <a:srgbClr val="C8D2DC"/>
                          </a:solidFill>
                          <a:latin typeface="Calibri"/>
                        </a:defRPr>
                      </a:pPr>
                      <a:r>
                        <a:t>Bothwell et al.</a:t>
                      </a:r>
                    </a:p>
                    <a:p>
                      <a:pPr algn="ctr">
                        <a:defRPr sz="900">
                          <a:solidFill>
                            <a:srgbClr val="C8D2DC"/>
                          </a:solidFill>
                          <a:latin typeface="Calibri"/>
                        </a:defRPr>
                      </a:pPr>
                      <a:r>
                        <a:t>改进BBR建模</a:t>
                      </a:r>
                    </a:p>
                  </a:txBody>
                  <a:tcPr>
                    <a:solidFill>
                      <a:srgbClr val="0B1D3A"/>
                    </a:solidFill>
                  </a:tcPr>
                </a:tc>
              </a:tr>
              <a:tr h="320040">
                <a:tc>
                  <a:txBody>
                    <a:bodyPr/>
                    <a:lstStyle/>
                    <a:p>
                      <a:pPr algn="ctr">
                        <a:defRPr sz="900">
                          <a:solidFill>
                            <a:srgbClr val="C8D2DC"/>
                          </a:solidFill>
                          <a:latin typeface="Calibri"/>
                        </a:defRPr>
                      </a:pPr>
                      <a:r>
                        <a:t>2021</a:t>
                      </a:r>
                    </a:p>
                  </a:txBody>
                  <a:tcPr>
                    <a:solidFill>
                      <a:srgbClr val="122E52"/>
                    </a:solidFill>
                  </a:tcPr>
                </a:tc>
                <a:tc>
                  <a:txBody>
                    <a:bodyPr/>
                    <a:lstStyle/>
                    <a:p>
                      <a:pPr algn="ctr">
                        <a:defRPr sz="900">
                          <a:solidFill>
                            <a:srgbClr val="C8D2DC"/>
                          </a:solidFill>
                          <a:latin typeface="Calibri"/>
                        </a:defRPr>
                      </a:pPr>
                      <a:r>
                        <a:t>Al⁺/Yb/Sr</a:t>
                      </a:r>
                    </a:p>
                    <a:p>
                      <a:pPr algn="ctr">
                        <a:defRPr sz="900">
                          <a:solidFill>
                            <a:srgbClr val="C8D2DC"/>
                          </a:solidFill>
                          <a:latin typeface="Calibri"/>
                        </a:defRPr>
                      </a:pPr>
                      <a:r>
                        <a:t>三钟网络</a:t>
                      </a:r>
                    </a:p>
                  </a:txBody>
                  <a:tcPr>
                    <a:solidFill>
                      <a:srgbClr val="122E52"/>
                    </a:solidFill>
                  </a:tcPr>
                </a:tc>
                <a:tc>
                  <a:txBody>
                    <a:bodyPr/>
                    <a:lstStyle/>
                    <a:p>
                      <a:pPr algn="ctr">
                        <a:defRPr sz="900">
                          <a:solidFill>
                            <a:srgbClr val="C8D2DC"/>
                          </a:solidFill>
                          <a:latin typeface="Calibri"/>
                        </a:defRPr>
                      </a:pPr>
                      <a:r>
                        <a:t>NIST/JILA</a:t>
                      </a:r>
                    </a:p>
                  </a:txBody>
                  <a:tcPr>
                    <a:solidFill>
                      <a:srgbClr val="122E52"/>
                    </a:solidFill>
                  </a:tcPr>
                </a:tc>
                <a:tc>
                  <a:txBody>
                    <a:bodyPr/>
                    <a:lstStyle/>
                    <a:p>
                      <a:pPr algn="ctr">
                        <a:defRPr sz="900">
                          <a:solidFill>
                            <a:srgbClr val="C8D2DC"/>
                          </a:solidFill>
                          <a:latin typeface="Calibri"/>
                        </a:defRPr>
                      </a:pPr>
                      <a:r>
                        <a:t>6–8×10⁻¹⁸</a:t>
                      </a:r>
                    </a:p>
                    <a:p>
                      <a:pPr algn="ctr">
                        <a:defRPr sz="900">
                          <a:solidFill>
                            <a:srgbClr val="C8D2DC"/>
                          </a:solidFill>
                          <a:latin typeface="Calibri"/>
                        </a:defRPr>
                      </a:pPr>
                      <a:r>
                        <a:t>(频率比)</a:t>
                      </a:r>
                    </a:p>
                  </a:txBody>
                  <a:tcPr>
                    <a:solidFill>
                      <a:srgbClr val="122E52"/>
                    </a:solidFill>
                  </a:tcPr>
                </a:tc>
                <a:tc>
                  <a:txBody>
                    <a:bodyPr/>
                    <a:lstStyle/>
                    <a:p>
                      <a:pPr algn="ctr">
                        <a:defRPr sz="900">
                          <a:solidFill>
                            <a:srgbClr val="C8D2DC"/>
                          </a:solidFill>
                          <a:latin typeface="Calibri"/>
                        </a:defRPr>
                      </a:pPr>
                      <a:r>
                        <a:t>BACON首次三钟比对</a:t>
                      </a:r>
                    </a:p>
                  </a:txBody>
                  <a:tcPr>
                    <a:solidFill>
                      <a:srgbClr val="122E52"/>
                    </a:solidFill>
                  </a:tcPr>
                </a:tc>
              </a:tr>
              <a:tr h="320040">
                <a:tc>
                  <a:txBody>
                    <a:bodyPr/>
                    <a:lstStyle/>
                    <a:p>
                      <a:pPr algn="ctr">
                        <a:defRPr sz="900">
                          <a:solidFill>
                            <a:srgbClr val="C8D2DC"/>
                          </a:solidFill>
                          <a:latin typeface="Calibri"/>
                        </a:defRPr>
                      </a:pPr>
                      <a:r>
                        <a:t>2024</a:t>
                      </a:r>
                    </a:p>
                  </a:txBody>
                  <a:tcPr>
                    <a:solidFill>
                      <a:srgbClr val="0B1D3A"/>
                    </a:solidFill>
                  </a:tcPr>
                </a:tc>
                <a:tc>
                  <a:txBody>
                    <a:bodyPr/>
                    <a:lstStyle/>
                    <a:p>
                      <a:pPr algn="ctr">
                        <a:defRPr sz="900">
                          <a:solidFill>
                            <a:srgbClr val="C8D2DC"/>
                          </a:solidFill>
                          <a:latin typeface="Calibri"/>
                        </a:defRPr>
                      </a:pPr>
                      <a:r>
                        <a:t>⁸⁷Sr 光晶格</a:t>
                      </a:r>
                    </a:p>
                  </a:txBody>
                  <a:tcPr>
                    <a:solidFill>
                      <a:srgbClr val="0B1D3A"/>
                    </a:solidFill>
                  </a:tcPr>
                </a:tc>
                <a:tc>
                  <a:txBody>
                    <a:bodyPr/>
                    <a:lstStyle/>
                    <a:p>
                      <a:pPr algn="ctr">
                        <a:defRPr sz="900">
                          <a:solidFill>
                            <a:srgbClr val="C8D2DC"/>
                          </a:solidFill>
                          <a:latin typeface="Calibri"/>
                        </a:defRPr>
                      </a:pPr>
                      <a:r>
                        <a:t>JILA</a:t>
                      </a:r>
                    </a:p>
                  </a:txBody>
                  <a:tcPr>
                    <a:solidFill>
                      <a:srgbClr val="0B1D3A"/>
                    </a:solidFill>
                  </a:tcPr>
                </a:tc>
                <a:tc>
                  <a:txBody>
                    <a:bodyPr/>
                    <a:lstStyle/>
                    <a:p>
                      <a:pPr algn="ctr">
                        <a:defRPr sz="900">
                          <a:solidFill>
                            <a:srgbClr val="C8D2DC"/>
                          </a:solidFill>
                          <a:latin typeface="Calibri"/>
                        </a:defRPr>
                      </a:pPr>
                      <a:r>
                        <a:t>8×10⁻¹⁹</a:t>
                      </a:r>
                    </a:p>
                  </a:txBody>
                  <a:tcPr>
                    <a:solidFill>
                      <a:srgbClr val="0B1D3A"/>
                    </a:solidFill>
                  </a:tcPr>
                </a:tc>
                <a:tc>
                  <a:txBody>
                    <a:bodyPr/>
                    <a:lstStyle/>
                    <a:p>
                      <a:pPr algn="ctr">
                        <a:defRPr sz="900">
                          <a:solidFill>
                            <a:srgbClr val="C8D2DC"/>
                          </a:solidFill>
                          <a:latin typeface="Calibri"/>
                        </a:defRPr>
                      </a:pPr>
                      <a:r>
                        <a:t>Aeppli et al.</a:t>
                      </a:r>
                    </a:p>
                    <a:p>
                      <a:pPr algn="ctr">
                        <a:defRPr sz="900">
                          <a:solidFill>
                            <a:srgbClr val="C8D2DC"/>
                          </a:solidFill>
                          <a:latin typeface="Calibri"/>
                        </a:defRPr>
                      </a:pPr>
                      <a:r>
                        <a:t>三维光晶格+低温环境</a:t>
                      </a:r>
                    </a:p>
                  </a:txBody>
                  <a:tcPr>
                    <a:solidFill>
                      <a:srgbClr val="0B1D3A"/>
                    </a:solidFill>
                  </a:tcPr>
                </a:tc>
              </a:tr>
              <a:tr h="320040">
                <a:tc>
                  <a:txBody>
                    <a:bodyPr/>
                    <a:lstStyle/>
                    <a:p>
                      <a:pPr algn="ctr">
                        <a:defRPr sz="900">
                          <a:solidFill>
                            <a:srgbClr val="C8D2DC"/>
                          </a:solidFill>
                          <a:latin typeface="Calibri"/>
                        </a:defRPr>
                      </a:pPr>
                      <a:r>
                        <a:t>2025</a:t>
                      </a:r>
                    </a:p>
                  </a:txBody>
                  <a:tcPr>
                    <a:solidFill>
                      <a:srgbClr val="122E52"/>
                    </a:solidFill>
                  </a:tcPr>
                </a:tc>
                <a:tc>
                  <a:txBody>
                    <a:bodyPr/>
                    <a:lstStyle/>
                    <a:p>
                      <a:pPr algn="ctr">
                        <a:defRPr sz="900">
                          <a:solidFill>
                            <a:srgbClr val="C8D2DC"/>
                          </a:solidFill>
                          <a:latin typeface="Calibri"/>
                        </a:defRPr>
                      </a:pPr>
                      <a:r>
                        <a:t>Al⁺/Yb/Sr</a:t>
                      </a:r>
                    </a:p>
                    <a:p>
                      <a:pPr algn="ctr">
                        <a:defRPr sz="900">
                          <a:solidFill>
                            <a:srgbClr val="C8D2DC"/>
                          </a:solidFill>
                          <a:latin typeface="Calibri"/>
                        </a:defRPr>
                      </a:pPr>
                      <a:r>
                        <a:t>更新比对</a:t>
                      </a:r>
                    </a:p>
                  </a:txBody>
                  <a:tcPr>
                    <a:solidFill>
                      <a:srgbClr val="122E52"/>
                    </a:solidFill>
                  </a:tcPr>
                </a:tc>
                <a:tc>
                  <a:txBody>
                    <a:bodyPr/>
                    <a:lstStyle/>
                    <a:p>
                      <a:pPr algn="ctr">
                        <a:defRPr sz="900">
                          <a:solidFill>
                            <a:srgbClr val="C8D2DC"/>
                          </a:solidFill>
                          <a:latin typeface="Calibri"/>
                        </a:defRPr>
                      </a:pPr>
                      <a:r>
                        <a:t>NIST/JILA</a:t>
                      </a:r>
                    </a:p>
                  </a:txBody>
                  <a:tcPr>
                    <a:solidFill>
                      <a:srgbClr val="122E52"/>
                    </a:solidFill>
                  </a:tcPr>
                </a:tc>
                <a:tc>
                  <a:txBody>
                    <a:bodyPr/>
                    <a:lstStyle/>
                    <a:p>
                      <a:pPr algn="ctr">
                        <a:defRPr sz="900">
                          <a:solidFill>
                            <a:srgbClr val="C8D2DC"/>
                          </a:solidFill>
                          <a:latin typeface="Calibri"/>
                        </a:defRPr>
                      </a:pPr>
                      <a:r>
                        <a:t>≤3.2×10⁻¹⁸</a:t>
                      </a:r>
                    </a:p>
                    <a:p>
                      <a:pPr algn="ctr">
                        <a:defRPr sz="900">
                          <a:solidFill>
                            <a:srgbClr val="C8D2DC"/>
                          </a:solidFill>
                          <a:latin typeface="Calibri"/>
                        </a:defRPr>
                      </a:pPr>
                      <a:r>
                        <a:t>(频率比)</a:t>
                      </a:r>
                    </a:p>
                  </a:txBody>
                  <a:tcPr>
                    <a:solidFill>
                      <a:srgbClr val="122E52"/>
                    </a:solidFill>
                  </a:tcPr>
                </a:tc>
                <a:tc>
                  <a:txBody>
                    <a:bodyPr/>
                    <a:lstStyle/>
                    <a:p>
                      <a:pPr algn="ctr">
                        <a:defRPr sz="900">
                          <a:solidFill>
                            <a:srgbClr val="C8D2DC"/>
                          </a:solidFill>
                          <a:latin typeface="Calibri"/>
                        </a:defRPr>
                      </a:pPr>
                      <a:r>
                        <a:t>BACON用低温Si腔参考</a:t>
                      </a:r>
                    </a:p>
                    <a:p>
                      <a:pPr algn="ctr">
                        <a:defRPr sz="900">
                          <a:solidFill>
                            <a:srgbClr val="C8D2DC"/>
                          </a:solidFill>
                          <a:latin typeface="Calibri"/>
                        </a:defRPr>
                      </a:pPr>
                      <a:r>
                        <a:t>达成记录精度</a:t>
                      </a:r>
                    </a:p>
                  </a:txBody>
                  <a:tcPr>
                    <a:solidFill>
                      <a:srgbClr val="122E52"/>
                    </a:solidFill>
                  </a:tcPr>
                </a:tc>
              </a:tr>
              <a:tr h="320040">
                <a:tc>
                  <a:txBody>
                    <a:bodyPr/>
                    <a:lstStyle/>
                    <a:p>
                      <a:pPr algn="ctr">
                        <a:defRPr sz="900">
                          <a:solidFill>
                            <a:srgbClr val="C8D2DC"/>
                          </a:solidFill>
                          <a:latin typeface="Calibri"/>
                        </a:defRPr>
                      </a:pPr>
                      <a:r>
                        <a:t>2024</a:t>
                      </a:r>
                    </a:p>
                  </a:txBody>
                  <a:tcPr>
                    <a:solidFill>
                      <a:srgbClr val="0B1D3A"/>
                    </a:solidFill>
                  </a:tcPr>
                </a:tc>
                <a:tc>
                  <a:txBody>
                    <a:bodyPr/>
                    <a:lstStyle/>
                    <a:p>
                      <a:pPr algn="ctr">
                        <a:defRPr sz="900">
                          <a:solidFill>
                            <a:srgbClr val="C8D2DC"/>
                          </a:solidFill>
                          <a:latin typeface="Calibri"/>
                        </a:defRPr>
                      </a:pPr>
                      <a:r>
                        <a:t>²²⁹Th核光钟</a:t>
                      </a:r>
                    </a:p>
                  </a:txBody>
                  <a:tcPr>
                    <a:solidFill>
                      <a:srgbClr val="0B1D3A"/>
                    </a:solidFill>
                  </a:tcPr>
                </a:tc>
                <a:tc>
                  <a:txBody>
                    <a:bodyPr/>
                    <a:lstStyle/>
                    <a:p>
                      <a:pPr algn="ctr">
                        <a:defRPr sz="900">
                          <a:solidFill>
                            <a:srgbClr val="C8D2DC"/>
                          </a:solidFill>
                          <a:latin typeface="Calibri"/>
                        </a:defRPr>
                      </a:pPr>
                      <a:r>
                        <a:t>JILA</a:t>
                      </a:r>
                    </a:p>
                  </a:txBody>
                  <a:tcPr>
                    <a:solidFill>
                      <a:srgbClr val="0B1D3A"/>
                    </a:solidFill>
                  </a:tcPr>
                </a:tc>
                <a:tc>
                  <a:txBody>
                    <a:bodyPr/>
                    <a:lstStyle/>
                    <a:p>
                      <a:pPr algn="ctr">
                        <a:defRPr sz="900">
                          <a:solidFill>
                            <a:srgbClr val="C8D2DC"/>
                          </a:solidFill>
                          <a:latin typeface="Calibri"/>
                        </a:defRPr>
                      </a:pPr>
                      <a:r>
                        <a:t>概念验证</a:t>
                      </a:r>
                    </a:p>
                  </a:txBody>
                  <a:tcPr>
                    <a:solidFill>
                      <a:srgbClr val="0B1D3A"/>
                    </a:solidFill>
                  </a:tcPr>
                </a:tc>
                <a:tc>
                  <a:txBody>
                    <a:bodyPr/>
                    <a:lstStyle/>
                    <a:p>
                      <a:pPr algn="ctr">
                        <a:defRPr sz="900">
                          <a:solidFill>
                            <a:srgbClr val="C8D2DC"/>
                          </a:solidFill>
                          <a:latin typeface="Calibri"/>
                        </a:defRPr>
                      </a:pPr>
                      <a:r>
                        <a:t>Zhang et al.</a:t>
                      </a:r>
                    </a:p>
                    <a:p>
                      <a:pPr algn="ctr">
                        <a:defRPr sz="900">
                          <a:solidFill>
                            <a:srgbClr val="C8D2DC"/>
                          </a:solidFill>
                          <a:latin typeface="Calibri"/>
                        </a:defRPr>
                      </a:pPr>
                      <a:r>
                        <a:t>首次核跃迁频率比测量</a:t>
                      </a:r>
                    </a:p>
                  </a:txBody>
                  <a:tcPr>
                    <a:solidFill>
                      <a:srgbClr val="0B1D3A"/>
                    </a:solidFill>
                  </a:tcPr>
                </a:tc>
              </a:tr>
            </a:tbl>
          </a:graphicData>
        </a:graphic>
      </p:graphicFrame>
      <p:sp>
        <p:nvSpPr>
          <p:cNvPr id="7" name="TextBox 6"/>
          <p:cNvSpPr txBox="1"/>
          <p:nvPr/>
        </p:nvSpPr>
        <p:spPr>
          <a:xfrm>
            <a:off x="457200" y="6217920"/>
            <a:ext cx="10972800" cy="457200"/>
          </a:xfrm>
          <a:prstGeom prst="rect">
            <a:avLst/>
          </a:prstGeom>
          <a:noFill/>
        </p:spPr>
        <p:txBody>
          <a:bodyPr wrap="square">
            <a:spAutoFit/>
          </a:bodyPr>
          <a:lstStyle/>
          <a:p>
            <a:pPr algn="l">
              <a:defRPr sz="1000" b="0">
                <a:solidFill>
                  <a:srgbClr val="94A3B8"/>
                </a:solidFill>
                <a:latin typeface="Calibri"/>
              </a:defRPr>
            </a:pPr>
            <a:r>
              <a:t>来源：sci-logic-kb metrics; Rosenband (2008); Bloom (2014); Nicholson (2015); Bothwell (2019); Bacon (2021); Aeppli (2024); BACON (2025)</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BACON：Boulder光钟网络</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NIST + JILA，三种原子，光纤 + 自由空间链路</a:t>
            </a:r>
          </a:p>
        </p:txBody>
      </p:sp>
      <p:sp>
        <p:nvSpPr>
          <p:cNvPr id="6" name="Rectangle 5"/>
          <p:cNvSpPr/>
          <p:nvPr/>
        </p:nvSpPr>
        <p:spPr>
          <a:xfrm>
            <a:off x="457200" y="1828800"/>
            <a:ext cx="5486400" cy="4572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54864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5029200" cy="4114800"/>
          </a:xfrm>
          <a:prstGeom prst="rect">
            <a:avLst/>
          </a:prstGeom>
          <a:noFill/>
        </p:spPr>
        <p:txBody>
          <a:bodyPr wrap="square">
            <a:spAutoFit/>
          </a:bodyPr>
          <a:lstStyle/>
          <a:p>
            <a:pPr algn="l">
              <a:lnSpc>
                <a:spcPts val="2340"/>
              </a:lnSpc>
              <a:spcAft>
                <a:spcPts val="400"/>
              </a:spcAft>
              <a:defRPr sz="1800" b="1">
                <a:solidFill>
                  <a:srgbClr val="3B82F6"/>
                </a:solidFill>
                <a:latin typeface="Microsoft YaHei"/>
              </a:defRPr>
            </a:pPr>
            <a:r>
              <a:t>BACON = Boulder Atomic Clock Optical Network</a:t>
            </a:r>
          </a:p>
          <a:p>
            <a:pPr algn="l">
              <a:lnSpc>
                <a:spcPts val="780"/>
              </a:lnSpc>
              <a:spcAft>
                <a:spcPts val="400"/>
              </a:spcAft>
              <a:defRPr sz="600" b="0">
                <a:solidFill>
                  <a:srgbClr val="FFFFFF"/>
                </a:solidFill>
                <a:latin typeface="Microsoft YaHei"/>
              </a:defRPr>
            </a:pPr>
          </a:p>
          <a:p>
            <a:pPr algn="l">
              <a:lnSpc>
                <a:spcPts val="2080"/>
              </a:lnSpc>
              <a:spcAft>
                <a:spcPts val="400"/>
              </a:spcAft>
              <a:defRPr sz="1600" b="1">
                <a:solidFill>
                  <a:srgbClr val="14B8A6"/>
                </a:solidFill>
                <a:latin typeface="Microsoft YaHei"/>
              </a:defRPr>
            </a:pPr>
            <a:r>
              <a:t>三台光钟：</a:t>
            </a:r>
          </a:p>
          <a:p>
            <a:pPr algn="l">
              <a:lnSpc>
                <a:spcPts val="1950"/>
              </a:lnSpc>
              <a:spcAft>
                <a:spcPts val="400"/>
              </a:spcAft>
              <a:defRPr sz="1500" b="0">
                <a:solidFill>
                  <a:srgbClr val="C8D2DC"/>
                </a:solidFill>
                <a:latin typeface="Microsoft YaHei"/>
              </a:defRPr>
            </a:pPr>
            <a:r>
              <a:t>  • ²⁷Al⁺ 量子逻辑钟（NIST, Brewer lab）</a:t>
            </a:r>
          </a:p>
          <a:p>
            <a:pPr algn="l">
              <a:lnSpc>
                <a:spcPts val="1950"/>
              </a:lnSpc>
              <a:spcAft>
                <a:spcPts val="400"/>
              </a:spcAft>
              <a:defRPr sz="1500" b="0">
                <a:solidFill>
                  <a:srgbClr val="C8D2DC"/>
                </a:solidFill>
                <a:latin typeface="Microsoft YaHei"/>
              </a:defRPr>
            </a:pPr>
            <a:r>
              <a:t>  • ¹⁷¹Yb 光晶格钟（NIST, Ludlow lab）</a:t>
            </a:r>
          </a:p>
          <a:p>
            <a:pPr algn="l">
              <a:lnSpc>
                <a:spcPts val="1950"/>
              </a:lnSpc>
              <a:spcAft>
                <a:spcPts val="400"/>
              </a:spcAft>
              <a:defRPr sz="1500" b="0">
                <a:solidFill>
                  <a:srgbClr val="C8D2DC"/>
                </a:solidFill>
                <a:latin typeface="Microsoft YaHei"/>
              </a:defRPr>
            </a:pPr>
            <a:r>
              <a:t>  • ⁸⁷Sr 光晶格钟（JILA, Ye lab, 1.5 km外）</a:t>
            </a:r>
          </a:p>
          <a:p>
            <a:pPr algn="l">
              <a:lnSpc>
                <a:spcPts val="780"/>
              </a:lnSpc>
              <a:spcAft>
                <a:spcPts val="400"/>
              </a:spcAft>
              <a:defRPr sz="600" b="0">
                <a:solidFill>
                  <a:srgbClr val="FFFFFF"/>
                </a:solidFill>
                <a:latin typeface="Microsoft YaHei"/>
              </a:defRPr>
            </a:pPr>
          </a:p>
          <a:p>
            <a:pPr algn="l">
              <a:lnSpc>
                <a:spcPts val="2080"/>
              </a:lnSpc>
              <a:spcAft>
                <a:spcPts val="400"/>
              </a:spcAft>
              <a:defRPr sz="1600" b="1">
                <a:solidFill>
                  <a:srgbClr val="14B8A6"/>
                </a:solidFill>
                <a:latin typeface="Microsoft YaHei"/>
              </a:defRPr>
            </a:pPr>
            <a:r>
              <a:t>时频传递链路：</a:t>
            </a:r>
          </a:p>
          <a:p>
            <a:pPr algn="l">
              <a:lnSpc>
                <a:spcPts val="1950"/>
              </a:lnSpc>
              <a:spcAft>
                <a:spcPts val="400"/>
              </a:spcAft>
              <a:defRPr sz="1500" b="0">
                <a:solidFill>
                  <a:srgbClr val="C8D2DC"/>
                </a:solidFill>
                <a:latin typeface="Microsoft YaHei"/>
              </a:defRPr>
            </a:pPr>
            <a:r>
              <a:t>  • 光纤链路：3.6 km 相位稳定光纤（NIST→JILA）</a:t>
            </a:r>
          </a:p>
          <a:p>
            <a:pPr algn="l">
              <a:lnSpc>
                <a:spcPts val="1950"/>
              </a:lnSpc>
              <a:spcAft>
                <a:spcPts val="400"/>
              </a:spcAft>
              <a:defRPr sz="1500" b="0">
                <a:solidFill>
                  <a:srgbClr val="C8D2DC"/>
                </a:solidFill>
                <a:latin typeface="Microsoft YaHei"/>
              </a:defRPr>
            </a:pPr>
            <a:r>
              <a:t>  • 自由空间链路：1.5 km双向飞秒激光传递</a:t>
            </a:r>
          </a:p>
          <a:p>
            <a:pPr algn="l">
              <a:lnSpc>
                <a:spcPts val="1950"/>
              </a:lnSpc>
              <a:spcAft>
                <a:spcPts val="400"/>
              </a:spcAft>
              <a:defRPr sz="1500" b="0">
                <a:solidFill>
                  <a:srgbClr val="C8D2DC"/>
                </a:solidFill>
                <a:latin typeface="Microsoft YaHei"/>
              </a:defRPr>
            </a:pPr>
            <a:r>
              <a:t>  • 共同超稳参考：低温单晶Si腔（2025升级）</a:t>
            </a:r>
          </a:p>
          <a:p>
            <a:pPr algn="l">
              <a:lnSpc>
                <a:spcPts val="1950"/>
              </a:lnSpc>
              <a:spcAft>
                <a:spcPts val="400"/>
              </a:spcAft>
              <a:defRPr sz="1500" b="0">
                <a:solidFill>
                  <a:srgbClr val="C8D2DC"/>
                </a:solidFill>
                <a:latin typeface="Microsoft YaHei"/>
              </a:defRPr>
            </a:pPr>
            <a:r>
              <a:t>    改善比对稳定度 2–3倍</a:t>
            </a:r>
          </a:p>
        </p:txBody>
      </p:sp>
      <p:sp>
        <p:nvSpPr>
          <p:cNvPr id="9" name="Rectangle 8"/>
          <p:cNvSpPr/>
          <p:nvPr/>
        </p:nvSpPr>
        <p:spPr>
          <a:xfrm>
            <a:off x="6217920" y="1828800"/>
            <a:ext cx="5486400" cy="4572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28800"/>
            <a:ext cx="548640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011680"/>
            <a:ext cx="4937760" cy="457200"/>
          </a:xfrm>
          <a:prstGeom prst="rect">
            <a:avLst/>
          </a:prstGeom>
          <a:noFill/>
        </p:spPr>
        <p:txBody>
          <a:bodyPr wrap="square">
            <a:spAutoFit/>
          </a:bodyPr>
          <a:lstStyle/>
          <a:p>
            <a:pPr algn="l">
              <a:defRPr sz="1800" b="1">
                <a:solidFill>
                  <a:srgbClr val="14B8A6"/>
                </a:solidFill>
                <a:latin typeface="Microsoft YaHei"/>
              </a:defRPr>
            </a:pPr>
            <a:r>
              <a:t>频率比测量结果（2025更新）</a:t>
            </a:r>
          </a:p>
        </p:txBody>
      </p:sp>
      <p:graphicFrame>
        <p:nvGraphicFramePr>
          <p:cNvPr id="12" name="Table 11"/>
          <p:cNvGraphicFramePr>
            <a:graphicFrameLocks noGrp="1"/>
          </p:cNvGraphicFramePr>
          <p:nvPr/>
        </p:nvGraphicFramePr>
        <p:xfrm>
          <a:off x="6492240" y="2651760"/>
          <a:ext cx="4846320" cy="1600200"/>
        </p:xfrm>
        <a:graphic>
          <a:graphicData uri="http://schemas.openxmlformats.org/drawingml/2006/table">
            <a:tbl>
              <a:tblPr firstRow="1" bandRow="1">
                <a:tableStyleId>{5C22544A-7EE6-4342-B048-85BDC9FD1C3A}</a:tableStyleId>
              </a:tblPr>
              <a:tblGrid>
                <a:gridCol w="1371600"/>
                <a:gridCol w="1463040"/>
                <a:gridCol w="2011680"/>
              </a:tblGrid>
              <a:tr h="320040">
                <a:tc>
                  <a:txBody>
                    <a:bodyPr/>
                    <a:lstStyle/>
                    <a:p>
                      <a:pPr algn="ctr">
                        <a:defRPr sz="1000" b="1">
                          <a:solidFill>
                            <a:srgbClr val="FFFFFF"/>
                          </a:solidFill>
                          <a:latin typeface="Calibri"/>
                        </a:defRPr>
                      </a:pPr>
                      <a:r>
                        <a:t>频率比</a:t>
                      </a:r>
                    </a:p>
                  </a:txBody>
                  <a:tcPr>
                    <a:solidFill>
                      <a:srgbClr val="3B82F6"/>
                    </a:solidFill>
                  </a:tcPr>
                </a:tc>
                <a:tc>
                  <a:txBody>
                    <a:bodyPr/>
                    <a:lstStyle/>
                    <a:p>
                      <a:pPr algn="ctr">
                        <a:defRPr sz="1000" b="1">
                          <a:solidFill>
                            <a:srgbClr val="FFFFFF"/>
                          </a:solidFill>
                          <a:latin typeface="Calibri"/>
                        </a:defRPr>
                      </a:pPr>
                      <a:r>
                        <a:t>不确定度</a:t>
                      </a:r>
                    </a:p>
                  </a:txBody>
                  <a:tcPr>
                    <a:solidFill>
                      <a:srgbClr val="3B82F6"/>
                    </a:solidFill>
                  </a:tcPr>
                </a:tc>
                <a:tc>
                  <a:txBody>
                    <a:bodyPr/>
                    <a:lstStyle/>
                    <a:p>
                      <a:pPr algn="ctr">
                        <a:defRPr sz="1000" b="1">
                          <a:solidFill>
                            <a:srgbClr val="FFFFFF"/>
                          </a:solidFill>
                          <a:latin typeface="Calibri"/>
                        </a:defRPr>
                      </a:pPr>
                      <a:r>
                        <a:t>备注</a:t>
                      </a:r>
                    </a:p>
                  </a:txBody>
                  <a:tcPr>
                    <a:solidFill>
                      <a:srgbClr val="3B82F6"/>
                    </a:solidFill>
                  </a:tcPr>
                </a:tc>
              </a:tr>
              <a:tr h="320040">
                <a:tc>
                  <a:txBody>
                    <a:bodyPr/>
                    <a:lstStyle/>
                    <a:p>
                      <a:pPr algn="ctr">
                        <a:defRPr sz="800">
                          <a:solidFill>
                            <a:srgbClr val="C8D2DC"/>
                          </a:solidFill>
                          <a:latin typeface="Calibri"/>
                        </a:defRPr>
                      </a:pPr>
                      <a:r>
                        <a:t>Al⁺/Yb</a:t>
                      </a:r>
                    </a:p>
                  </a:txBody>
                  <a:tcPr>
                    <a:solidFill>
                      <a:srgbClr val="122E52"/>
                    </a:solidFill>
                  </a:tcPr>
                </a:tc>
                <a:tc>
                  <a:txBody>
                    <a:bodyPr/>
                    <a:lstStyle/>
                    <a:p>
                      <a:pPr algn="ctr">
                        <a:defRPr sz="800">
                          <a:solidFill>
                            <a:srgbClr val="C8D2DC"/>
                          </a:solidFill>
                          <a:latin typeface="Calibri"/>
                        </a:defRPr>
                      </a:pPr>
                      <a:r>
                        <a:t>3.2×10⁻¹⁸</a:t>
                      </a:r>
                    </a:p>
                  </a:txBody>
                  <a:tcPr>
                    <a:solidFill>
                      <a:srgbClr val="122E52"/>
                    </a:solidFill>
                  </a:tcPr>
                </a:tc>
                <a:tc>
                  <a:txBody>
                    <a:bodyPr/>
                    <a:lstStyle/>
                    <a:p>
                      <a:pPr algn="ctr">
                        <a:defRPr sz="800">
                          <a:solidFill>
                            <a:srgbClr val="C8D2DC"/>
                          </a:solidFill>
                          <a:latin typeface="Calibri"/>
                        </a:defRPr>
                      </a:pPr>
                      <a:r>
                        <a:t>光纤 + 自由空间</a:t>
                      </a:r>
                    </a:p>
                    <a:p>
                      <a:pPr algn="ctr">
                        <a:defRPr sz="800">
                          <a:solidFill>
                            <a:srgbClr val="C8D2DC"/>
                          </a:solidFill>
                          <a:latin typeface="Calibri"/>
                        </a:defRPr>
                      </a:pPr>
                      <a:r>
                        <a:t>低温Si腔参考</a:t>
                      </a:r>
                    </a:p>
                  </a:txBody>
                  <a:tcPr>
                    <a:solidFill>
                      <a:srgbClr val="122E52"/>
                    </a:solidFill>
                  </a:tcPr>
                </a:tc>
              </a:tr>
              <a:tr h="320040">
                <a:tc>
                  <a:txBody>
                    <a:bodyPr/>
                    <a:lstStyle/>
                    <a:p>
                      <a:pPr algn="ctr">
                        <a:defRPr sz="800">
                          <a:solidFill>
                            <a:srgbClr val="C8D2DC"/>
                          </a:solidFill>
                          <a:latin typeface="Calibri"/>
                        </a:defRPr>
                      </a:pPr>
                      <a:r>
                        <a:t>Al⁺/Sr</a:t>
                      </a:r>
                    </a:p>
                  </a:txBody>
                  <a:tcPr>
                    <a:solidFill>
                      <a:srgbClr val="0B1D3A"/>
                    </a:solidFill>
                  </a:tcPr>
                </a:tc>
                <a:tc>
                  <a:txBody>
                    <a:bodyPr/>
                    <a:lstStyle/>
                    <a:p>
                      <a:pPr algn="ctr">
                        <a:defRPr sz="800">
                          <a:solidFill>
                            <a:srgbClr val="C8D2DC"/>
                          </a:solidFill>
                          <a:latin typeface="Calibri"/>
                        </a:defRPr>
                      </a:pPr>
                      <a:r>
                        <a:t>≤3.2×10⁻¹⁸</a:t>
                      </a:r>
                    </a:p>
                  </a:txBody>
                  <a:tcPr>
                    <a:solidFill>
                      <a:srgbClr val="0B1D3A"/>
                    </a:solidFill>
                  </a:tcPr>
                </a:tc>
                <a:tc>
                  <a:txBody>
                    <a:bodyPr/>
                    <a:lstStyle/>
                    <a:p>
                      <a:pPr algn="ctr">
                        <a:defRPr sz="800">
                          <a:solidFill>
                            <a:srgbClr val="C8D2DC"/>
                          </a:solidFill>
                          <a:latin typeface="Calibri"/>
                        </a:defRPr>
                      </a:pPr>
                      <a:r>
                        <a:t>同上</a:t>
                      </a:r>
                    </a:p>
                    <a:p>
                      <a:pPr algn="ctr">
                        <a:defRPr sz="800">
                          <a:solidFill>
                            <a:srgbClr val="C8D2DC"/>
                          </a:solidFill>
                          <a:latin typeface="Calibri"/>
                        </a:defRPr>
                      </a:pPr>
                      <a:r>
                        <a:t>存在1.5×10⁻¹⁷偏差</a:t>
                      </a:r>
                    </a:p>
                  </a:txBody>
                  <a:tcPr>
                    <a:solidFill>
                      <a:srgbClr val="0B1D3A"/>
                    </a:solidFill>
                  </a:tcPr>
                </a:tc>
              </a:tr>
              <a:tr h="320040">
                <a:tc>
                  <a:txBody>
                    <a:bodyPr/>
                    <a:lstStyle/>
                    <a:p>
                      <a:pPr algn="ctr">
                        <a:defRPr sz="800">
                          <a:solidFill>
                            <a:srgbClr val="C8D2DC"/>
                          </a:solidFill>
                          <a:latin typeface="Calibri"/>
                        </a:defRPr>
                      </a:pPr>
                      <a:r>
                        <a:t>Yb/Sr</a:t>
                      </a:r>
                    </a:p>
                  </a:txBody>
                  <a:tcPr>
                    <a:solidFill>
                      <a:srgbClr val="122E52"/>
                    </a:solidFill>
                  </a:tcPr>
                </a:tc>
                <a:tc>
                  <a:txBody>
                    <a:bodyPr/>
                    <a:lstStyle/>
                    <a:p>
                      <a:pPr algn="ctr">
                        <a:defRPr sz="800">
                          <a:solidFill>
                            <a:srgbClr val="C8D2DC"/>
                          </a:solidFill>
                          <a:latin typeface="Calibri"/>
                        </a:defRPr>
                      </a:pPr>
                      <a:r>
                        <a:t>≤3.2×10⁻¹⁸</a:t>
                      </a:r>
                    </a:p>
                  </a:txBody>
                  <a:tcPr>
                    <a:solidFill>
                      <a:srgbClr val="122E52"/>
                    </a:solidFill>
                  </a:tcPr>
                </a:tc>
                <a:tc>
                  <a:txBody>
                    <a:bodyPr/>
                    <a:lstStyle/>
                    <a:p>
                      <a:pPr algn="ctr">
                        <a:defRPr sz="800">
                          <a:solidFill>
                            <a:srgbClr val="C8D2DC"/>
                          </a:solidFill>
                          <a:latin typeface="Calibri"/>
                        </a:defRPr>
                      </a:pPr>
                      <a:r>
                        <a:t>同上</a:t>
                      </a:r>
                    </a:p>
                    <a:p>
                      <a:pPr algn="ctr">
                        <a:defRPr sz="800">
                          <a:solidFill>
                            <a:srgbClr val="C8D2DC"/>
                          </a:solidFill>
                          <a:latin typeface="Calibri"/>
                        </a:defRPr>
                      </a:pPr>
                      <a:r>
                        <a:t>Sr存在1×10⁻¹⁶偏差</a:t>
                      </a:r>
                    </a:p>
                    <a:p>
                      <a:pPr algn="ctr">
                        <a:defRPr sz="800">
                          <a:solidFill>
                            <a:srgbClr val="C8D2DC"/>
                          </a:solidFill>
                          <a:latin typeface="Calibri"/>
                        </a:defRPr>
                      </a:pPr>
                      <a:r>
                        <a:t>需更多独立验证</a:t>
                      </a:r>
                    </a:p>
                  </a:txBody>
                  <a:tcPr>
                    <a:solidFill>
                      <a:srgbClr val="122E52"/>
                    </a:solidFill>
                  </a:tcPr>
                </a:tc>
              </a:tr>
              <a:tr h="320040">
                <a:tc>
                  <a:txBody>
                    <a:bodyPr/>
                    <a:lstStyle/>
                    <a:p>
                      <a:pPr algn="ctr">
                        <a:defRPr sz="800">
                          <a:solidFill>
                            <a:srgbClr val="C8D2DC"/>
                          </a:solidFill>
                          <a:latin typeface="Calibri"/>
                        </a:defRPr>
                      </a:pPr>
                      <a:r>
                        <a:t>Yb⁺/Sr</a:t>
                      </a:r>
                    </a:p>
                  </a:txBody>
                  <a:tcPr>
                    <a:solidFill>
                      <a:srgbClr val="0B1D3A"/>
                    </a:solidFill>
                  </a:tcPr>
                </a:tc>
                <a:tc>
                  <a:txBody>
                    <a:bodyPr/>
                    <a:lstStyle/>
                    <a:p>
                      <a:pPr algn="ctr">
                        <a:defRPr sz="800">
                          <a:solidFill>
                            <a:srgbClr val="C8D2DC"/>
                          </a:solidFill>
                          <a:latin typeface="Calibri"/>
                        </a:defRPr>
                      </a:pPr>
                      <a:r>
                        <a:t>2.5×10⁻¹⁷</a:t>
                      </a:r>
                    </a:p>
                  </a:txBody>
                  <a:tcPr>
                    <a:solidFill>
                      <a:srgbClr val="0B1D3A"/>
                    </a:solidFill>
                  </a:tcPr>
                </a:tc>
                <a:tc>
                  <a:txBody>
                    <a:bodyPr/>
                    <a:lstStyle/>
                    <a:p>
                      <a:pPr algn="ctr">
                        <a:defRPr sz="800">
                          <a:solidFill>
                            <a:srgbClr val="C8D2DC"/>
                          </a:solidFill>
                          <a:latin typeface="Calibri"/>
                        </a:defRPr>
                      </a:pPr>
                      <a:r>
                        <a:t>PTB (2012–2019)</a:t>
                      </a:r>
                    </a:p>
                    <a:p>
                      <a:pPr algn="ctr">
                        <a:defRPr sz="800">
                          <a:solidFill>
                            <a:srgbClr val="C8D2DC"/>
                          </a:solidFill>
                          <a:latin typeface="Calibri"/>
                        </a:defRPr>
                      </a:pPr>
                      <a:r>
                        <a:t>长期变化原因不明</a:t>
                      </a:r>
                    </a:p>
                  </a:txBody>
                  <a:tcPr>
                    <a:solidFill>
                      <a:srgbClr val="0B1D3A"/>
                    </a:solidFill>
                  </a:tcPr>
                </a:tc>
              </a:tr>
            </a:tbl>
          </a:graphicData>
        </a:graphic>
      </p:graphicFrame>
      <p:sp>
        <p:nvSpPr>
          <p:cNvPr id="13" name="TextBox 12"/>
          <p:cNvSpPr txBox="1"/>
          <p:nvPr/>
        </p:nvSpPr>
        <p:spPr>
          <a:xfrm>
            <a:off x="6492240" y="4572000"/>
            <a:ext cx="4937760" cy="1645920"/>
          </a:xfrm>
          <a:prstGeom prst="rect">
            <a:avLst/>
          </a:prstGeom>
          <a:noFill/>
        </p:spPr>
        <p:txBody>
          <a:bodyPr wrap="square">
            <a:spAutoFit/>
          </a:bodyPr>
          <a:lstStyle/>
          <a:p>
            <a:pPr algn="l">
              <a:lnSpc>
                <a:spcPts val="1950"/>
              </a:lnSpc>
              <a:spcAft>
                <a:spcPts val="400"/>
              </a:spcAft>
              <a:defRPr sz="1500" b="1">
                <a:solidFill>
                  <a:srgbClr val="FCCC00"/>
                </a:solidFill>
                <a:latin typeface="Microsoft YaHei"/>
              </a:defRPr>
            </a:pPr>
            <a:r>
              <a:t>2021 vs 2025对比</a:t>
            </a:r>
          </a:p>
          <a:p>
            <a:pPr algn="l">
              <a:lnSpc>
                <a:spcPts val="1690"/>
              </a:lnSpc>
              <a:spcAft>
                <a:spcPts val="400"/>
              </a:spcAft>
              <a:defRPr sz="1300" b="0">
                <a:solidFill>
                  <a:srgbClr val="C8D2DC"/>
                </a:solidFill>
                <a:latin typeface="Microsoft YaHei"/>
              </a:defRPr>
            </a:pPr>
            <a:r>
              <a:t>  2021: 6–8×10⁻¹⁸ 不确定度</a:t>
            </a:r>
          </a:p>
          <a:p>
            <a:pPr algn="l">
              <a:lnSpc>
                <a:spcPts val="1690"/>
              </a:lnSpc>
              <a:spcAft>
                <a:spcPts val="400"/>
              </a:spcAft>
              <a:defRPr sz="1300" b="0">
                <a:solidFill>
                  <a:srgbClr val="C8D2DC"/>
                </a:solidFill>
                <a:latin typeface="Microsoft YaHei"/>
              </a:defRPr>
            </a:pPr>
            <a:r>
              <a:t>  2025: ≤3.2×10⁻¹⁸ 不确定度</a:t>
            </a:r>
          </a:p>
          <a:p>
            <a:pPr algn="l">
              <a:lnSpc>
                <a:spcPts val="1690"/>
              </a:lnSpc>
              <a:spcAft>
                <a:spcPts val="400"/>
              </a:spcAft>
              <a:defRPr sz="1300" b="0">
                <a:solidFill>
                  <a:srgbClr val="C8D2DC"/>
                </a:solidFill>
                <a:latin typeface="Microsoft YaHei"/>
              </a:defRPr>
            </a:pPr>
            <a:r>
              <a:t>  升级：低温Si腔 → 比对速度提升2–3倍</a:t>
            </a:r>
          </a:p>
          <a:p>
            <a:pPr algn="l">
              <a:lnSpc>
                <a:spcPts val="1690"/>
              </a:lnSpc>
              <a:spcAft>
                <a:spcPts val="400"/>
              </a:spcAft>
              <a:defRPr sz="1300" b="0">
                <a:solidFill>
                  <a:srgbClr val="C8D2DC"/>
                </a:solidFill>
                <a:latin typeface="Microsoft YaHei"/>
              </a:defRPr>
            </a:pPr>
            <a:r>
              <a:t>  光晶格钟比对新达到1.3×10⁻¹⁶ @1s</a:t>
            </a:r>
          </a:p>
          <a:p>
            <a:pPr algn="l">
              <a:lnSpc>
                <a:spcPts val="520"/>
              </a:lnSpc>
              <a:spcAft>
                <a:spcPts val="400"/>
              </a:spcAft>
              <a:defRPr sz="400" b="0">
                <a:solidFill>
                  <a:srgbClr val="FFFFFF"/>
                </a:solidFill>
                <a:latin typeface="Microsoft YaHei"/>
              </a:defRPr>
            </a:pPr>
          </a:p>
          <a:p>
            <a:pPr algn="l">
              <a:lnSpc>
                <a:spcPts val="1690"/>
              </a:lnSpc>
              <a:spcAft>
                <a:spcPts val="400"/>
              </a:spcAft>
              <a:defRPr sz="1300" b="0">
                <a:solidFill>
                  <a:srgbClr val="F59E0B"/>
                </a:solidFill>
                <a:latin typeface="Microsoft YaHei"/>
              </a:defRPr>
            </a:pPr>
            <a:r>
              <a:t>⚠️ 关键发现：不同实验室Sr钟频率比存在</a:t>
            </a:r>
          </a:p>
          <a:p>
            <a:pPr algn="l">
              <a:lnSpc>
                <a:spcPts val="1690"/>
              </a:lnSpc>
              <a:spcAft>
                <a:spcPts val="400"/>
              </a:spcAft>
              <a:defRPr sz="1300" b="0">
                <a:solidFill>
                  <a:srgbClr val="F59E0B"/>
                </a:solidFill>
                <a:latin typeface="Microsoft YaHei"/>
              </a:defRPr>
            </a:pPr>
            <a:r>
              <a:t>1×10⁻¹⁶量级偏差，是重定义前必须解决的问题</a:t>
            </a:r>
          </a:p>
        </p:txBody>
      </p:sp>
      <p:sp>
        <p:nvSpPr>
          <p:cNvPr id="14" name="TextBox 13"/>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国际光钟比对活动</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全球协调的比对网络 — 满足判据 I.2 和 II.1</a:t>
            </a:r>
          </a:p>
        </p:txBody>
      </p:sp>
      <p:graphicFrame>
        <p:nvGraphicFramePr>
          <p:cNvPr id="6" name="Table 5"/>
          <p:cNvGraphicFramePr>
            <a:graphicFrameLocks noGrp="1"/>
          </p:cNvGraphicFramePr>
          <p:nvPr/>
        </p:nvGraphicFramePr>
        <p:xfrm>
          <a:off x="274320" y="1645920"/>
          <a:ext cx="11430000" cy="2240280"/>
        </p:xfrm>
        <a:graphic>
          <a:graphicData uri="http://schemas.openxmlformats.org/drawingml/2006/table">
            <a:tbl>
              <a:tblPr firstRow="1" bandRow="1">
                <a:tableStyleId>{5C22544A-7EE6-4342-B048-85BDC9FD1C3A}</a:tableStyleId>
              </a:tblPr>
              <a:tblGrid>
                <a:gridCol w="1371600"/>
                <a:gridCol w="1828800"/>
                <a:gridCol w="2286000"/>
                <a:gridCol w="2743200"/>
                <a:gridCol w="3200400"/>
              </a:tblGrid>
              <a:tr h="320040">
                <a:tc>
                  <a:txBody>
                    <a:bodyPr/>
                    <a:lstStyle/>
                    <a:p>
                      <a:pPr algn="ctr">
                        <a:defRPr sz="1000" b="1">
                          <a:solidFill>
                            <a:srgbClr val="FFFFFF"/>
                          </a:solidFill>
                          <a:latin typeface="Calibri"/>
                        </a:defRPr>
                      </a:pPr>
                      <a:r>
                        <a:t>项目/网络</a:t>
                      </a:r>
                    </a:p>
                  </a:txBody>
                  <a:tcPr>
                    <a:solidFill>
                      <a:srgbClr val="122E52"/>
                    </a:solidFill>
                  </a:tcPr>
                </a:tc>
                <a:tc>
                  <a:txBody>
                    <a:bodyPr/>
                    <a:lstStyle/>
                    <a:p>
                      <a:pPr algn="ctr">
                        <a:defRPr sz="1000" b="1">
                          <a:solidFill>
                            <a:srgbClr val="FFFFFF"/>
                          </a:solidFill>
                          <a:latin typeface="Calibri"/>
                        </a:defRPr>
                      </a:pPr>
                      <a:r>
                        <a:t>参与机构</a:t>
                      </a:r>
                    </a:p>
                  </a:txBody>
                  <a:tcPr>
                    <a:solidFill>
                      <a:srgbClr val="122E52"/>
                    </a:solidFill>
                  </a:tcPr>
                </a:tc>
                <a:tc>
                  <a:txBody>
                    <a:bodyPr/>
                    <a:lstStyle/>
                    <a:p>
                      <a:pPr algn="ctr">
                        <a:defRPr sz="1000" b="1">
                          <a:solidFill>
                            <a:srgbClr val="FFFFFF"/>
                          </a:solidFill>
                          <a:latin typeface="Calibri"/>
                        </a:defRPr>
                      </a:pPr>
                      <a:r>
                        <a:t>钟类型</a:t>
                      </a:r>
                    </a:p>
                  </a:txBody>
                  <a:tcPr>
                    <a:solidFill>
                      <a:srgbClr val="122E52"/>
                    </a:solidFill>
                  </a:tcPr>
                </a:tc>
                <a:tc>
                  <a:txBody>
                    <a:bodyPr/>
                    <a:lstStyle/>
                    <a:p>
                      <a:pPr algn="ctr">
                        <a:defRPr sz="1000" b="1">
                          <a:solidFill>
                            <a:srgbClr val="FFFFFF"/>
                          </a:solidFill>
                          <a:latin typeface="Calibri"/>
                        </a:defRPr>
                      </a:pPr>
                      <a:r>
                        <a:t>比对方式</a:t>
                      </a:r>
                    </a:p>
                  </a:txBody>
                  <a:tcPr>
                    <a:solidFill>
                      <a:srgbClr val="122E52"/>
                    </a:solidFill>
                  </a:tcPr>
                </a:tc>
                <a:tc>
                  <a:txBody>
                    <a:bodyPr/>
                    <a:lstStyle/>
                    <a:p>
                      <a:pPr algn="ctr">
                        <a:defRPr sz="1000" b="1">
                          <a:solidFill>
                            <a:srgbClr val="FFFFFF"/>
                          </a:solidFill>
                          <a:latin typeface="Calibri"/>
                        </a:defRPr>
                      </a:pPr>
                      <a:r>
                        <a:t>成果/状态</a:t>
                      </a:r>
                    </a:p>
                  </a:txBody>
                  <a:tcPr>
                    <a:solidFill>
                      <a:srgbClr val="122E52"/>
                    </a:solidFill>
                  </a:tcPr>
                </a:tc>
              </a:tr>
              <a:tr h="320040">
                <a:tc>
                  <a:txBody>
                    <a:bodyPr/>
                    <a:lstStyle/>
                    <a:p>
                      <a:pPr algn="ctr">
                        <a:defRPr sz="800">
                          <a:solidFill>
                            <a:srgbClr val="C8D2DC"/>
                          </a:solidFill>
                          <a:latin typeface="Calibri"/>
                        </a:defRPr>
                      </a:pPr>
                      <a:r>
                        <a:t>BACON</a:t>
                      </a:r>
                    </a:p>
                    <a:p>
                      <a:pPr algn="ctr">
                        <a:defRPr sz="800">
                          <a:solidFill>
                            <a:srgbClr val="C8D2DC"/>
                          </a:solidFill>
                          <a:latin typeface="Calibri"/>
                        </a:defRPr>
                      </a:pPr>
                      <a:r>
                        <a:t>(Boulder)</a:t>
                      </a:r>
                    </a:p>
                  </a:txBody>
                  <a:tcPr>
                    <a:solidFill>
                      <a:srgbClr val="122E52"/>
                    </a:solidFill>
                  </a:tcPr>
                </a:tc>
                <a:tc>
                  <a:txBody>
                    <a:bodyPr/>
                    <a:lstStyle/>
                    <a:p>
                      <a:pPr algn="ctr">
                        <a:defRPr sz="800">
                          <a:solidFill>
                            <a:srgbClr val="C8D2DC"/>
                          </a:solidFill>
                          <a:latin typeface="Calibri"/>
                        </a:defRPr>
                      </a:pPr>
                      <a:r>
                        <a:t>NIST, JILA</a:t>
                      </a:r>
                    </a:p>
                    <a:p>
                      <a:pPr algn="ctr">
                        <a:defRPr sz="800">
                          <a:solidFill>
                            <a:srgbClr val="C8D2DC"/>
                          </a:solidFill>
                          <a:latin typeface="Calibri"/>
                        </a:defRPr>
                      </a:pPr>
                      <a:r>
                        <a:t>(美国)</a:t>
                      </a:r>
                    </a:p>
                  </a:txBody>
                  <a:tcPr>
                    <a:solidFill>
                      <a:srgbClr val="122E52"/>
                    </a:solidFill>
                  </a:tcPr>
                </a:tc>
                <a:tc>
                  <a:txBody>
                    <a:bodyPr/>
                    <a:lstStyle/>
                    <a:p>
                      <a:pPr algn="ctr">
                        <a:defRPr sz="800">
                          <a:solidFill>
                            <a:srgbClr val="C8D2DC"/>
                          </a:solidFill>
                          <a:latin typeface="Calibri"/>
                        </a:defRPr>
                      </a:pPr>
                      <a:r>
                        <a:t>Al⁺, Yb, Sr</a:t>
                      </a:r>
                    </a:p>
                    <a:p>
                      <a:pPr algn="ctr">
                        <a:defRPr sz="800">
                          <a:solidFill>
                            <a:srgbClr val="C8D2DC"/>
                          </a:solidFill>
                          <a:latin typeface="Calibri"/>
                        </a:defRPr>
                      </a:pPr>
                      <a:r>
                        <a:t>(三种)</a:t>
                      </a:r>
                    </a:p>
                  </a:txBody>
                  <a:tcPr>
                    <a:solidFill>
                      <a:srgbClr val="122E52"/>
                    </a:solidFill>
                  </a:tcPr>
                </a:tc>
                <a:tc>
                  <a:txBody>
                    <a:bodyPr/>
                    <a:lstStyle/>
                    <a:p>
                      <a:pPr algn="ctr">
                        <a:defRPr sz="800">
                          <a:solidFill>
                            <a:srgbClr val="C8D2DC"/>
                          </a:solidFill>
                          <a:latin typeface="Calibri"/>
                        </a:defRPr>
                      </a:pPr>
                      <a:r>
                        <a:t>3.6 km光纤</a:t>
                      </a:r>
                    </a:p>
                    <a:p>
                      <a:pPr algn="ctr">
                        <a:defRPr sz="800">
                          <a:solidFill>
                            <a:srgbClr val="C8D2DC"/>
                          </a:solidFill>
                          <a:latin typeface="Calibri"/>
                        </a:defRPr>
                      </a:pPr>
                      <a:r>
                        <a:t>+1.5 km自由空间</a:t>
                      </a:r>
                    </a:p>
                  </a:txBody>
                  <a:tcPr>
                    <a:solidFill>
                      <a:srgbClr val="122E52"/>
                    </a:solidFill>
                  </a:tcPr>
                </a:tc>
                <a:tc>
                  <a:txBody>
                    <a:bodyPr/>
                    <a:lstStyle/>
                    <a:p>
                      <a:pPr algn="ctr">
                        <a:defRPr sz="800">
                          <a:solidFill>
                            <a:srgbClr val="C8D2DC"/>
                          </a:solidFill>
                          <a:latin typeface="Calibri"/>
                        </a:defRPr>
                      </a:pPr>
                      <a:r>
                        <a:t>频率比 ≤3.2×10⁻¹⁸</a:t>
                      </a:r>
                    </a:p>
                    <a:p>
                      <a:pPr algn="ctr">
                        <a:defRPr sz="800">
                          <a:solidFill>
                            <a:srgbClr val="C8D2DC"/>
                          </a:solidFill>
                          <a:latin typeface="Calibri"/>
                        </a:defRPr>
                      </a:pPr>
                      <a:r>
                        <a:t>(2025更新)</a:t>
                      </a:r>
                    </a:p>
                  </a:txBody>
                  <a:tcPr>
                    <a:solidFill>
                      <a:srgbClr val="122E52"/>
                    </a:solidFill>
                  </a:tcPr>
                </a:tc>
              </a:tr>
              <a:tr h="320040">
                <a:tc>
                  <a:txBody>
                    <a:bodyPr/>
                    <a:lstStyle/>
                    <a:p>
                      <a:pPr algn="ctr">
                        <a:defRPr sz="800">
                          <a:solidFill>
                            <a:srgbClr val="C8D2DC"/>
                          </a:solidFill>
                          <a:latin typeface="Calibri"/>
                        </a:defRPr>
                      </a:pPr>
                      <a:r>
                        <a:t>欧洲光纤</a:t>
                      </a:r>
                    </a:p>
                    <a:p>
                      <a:pPr algn="ctr">
                        <a:defRPr sz="800">
                          <a:solidFill>
                            <a:srgbClr val="C8D2DC"/>
                          </a:solidFill>
                          <a:latin typeface="Calibri"/>
                        </a:defRPr>
                      </a:pPr>
                      <a:r>
                        <a:t>计量网络</a:t>
                      </a:r>
                    </a:p>
                  </a:txBody>
                  <a:tcPr>
                    <a:solidFill>
                      <a:srgbClr val="0B1D3A"/>
                    </a:solidFill>
                  </a:tcPr>
                </a:tc>
                <a:tc>
                  <a:txBody>
                    <a:bodyPr/>
                    <a:lstStyle/>
                    <a:p>
                      <a:pPr algn="ctr">
                        <a:defRPr sz="800">
                          <a:solidFill>
                            <a:srgbClr val="C8D2DC"/>
                          </a:solidFill>
                          <a:latin typeface="Calibri"/>
                        </a:defRPr>
                      </a:pPr>
                      <a:r>
                        <a:t>PTB, SYRTE,</a:t>
                      </a:r>
                    </a:p>
                    <a:p>
                      <a:pPr algn="ctr">
                        <a:defRPr sz="800">
                          <a:solidFill>
                            <a:srgbClr val="C8D2DC"/>
                          </a:solidFill>
                          <a:latin typeface="Calibri"/>
                        </a:defRPr>
                      </a:pPr>
                      <a:r>
                        <a:t>INRIM, NPL等</a:t>
                      </a:r>
                    </a:p>
                    <a:p>
                      <a:pPr algn="ctr">
                        <a:defRPr sz="800">
                          <a:solidFill>
                            <a:srgbClr val="C8D2DC"/>
                          </a:solidFill>
                          <a:latin typeface="Calibri"/>
                        </a:defRPr>
                      </a:pPr>
                      <a:r>
                        <a:t>(欧洲多国)</a:t>
                      </a:r>
                    </a:p>
                  </a:txBody>
                  <a:tcPr>
                    <a:solidFill>
                      <a:srgbClr val="0B1D3A"/>
                    </a:solidFill>
                  </a:tcPr>
                </a:tc>
                <a:tc>
                  <a:txBody>
                    <a:bodyPr/>
                    <a:lstStyle/>
                    <a:p>
                      <a:pPr algn="ctr">
                        <a:defRPr sz="800">
                          <a:solidFill>
                            <a:srgbClr val="C8D2DC"/>
                          </a:solidFill>
                          <a:latin typeface="Calibri"/>
                        </a:defRPr>
                      </a:pPr>
                      <a:r>
                        <a:t>Sr, Yb⁺ E3</a:t>
                      </a:r>
                    </a:p>
                    <a:p>
                      <a:pPr algn="ctr">
                        <a:defRPr sz="800">
                          <a:solidFill>
                            <a:srgbClr val="C8D2DC"/>
                          </a:solidFill>
                          <a:latin typeface="Calibri"/>
                        </a:defRPr>
                      </a:pPr>
                      <a:r>
                        <a:t>+ Cs喷泉钟</a:t>
                      </a:r>
                    </a:p>
                  </a:txBody>
                  <a:tcPr>
                    <a:solidFill>
                      <a:srgbClr val="0B1D3A"/>
                    </a:solidFill>
                  </a:tcPr>
                </a:tc>
                <a:tc>
                  <a:txBody>
                    <a:bodyPr/>
                    <a:lstStyle/>
                    <a:p>
                      <a:pPr algn="ctr">
                        <a:defRPr sz="800">
                          <a:solidFill>
                            <a:srgbClr val="C8D2DC"/>
                          </a:solidFill>
                          <a:latin typeface="Calibri"/>
                        </a:defRPr>
                      </a:pPr>
                      <a:r>
                        <a:t>欧洲光纤网</a:t>
                      </a:r>
                    </a:p>
                    <a:p>
                      <a:pPr algn="ctr">
                        <a:defRPr sz="800">
                          <a:solidFill>
                            <a:srgbClr val="C8D2DC"/>
                          </a:solidFill>
                          <a:latin typeface="Calibri"/>
                        </a:defRPr>
                      </a:pPr>
                      <a:r>
                        <a:t>2220 km</a:t>
                      </a:r>
                    </a:p>
                  </a:txBody>
                  <a:tcPr>
                    <a:solidFill>
                      <a:srgbClr val="0B1D3A"/>
                    </a:solidFill>
                  </a:tcPr>
                </a:tc>
                <a:tc>
                  <a:txBody>
                    <a:bodyPr/>
                    <a:lstStyle/>
                    <a:p>
                      <a:pPr algn="ctr">
                        <a:defRPr sz="800">
                          <a:solidFill>
                            <a:srgbClr val="C8D2DC"/>
                          </a:solidFill>
                          <a:latin typeface="Calibri"/>
                        </a:defRPr>
                      </a:pPr>
                      <a:r>
                        <a:t>7×10⁻¹⁷ @多站点</a:t>
                      </a:r>
                    </a:p>
                    <a:p>
                      <a:pPr algn="ctr">
                        <a:defRPr sz="800">
                          <a:solidFill>
                            <a:srgbClr val="C8D2DC"/>
                          </a:solidFill>
                          <a:latin typeface="Calibri"/>
                        </a:defRPr>
                      </a:pPr>
                      <a:r>
                        <a:t>Brillouin放大中继</a:t>
                      </a:r>
                    </a:p>
                  </a:txBody>
                  <a:tcPr>
                    <a:solidFill>
                      <a:srgbClr val="0B1D3A"/>
                    </a:solidFill>
                  </a:tcPr>
                </a:tc>
              </a:tr>
              <a:tr h="320040">
                <a:tc>
                  <a:txBody>
                    <a:bodyPr/>
                    <a:lstStyle/>
                    <a:p>
                      <a:pPr algn="ctr">
                        <a:defRPr sz="800">
                          <a:solidFill>
                            <a:srgbClr val="C8D2DC"/>
                          </a:solidFill>
                          <a:latin typeface="Calibri"/>
                        </a:defRPr>
                      </a:pPr>
                      <a:r>
                        <a:t>PTB</a:t>
                      </a:r>
                    </a:p>
                    <a:p>
                      <a:pPr algn="ctr">
                        <a:defRPr sz="800">
                          <a:solidFill>
                            <a:srgbClr val="C8D2DC"/>
                          </a:solidFill>
                          <a:latin typeface="Calibri"/>
                        </a:defRPr>
                      </a:pPr>
                      <a:r>
                        <a:t>Yb⁺/Sr比对</a:t>
                      </a:r>
                    </a:p>
                  </a:txBody>
                  <a:tcPr>
                    <a:solidFill>
                      <a:srgbClr val="122E52"/>
                    </a:solidFill>
                  </a:tcPr>
                </a:tc>
                <a:tc>
                  <a:txBody>
                    <a:bodyPr/>
                    <a:lstStyle/>
                    <a:p>
                      <a:pPr algn="ctr">
                        <a:defRPr sz="800">
                          <a:solidFill>
                            <a:srgbClr val="C8D2DC"/>
                          </a:solidFill>
                          <a:latin typeface="Calibri"/>
                        </a:defRPr>
                      </a:pPr>
                      <a:r>
                        <a:t>PTB</a:t>
                      </a:r>
                    </a:p>
                    <a:p>
                      <a:pPr algn="ctr">
                        <a:defRPr sz="800">
                          <a:solidFill>
                            <a:srgbClr val="C8D2DC"/>
                          </a:solidFill>
                          <a:latin typeface="Calibri"/>
                        </a:defRPr>
                      </a:pPr>
                      <a:r>
                        <a:t>(德国)</a:t>
                      </a:r>
                    </a:p>
                  </a:txBody>
                  <a:tcPr>
                    <a:solidFill>
                      <a:srgbClr val="122E52"/>
                    </a:solidFill>
                  </a:tcPr>
                </a:tc>
                <a:tc>
                  <a:txBody>
                    <a:bodyPr/>
                    <a:lstStyle/>
                    <a:p>
                      <a:pPr algn="ctr">
                        <a:defRPr sz="800">
                          <a:solidFill>
                            <a:srgbClr val="C8D2DC"/>
                          </a:solidFill>
                          <a:latin typeface="Calibri"/>
                        </a:defRPr>
                      </a:pPr>
                      <a:r>
                        <a:t>¹⁷¹Yb⁺ E3</a:t>
                      </a:r>
                    </a:p>
                    <a:p>
                      <a:pPr algn="ctr">
                        <a:defRPr sz="800">
                          <a:solidFill>
                            <a:srgbClr val="C8D2DC"/>
                          </a:solidFill>
                          <a:latin typeface="Calibri"/>
                        </a:defRPr>
                      </a:pPr>
                      <a:r>
                        <a:t>+ ⁸⁷Sr</a:t>
                      </a:r>
                    </a:p>
                  </a:txBody>
                  <a:tcPr>
                    <a:solidFill>
                      <a:srgbClr val="122E52"/>
                    </a:solidFill>
                  </a:tcPr>
                </a:tc>
                <a:tc>
                  <a:txBody>
                    <a:bodyPr/>
                    <a:lstStyle/>
                    <a:p>
                      <a:pPr algn="ctr">
                        <a:defRPr sz="800">
                          <a:solidFill>
                            <a:srgbClr val="C8D2DC"/>
                          </a:solidFill>
                          <a:latin typeface="Calibri"/>
                        </a:defRPr>
                      </a:pPr>
                      <a:r>
                        <a:t>本地直接比对</a:t>
                      </a:r>
                    </a:p>
                    <a:p>
                      <a:pPr algn="ctr">
                        <a:defRPr sz="800">
                          <a:solidFill>
                            <a:srgbClr val="C8D2DC"/>
                          </a:solidFill>
                          <a:latin typeface="Calibri"/>
                        </a:defRPr>
                      </a:pPr>
                      <a:r>
                        <a:t>光纤频率传递</a:t>
                      </a:r>
                    </a:p>
                  </a:txBody>
                  <a:tcPr>
                    <a:solidFill>
                      <a:srgbClr val="122E52"/>
                    </a:solidFill>
                  </a:tcPr>
                </a:tc>
                <a:tc>
                  <a:txBody>
                    <a:bodyPr/>
                    <a:lstStyle/>
                    <a:p>
                      <a:pPr algn="ctr">
                        <a:defRPr sz="800">
                          <a:solidFill>
                            <a:srgbClr val="C8D2DC"/>
                          </a:solidFill>
                          <a:latin typeface="Calibri"/>
                        </a:defRPr>
                      </a:pPr>
                      <a:r>
                        <a:t>2.5×10⁻¹⁷</a:t>
                      </a:r>
                    </a:p>
                    <a:p>
                      <a:pPr algn="ctr">
                        <a:defRPr sz="800">
                          <a:solidFill>
                            <a:srgbClr val="C8D2DC"/>
                          </a:solidFill>
                          <a:latin typeface="Calibri"/>
                        </a:defRPr>
                      </a:pPr>
                      <a:r>
                        <a:t>(2012–2019系列)</a:t>
                      </a:r>
                    </a:p>
                  </a:txBody>
                  <a:tcPr>
                    <a:solidFill>
                      <a:srgbClr val="122E52"/>
                    </a:solidFill>
                  </a:tcPr>
                </a:tc>
              </a:tr>
              <a:tr h="320040">
                <a:tc>
                  <a:txBody>
                    <a:bodyPr/>
                    <a:lstStyle/>
                    <a:p>
                      <a:pPr algn="ctr">
                        <a:defRPr sz="800">
                          <a:solidFill>
                            <a:srgbClr val="C8D2DC"/>
                          </a:solidFill>
                          <a:latin typeface="Calibri"/>
                        </a:defRPr>
                      </a:pPr>
                      <a:r>
                        <a:t>RIKEN</a:t>
                      </a:r>
                    </a:p>
                    <a:p>
                      <a:pPr algn="ctr">
                        <a:defRPr sz="800">
                          <a:solidFill>
                            <a:srgbClr val="C8D2DC"/>
                          </a:solidFill>
                          <a:latin typeface="Calibri"/>
                        </a:defRPr>
                      </a:pPr>
                      <a:r>
                        <a:t>可搬运钟</a:t>
                      </a:r>
                    </a:p>
                  </a:txBody>
                  <a:tcPr>
                    <a:solidFill>
                      <a:srgbClr val="0B1D3A"/>
                    </a:solidFill>
                  </a:tcPr>
                </a:tc>
                <a:tc>
                  <a:txBody>
                    <a:bodyPr/>
                    <a:lstStyle/>
                    <a:p>
                      <a:pPr algn="ctr">
                        <a:defRPr sz="800">
                          <a:solidFill>
                            <a:srgbClr val="C8D2DC"/>
                          </a:solidFill>
                          <a:latin typeface="Calibri"/>
                        </a:defRPr>
                      </a:pPr>
                      <a:r>
                        <a:t>RIKEN</a:t>
                      </a:r>
                    </a:p>
                    <a:p>
                      <a:pPr algn="ctr">
                        <a:defRPr sz="800">
                          <a:solidFill>
                            <a:srgbClr val="C8D2DC"/>
                          </a:solidFill>
                          <a:latin typeface="Calibri"/>
                        </a:defRPr>
                      </a:pPr>
                      <a:r>
                        <a:t>(日本)</a:t>
                      </a:r>
                    </a:p>
                  </a:txBody>
                  <a:tcPr>
                    <a:solidFill>
                      <a:srgbClr val="0B1D3A"/>
                    </a:solidFill>
                  </a:tcPr>
                </a:tc>
                <a:tc>
                  <a:txBody>
                    <a:bodyPr/>
                    <a:lstStyle/>
                    <a:p>
                      <a:pPr algn="ctr">
                        <a:defRPr sz="800">
                          <a:solidFill>
                            <a:srgbClr val="C8D2DC"/>
                          </a:solidFill>
                          <a:latin typeface="Calibri"/>
                        </a:defRPr>
                      </a:pPr>
                      <a:r>
                        <a:t>Sr光晶格</a:t>
                      </a:r>
                    </a:p>
                    <a:p>
                      <a:pPr algn="ctr">
                        <a:defRPr sz="800">
                          <a:solidFill>
                            <a:srgbClr val="C8D2DC"/>
                          </a:solidFill>
                          <a:latin typeface="Calibri"/>
                        </a:defRPr>
                      </a:pPr>
                      <a:r>
                        <a:t>(可搬运)</a:t>
                      </a:r>
                    </a:p>
                  </a:txBody>
                  <a:tcPr>
                    <a:solidFill>
                      <a:srgbClr val="0B1D3A"/>
                    </a:solidFill>
                  </a:tcPr>
                </a:tc>
                <a:tc>
                  <a:txBody>
                    <a:bodyPr/>
                    <a:lstStyle/>
                    <a:p>
                      <a:pPr algn="ctr">
                        <a:defRPr sz="800">
                          <a:solidFill>
                            <a:srgbClr val="C8D2DC"/>
                          </a:solidFill>
                          <a:latin typeface="Calibri"/>
                        </a:defRPr>
                      </a:pPr>
                      <a:r>
                        <a:t>晴空塔450 m</a:t>
                      </a:r>
                    </a:p>
                    <a:p>
                      <a:pPr algn="ctr">
                        <a:defRPr sz="800">
                          <a:solidFill>
                            <a:srgbClr val="C8D2DC"/>
                          </a:solidFill>
                          <a:latin typeface="Calibri"/>
                        </a:defRPr>
                      </a:pPr>
                      <a:r>
                        <a:t>高度差比对</a:t>
                      </a:r>
                    </a:p>
                  </a:txBody>
                  <a:tcPr>
                    <a:solidFill>
                      <a:srgbClr val="0B1D3A"/>
                    </a:solidFill>
                  </a:tcPr>
                </a:tc>
                <a:tc>
                  <a:txBody>
                    <a:bodyPr/>
                    <a:lstStyle/>
                    <a:p>
                      <a:pPr algn="ctr">
                        <a:defRPr sz="800">
                          <a:solidFill>
                            <a:srgbClr val="C8D2DC"/>
                          </a:solidFill>
                          <a:latin typeface="Calibri"/>
                        </a:defRPr>
                      </a:pPr>
                      <a:r>
                        <a:t>引力红移验证</a:t>
                      </a:r>
                    </a:p>
                    <a:p>
                      <a:pPr algn="ctr">
                        <a:defRPr sz="800">
                          <a:solidFill>
                            <a:srgbClr val="C8D2DC"/>
                          </a:solidFill>
                          <a:latin typeface="Calibri"/>
                        </a:defRPr>
                      </a:pPr>
                      <a:r>
                        <a:t>~5×10⁻¹⁸精度</a:t>
                      </a:r>
                    </a:p>
                  </a:txBody>
                  <a:tcPr>
                    <a:solidFill>
                      <a:srgbClr val="0B1D3A"/>
                    </a:solidFill>
                  </a:tcPr>
                </a:tc>
              </a:tr>
              <a:tr h="320040">
                <a:tc>
                  <a:txBody>
                    <a:bodyPr/>
                    <a:lstStyle/>
                    <a:p>
                      <a:pPr algn="ctr">
                        <a:defRPr sz="800">
                          <a:solidFill>
                            <a:srgbClr val="C8D2DC"/>
                          </a:solidFill>
                          <a:latin typeface="Calibri"/>
                        </a:defRPr>
                      </a:pPr>
                      <a:r>
                        <a:t>NTSC</a:t>
                      </a:r>
                    </a:p>
                    <a:p>
                      <a:pPr algn="ctr">
                        <a:defRPr sz="800">
                          <a:solidFill>
                            <a:srgbClr val="C8D2DC"/>
                          </a:solidFill>
                          <a:latin typeface="Calibri"/>
                        </a:defRPr>
                      </a:pPr>
                      <a:r>
                        <a:t>中国</a:t>
                      </a:r>
                    </a:p>
                  </a:txBody>
                  <a:tcPr>
                    <a:solidFill>
                      <a:srgbClr val="122E52"/>
                    </a:solidFill>
                  </a:tcPr>
                </a:tc>
                <a:tc>
                  <a:txBody>
                    <a:bodyPr/>
                    <a:lstStyle/>
                    <a:p>
                      <a:pPr algn="ctr">
                        <a:defRPr sz="800">
                          <a:solidFill>
                            <a:srgbClr val="C8D2DC"/>
                          </a:solidFill>
                          <a:latin typeface="Calibri"/>
                        </a:defRPr>
                      </a:pPr>
                      <a:r>
                        <a:t>国家授时中心</a:t>
                      </a:r>
                    </a:p>
                    <a:p>
                      <a:pPr algn="ctr">
                        <a:defRPr sz="800">
                          <a:solidFill>
                            <a:srgbClr val="C8D2DC"/>
                          </a:solidFill>
                          <a:latin typeface="Calibri"/>
                        </a:defRPr>
                      </a:pPr>
                      <a:r>
                        <a:t>(西安)</a:t>
                      </a:r>
                    </a:p>
                  </a:txBody>
                  <a:tcPr>
                    <a:solidFill>
                      <a:srgbClr val="122E52"/>
                    </a:solidFill>
                  </a:tcPr>
                </a:tc>
                <a:tc>
                  <a:txBody>
                    <a:bodyPr/>
                    <a:lstStyle/>
                    <a:p>
                      <a:pPr algn="ctr">
                        <a:defRPr sz="800">
                          <a:solidFill>
                            <a:srgbClr val="C8D2DC"/>
                          </a:solidFill>
                          <a:latin typeface="Calibri"/>
                        </a:defRPr>
                      </a:pPr>
                      <a:r>
                        <a:t>Sr光晶格</a:t>
                      </a:r>
                    </a:p>
                    <a:p>
                      <a:pPr algn="ctr">
                        <a:defRPr sz="800">
                          <a:solidFill>
                            <a:srgbClr val="C8D2DC"/>
                          </a:solidFill>
                          <a:latin typeface="Calibri"/>
                        </a:defRPr>
                      </a:pPr>
                      <a:r>
                        <a:t>(NimSrI)</a:t>
                      </a:r>
                    </a:p>
                  </a:txBody>
                  <a:tcPr>
                    <a:solidFill>
                      <a:srgbClr val="122E52"/>
                    </a:solidFill>
                  </a:tcPr>
                </a:tc>
                <a:tc>
                  <a:txBody>
                    <a:bodyPr/>
                    <a:lstStyle/>
                    <a:p>
                      <a:pPr algn="ctr">
                        <a:defRPr sz="800">
                          <a:solidFill>
                            <a:srgbClr val="C8D2DC"/>
                          </a:solidFill>
                          <a:latin typeface="Calibri"/>
                        </a:defRPr>
                      </a:pPr>
                      <a:r>
                        <a:t>本地双钟比对</a:t>
                      </a:r>
                    </a:p>
                  </a:txBody>
                  <a:tcPr>
                    <a:solidFill>
                      <a:srgbClr val="122E52"/>
                    </a:solidFill>
                  </a:tcPr>
                </a:tc>
                <a:tc>
                  <a:txBody>
                    <a:bodyPr/>
                    <a:lstStyle/>
                    <a:p>
                      <a:pPr algn="ctr">
                        <a:defRPr sz="800">
                          <a:solidFill>
                            <a:srgbClr val="C8D2DC"/>
                          </a:solidFill>
                          <a:latin typeface="Calibri"/>
                        </a:defRPr>
                      </a:pPr>
                      <a:r>
                        <a:t>4.8×10⁻¹⁸</a:t>
                      </a:r>
                    </a:p>
                    <a:p>
                      <a:pPr algn="ctr">
                        <a:defRPr sz="800">
                          <a:solidFill>
                            <a:srgbClr val="C8D2DC"/>
                          </a:solidFill>
                          <a:latin typeface="Calibri"/>
                        </a:defRPr>
                      </a:pPr>
                      <a:r>
                        <a:t>(Li, 2024)</a:t>
                      </a:r>
                    </a:p>
                  </a:txBody>
                  <a:tcPr>
                    <a:solidFill>
                      <a:srgbClr val="122E52"/>
                    </a:solidFill>
                  </a:tcPr>
                </a:tc>
              </a:tr>
              <a:tr h="320040">
                <a:tc>
                  <a:txBody>
                    <a:bodyPr/>
                    <a:lstStyle/>
                    <a:p>
                      <a:pPr algn="ctr">
                        <a:defRPr sz="800">
                          <a:solidFill>
                            <a:srgbClr val="C8D2DC"/>
                          </a:solidFill>
                          <a:latin typeface="Calibri"/>
                        </a:defRPr>
                      </a:pPr>
                      <a:r>
                        <a:t>VLBI</a:t>
                      </a:r>
                    </a:p>
                    <a:p>
                      <a:pPr algn="ctr">
                        <a:defRPr sz="800">
                          <a:solidFill>
                            <a:srgbClr val="C8D2DC"/>
                          </a:solidFill>
                          <a:latin typeface="Calibri"/>
                        </a:defRPr>
                      </a:pPr>
                      <a:r>
                        <a:t>洲际比对</a:t>
                      </a:r>
                    </a:p>
                  </a:txBody>
                  <a:tcPr>
                    <a:solidFill>
                      <a:srgbClr val="0B1D3A"/>
                    </a:solidFill>
                  </a:tcPr>
                </a:tc>
                <a:tc>
                  <a:txBody>
                    <a:bodyPr/>
                    <a:lstStyle/>
                    <a:p>
                      <a:pPr algn="ctr">
                        <a:defRPr sz="800">
                          <a:solidFill>
                            <a:srgbClr val="C8D2DC"/>
                          </a:solidFill>
                          <a:latin typeface="Calibri"/>
                        </a:defRPr>
                      </a:pPr>
                      <a:r>
                        <a:t>INAF(意), NICT(日)</a:t>
                      </a:r>
                    </a:p>
                    <a:p>
                      <a:pPr algn="ctr">
                        <a:defRPr sz="800">
                          <a:solidFill>
                            <a:srgbClr val="C8D2DC"/>
                          </a:solidFill>
                          <a:latin typeface="Calibri"/>
                        </a:defRPr>
                      </a:pPr>
                      <a:r>
                        <a:t>Medicina↔Koganei</a:t>
                      </a:r>
                    </a:p>
                  </a:txBody>
                  <a:tcPr>
                    <a:solidFill>
                      <a:srgbClr val="0B1D3A"/>
                    </a:solidFill>
                  </a:tcPr>
                </a:tc>
                <a:tc>
                  <a:txBody>
                    <a:bodyPr/>
                    <a:lstStyle/>
                    <a:p>
                      <a:pPr algn="ctr">
                        <a:defRPr sz="800">
                          <a:solidFill>
                            <a:srgbClr val="C8D2DC"/>
                          </a:solidFill>
                          <a:latin typeface="Calibri"/>
                        </a:defRPr>
                      </a:pPr>
                      <a:r>
                        <a:t>Sr光钟</a:t>
                      </a:r>
                    </a:p>
                  </a:txBody>
                  <a:tcPr>
                    <a:solidFill>
                      <a:srgbClr val="0B1D3A"/>
                    </a:solidFill>
                  </a:tcPr>
                </a:tc>
                <a:tc>
                  <a:txBody>
                    <a:bodyPr/>
                    <a:lstStyle/>
                    <a:p>
                      <a:pPr algn="ctr">
                        <a:defRPr sz="800">
                          <a:solidFill>
                            <a:srgbClr val="C8D2DC"/>
                          </a:solidFill>
                          <a:latin typeface="Calibri"/>
                        </a:defRPr>
                      </a:pPr>
                      <a:r>
                        <a:t>VLBI</a:t>
                      </a:r>
                    </a:p>
                    <a:p>
                      <a:pPr algn="ctr">
                        <a:defRPr sz="800">
                          <a:solidFill>
                            <a:srgbClr val="C8D2DC"/>
                          </a:solidFill>
                          <a:latin typeface="Calibri"/>
                        </a:defRPr>
                      </a:pPr>
                      <a:r>
                        <a:t>9000 km</a:t>
                      </a:r>
                    </a:p>
                  </a:txBody>
                  <a:tcPr>
                    <a:solidFill>
                      <a:srgbClr val="0B1D3A"/>
                    </a:solidFill>
                  </a:tcPr>
                </a:tc>
                <a:tc>
                  <a:txBody>
                    <a:bodyPr/>
                    <a:lstStyle/>
                    <a:p>
                      <a:pPr algn="ctr">
                        <a:defRPr sz="800">
                          <a:solidFill>
                            <a:srgbClr val="C8D2DC"/>
                          </a:solidFill>
                          <a:latin typeface="Calibri"/>
                        </a:defRPr>
                      </a:pPr>
                      <a:r>
                        <a:t>2–4×10⁻¹⁶</a:t>
                      </a:r>
                    </a:p>
                    <a:p>
                      <a:pPr algn="ctr">
                        <a:defRPr sz="800">
                          <a:solidFill>
                            <a:srgbClr val="C8D2DC"/>
                          </a:solidFill>
                          <a:latin typeface="Calibri"/>
                        </a:defRPr>
                      </a:pPr>
                      <a:r>
                        <a:t>@1000–10000s</a:t>
                      </a:r>
                    </a:p>
                  </a:txBody>
                  <a:tcPr>
                    <a:solidFill>
                      <a:srgbClr val="0B1D3A"/>
                    </a:solidFill>
                  </a:tcPr>
                </a:tc>
              </a:tr>
            </a:tbl>
          </a:graphicData>
        </a:graphic>
      </p:graphicFrame>
      <p:sp>
        <p:nvSpPr>
          <p:cNvPr id="7" name="TextBox 6"/>
          <p:cNvSpPr txBox="1"/>
          <p:nvPr/>
        </p:nvSpPr>
        <p:spPr>
          <a:xfrm>
            <a:off x="457200" y="5943600"/>
            <a:ext cx="10972800" cy="731520"/>
          </a:xfrm>
          <a:prstGeom prst="rect">
            <a:avLst/>
          </a:prstGeom>
          <a:noFill/>
        </p:spPr>
        <p:txBody>
          <a:bodyPr wrap="square">
            <a:spAutoFit/>
          </a:bodyPr>
          <a:lstStyle/>
          <a:p>
            <a:pPr algn="l">
              <a:lnSpc>
                <a:spcPts val="1690"/>
              </a:lnSpc>
              <a:spcAft>
                <a:spcPts val="400"/>
              </a:spcAft>
              <a:defRPr sz="1300" b="0">
                <a:solidFill>
                  <a:srgbClr val="14B8A6"/>
                </a:solidFill>
                <a:latin typeface="Calibri"/>
              </a:defRPr>
            </a:pPr>
            <a:r>
              <a:t>2025 CCTF: 多项国际和区域比对正在进行中 "Several international and regional comparison campaigns are underway and planned"</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时频传递技术：光钟比对的桥梁</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判据II的核心 — 光纤链路与自由空间链路</a:t>
            </a:r>
          </a:p>
        </p:txBody>
      </p:sp>
      <p:sp>
        <p:nvSpPr>
          <p:cNvPr id="6" name="Rectangle 5"/>
          <p:cNvSpPr/>
          <p:nvPr/>
        </p:nvSpPr>
        <p:spPr>
          <a:xfrm>
            <a:off x="457200" y="1828800"/>
            <a:ext cx="5486400" cy="21031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54864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5029200" cy="1737360"/>
          </a:xfrm>
          <a:prstGeom prst="rect">
            <a:avLst/>
          </a:prstGeom>
          <a:noFill/>
        </p:spPr>
        <p:txBody>
          <a:bodyPr wrap="square">
            <a:spAutoFit/>
          </a:bodyPr>
          <a:lstStyle/>
          <a:p>
            <a:pPr algn="l">
              <a:lnSpc>
                <a:spcPts val="2600"/>
              </a:lnSpc>
              <a:spcAft>
                <a:spcPts val="400"/>
              </a:spcAft>
              <a:defRPr sz="2000" b="1">
                <a:solidFill>
                  <a:srgbClr val="3B82F6"/>
                </a:solidFill>
                <a:latin typeface="Microsoft YaHei"/>
              </a:defRPr>
            </a:pPr>
            <a:r>
              <a:t>光纤相干时频传递</a:t>
            </a:r>
          </a:p>
          <a:p>
            <a:pPr algn="l">
              <a:lnSpc>
                <a:spcPts val="1820"/>
              </a:lnSpc>
              <a:spcAft>
                <a:spcPts val="400"/>
              </a:spcAft>
              <a:defRPr sz="1400" b="0">
                <a:solidFill>
                  <a:srgbClr val="C8D2DC"/>
                </a:solidFill>
                <a:latin typeface="Microsoft YaHei"/>
              </a:defRPr>
            </a:pPr>
            <a:r>
              <a:t>• PTB↔MPQ: 920 km, MDEV = 5×10⁻¹⁵@1s → 1×10⁻¹⁸@&lt;1000s</a:t>
            </a:r>
          </a:p>
          <a:p>
            <a:pPr algn="l">
              <a:lnSpc>
                <a:spcPts val="1820"/>
              </a:lnSpc>
              <a:spcAft>
                <a:spcPts val="400"/>
              </a:spcAft>
              <a:defRPr sz="1400" b="0">
                <a:solidFill>
                  <a:srgbClr val="C8D2DC"/>
                </a:solidFill>
                <a:latin typeface="Microsoft YaHei"/>
              </a:defRPr>
            </a:pPr>
            <a:r>
              <a:t>• SYRTE↔PTB: 1415 km国际链路, 不确定度 ~5×10⁻¹⁷</a:t>
            </a:r>
          </a:p>
          <a:p>
            <a:pPr algn="l">
              <a:lnSpc>
                <a:spcPts val="1820"/>
              </a:lnSpc>
              <a:spcAft>
                <a:spcPts val="400"/>
              </a:spcAft>
              <a:defRPr sz="1400" b="0">
                <a:solidFill>
                  <a:srgbClr val="C8D2DC"/>
                </a:solidFill>
                <a:latin typeface="Microsoft YaHei"/>
              </a:defRPr>
            </a:pPr>
            <a:r>
              <a:t>• PTB Brillouin放大: 1400 km, 残余偏移 (−1.1±0.4)×10⁻²⁰</a:t>
            </a:r>
          </a:p>
          <a:p>
            <a:pPr algn="l">
              <a:lnSpc>
                <a:spcPts val="1820"/>
              </a:lnSpc>
              <a:spcAft>
                <a:spcPts val="400"/>
              </a:spcAft>
              <a:defRPr sz="1400" b="0">
                <a:solidFill>
                  <a:srgbClr val="C8D2DC"/>
                </a:solidFill>
                <a:latin typeface="Microsoft YaHei"/>
              </a:defRPr>
            </a:pPr>
            <a:r>
              <a:t>• NTSC: 112 km 城市链路, 490 km 噪声场地链路</a:t>
            </a:r>
          </a:p>
        </p:txBody>
      </p:sp>
      <p:sp>
        <p:nvSpPr>
          <p:cNvPr id="9" name="Rectangle 8"/>
          <p:cNvSpPr/>
          <p:nvPr/>
        </p:nvSpPr>
        <p:spPr>
          <a:xfrm>
            <a:off x="6217920" y="1828800"/>
            <a:ext cx="5486400" cy="21031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28800"/>
            <a:ext cx="548640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011680"/>
            <a:ext cx="5029200" cy="1737360"/>
          </a:xfrm>
          <a:prstGeom prst="rect">
            <a:avLst/>
          </a:prstGeom>
          <a:noFill/>
        </p:spPr>
        <p:txBody>
          <a:bodyPr wrap="square">
            <a:spAutoFit/>
          </a:bodyPr>
          <a:lstStyle/>
          <a:p>
            <a:pPr algn="l">
              <a:lnSpc>
                <a:spcPts val="2600"/>
              </a:lnSpc>
              <a:spcAft>
                <a:spcPts val="400"/>
              </a:spcAft>
              <a:defRPr sz="2000" b="1">
                <a:solidFill>
                  <a:srgbClr val="14B8A6"/>
                </a:solidFill>
                <a:latin typeface="Microsoft YaHei"/>
              </a:defRPr>
            </a:pPr>
            <a:r>
              <a:t>自由空间时频传递</a:t>
            </a:r>
          </a:p>
          <a:p>
            <a:pPr algn="l">
              <a:lnSpc>
                <a:spcPts val="1820"/>
              </a:lnSpc>
              <a:spcAft>
                <a:spcPts val="400"/>
              </a:spcAft>
              <a:defRPr sz="1400" b="0">
                <a:solidFill>
                  <a:srgbClr val="C8D2DC"/>
                </a:solidFill>
                <a:latin typeface="Microsoft YaHei"/>
              </a:defRPr>
            </a:pPr>
            <a:r>
              <a:t>• BACON: 1.5 km 双向飞秒激光链路, MDEV &lt; 1×10⁻¹⁸ @1000s</a:t>
            </a:r>
          </a:p>
          <a:p>
            <a:pPr algn="l">
              <a:lnSpc>
                <a:spcPts val="1820"/>
              </a:lnSpc>
              <a:spcAft>
                <a:spcPts val="400"/>
              </a:spcAft>
              <a:defRPr sz="1400" b="0">
                <a:solidFill>
                  <a:srgbClr val="C8D2DC"/>
                </a:solidFill>
                <a:latin typeface="Microsoft YaHei"/>
              </a:defRPr>
            </a:pPr>
            <a:r>
              <a:t>• NIST强湍流: 12 km 城市链路, TDEV &lt; 1 fs @&gt;2s</a:t>
            </a:r>
          </a:p>
          <a:p>
            <a:pPr algn="l">
              <a:lnSpc>
                <a:spcPts val="1820"/>
              </a:lnSpc>
              <a:spcAft>
                <a:spcPts val="400"/>
              </a:spcAft>
              <a:defRPr sz="1400" b="0">
                <a:solidFill>
                  <a:srgbClr val="C8D2DC"/>
                </a:solidFill>
                <a:latin typeface="Microsoft YaHei"/>
              </a:defRPr>
            </a:pPr>
            <a:r>
              <a:t>• UWA: 2.4 km 大气相位-振幅双稳定, 6.1×10⁻²¹ @300s</a:t>
            </a:r>
          </a:p>
          <a:p>
            <a:pPr algn="l">
              <a:lnSpc>
                <a:spcPts val="1820"/>
              </a:lnSpc>
              <a:spcAft>
                <a:spcPts val="400"/>
              </a:spcAft>
              <a:defRPr sz="1400" b="0">
                <a:solidFill>
                  <a:srgbClr val="C8D2DC"/>
                </a:solidFill>
                <a:latin typeface="Microsoft YaHei"/>
              </a:defRPr>
            </a:pPr>
            <a:r>
              <a:t>• 中国: 113 km 乌鲁木齐↔高崖子, CLS增强探测</a:t>
            </a:r>
          </a:p>
        </p:txBody>
      </p:sp>
      <p:sp>
        <p:nvSpPr>
          <p:cNvPr id="12" name="Rectangle 11"/>
          <p:cNvSpPr/>
          <p:nvPr/>
        </p:nvSpPr>
        <p:spPr>
          <a:xfrm>
            <a:off x="457200" y="4206240"/>
            <a:ext cx="11247120" cy="2286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206240"/>
            <a:ext cx="11247120" cy="45720"/>
          </a:xfrm>
          <a:prstGeom prst="rect">
            <a:avLst/>
          </a:prstGeom>
          <a:solidFill>
            <a:srgbClr val="FC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89120"/>
            <a:ext cx="5029200" cy="1828800"/>
          </a:xfrm>
          <a:prstGeom prst="rect">
            <a:avLst/>
          </a:prstGeom>
          <a:noFill/>
        </p:spPr>
        <p:txBody>
          <a:bodyPr wrap="square">
            <a:spAutoFit/>
          </a:bodyPr>
          <a:lstStyle/>
          <a:p>
            <a:pPr algn="l">
              <a:lnSpc>
                <a:spcPts val="2340"/>
              </a:lnSpc>
              <a:spcAft>
                <a:spcPts val="400"/>
              </a:spcAft>
              <a:defRPr sz="1800" b="1">
                <a:solidFill>
                  <a:srgbClr val="FCCC00"/>
                </a:solidFill>
                <a:latin typeface="Microsoft YaHei"/>
              </a:defRPr>
            </a:pPr>
            <a:r>
              <a:t>关键技术挑战</a:t>
            </a:r>
          </a:p>
          <a:p>
            <a:pPr algn="l">
              <a:lnSpc>
                <a:spcPts val="1820"/>
              </a:lnSpc>
              <a:spcAft>
                <a:spcPts val="400"/>
              </a:spcAft>
              <a:defRPr sz="1400" b="0">
                <a:solidFill>
                  <a:srgbClr val="C8D2DC"/>
                </a:solidFill>
                <a:latin typeface="Microsoft YaHei"/>
              </a:defRPr>
            </a:pPr>
            <a:r>
              <a:t>• 大地水准面高程不确定度（30–50 cm）</a:t>
            </a:r>
            <a:br/>
            <a:r>
              <a:t>→ 频率不确定度 3–5×10⁻¹⁷，限制了比对精度</a:t>
            </a:r>
          </a:p>
          <a:p>
            <a:pPr algn="l">
              <a:lnSpc>
                <a:spcPts val="1820"/>
              </a:lnSpc>
              <a:spcAft>
                <a:spcPts val="400"/>
              </a:spcAft>
              <a:defRPr sz="1400" b="0">
                <a:solidFill>
                  <a:srgbClr val="C8D2DC"/>
                </a:solidFill>
                <a:latin typeface="Microsoft YaHei"/>
              </a:defRPr>
            </a:pPr>
            <a:r>
              <a:t>• 需要 cm 级大地水准面精度才能实现 10⁻¹⁸ 全球比对</a:t>
            </a:r>
          </a:p>
          <a:p>
            <a:pPr algn="l">
              <a:lnSpc>
                <a:spcPts val="1820"/>
              </a:lnSpc>
              <a:spcAft>
                <a:spcPts val="400"/>
              </a:spcAft>
              <a:defRPr sz="1400" b="0">
                <a:solidFill>
                  <a:srgbClr val="C8D2DC"/>
                </a:solidFill>
                <a:latin typeface="Microsoft YaHei"/>
              </a:defRPr>
            </a:pPr>
            <a:r>
              <a:t>• 卫星链路（ACES/I-SOC、T2L2）需求：MWL 5×10⁻¹⁹，ELT+ 1×10⁻¹⁸</a:t>
            </a:r>
          </a:p>
        </p:txBody>
      </p:sp>
      <p:sp>
        <p:nvSpPr>
          <p:cNvPr id="15" name="TextBox 14"/>
          <p:cNvSpPr txBox="1"/>
          <p:nvPr/>
        </p:nvSpPr>
        <p:spPr>
          <a:xfrm>
            <a:off x="6217920" y="4389120"/>
            <a:ext cx="5029200" cy="1828800"/>
          </a:xfrm>
          <a:prstGeom prst="rect">
            <a:avLst/>
          </a:prstGeom>
          <a:noFill/>
        </p:spPr>
        <p:txBody>
          <a:bodyPr wrap="square">
            <a:spAutoFit/>
          </a:bodyPr>
          <a:lstStyle/>
          <a:p>
            <a:pPr algn="l">
              <a:lnSpc>
                <a:spcPts val="2340"/>
              </a:lnSpc>
              <a:spcAft>
                <a:spcPts val="400"/>
              </a:spcAft>
              <a:defRPr sz="1800" b="1">
                <a:solidFill>
                  <a:srgbClr val="FCCC00"/>
                </a:solidFill>
                <a:latin typeface="Microsoft YaHei"/>
              </a:defRPr>
            </a:pPr>
            <a:r>
              <a:t>技术路线图</a:t>
            </a:r>
          </a:p>
          <a:p>
            <a:pPr algn="l">
              <a:lnSpc>
                <a:spcPts val="1820"/>
              </a:lnSpc>
              <a:spcAft>
                <a:spcPts val="400"/>
              </a:spcAft>
              <a:defRPr sz="1400" b="0">
                <a:solidFill>
                  <a:srgbClr val="C8D2DC"/>
                </a:solidFill>
                <a:latin typeface="Microsoft YaHei"/>
              </a:defRPr>
            </a:pPr>
            <a:r>
              <a:t>• 近程（&lt;100 km）：光纤双向相位补偿 — 成熟</a:t>
            </a:r>
          </a:p>
          <a:p>
            <a:pPr algn="l">
              <a:lnSpc>
                <a:spcPts val="1820"/>
              </a:lnSpc>
              <a:spcAft>
                <a:spcPts val="400"/>
              </a:spcAft>
              <a:defRPr sz="1400" b="0">
                <a:solidFill>
                  <a:srgbClr val="C8D2DC"/>
                </a:solidFill>
                <a:latin typeface="Microsoft YaHei"/>
              </a:defRPr>
            </a:pPr>
            <a:r>
              <a:t>• 中程（100–1000 km）：Brillouin放大中继 — 发展中</a:t>
            </a:r>
          </a:p>
          <a:p>
            <a:pPr algn="l">
              <a:lnSpc>
                <a:spcPts val="1820"/>
              </a:lnSpc>
              <a:spcAft>
                <a:spcPts val="400"/>
              </a:spcAft>
              <a:defRPr sz="1400" b="0">
                <a:solidFill>
                  <a:srgbClr val="C8D2DC"/>
                </a:solidFill>
                <a:latin typeface="Microsoft YaHei"/>
              </a:defRPr>
            </a:pPr>
            <a:r>
              <a:t>• 远程（&gt;1000 km）：卫星双向 + 自由空间 — 前沿</a:t>
            </a:r>
          </a:p>
          <a:p>
            <a:pPr algn="l">
              <a:lnSpc>
                <a:spcPts val="1820"/>
              </a:lnSpc>
              <a:spcAft>
                <a:spcPts val="400"/>
              </a:spcAft>
              <a:defRPr sz="1400" b="0">
                <a:solidFill>
                  <a:srgbClr val="C8D2DC"/>
                </a:solidFill>
                <a:latin typeface="Microsoft YaHei"/>
              </a:defRPr>
            </a:pPr>
            <a:r>
              <a:t>• 终极目标：全球光钟网络 + 量子纠缠增强</a:t>
            </a:r>
          </a:p>
        </p:txBody>
      </p:sp>
      <p:sp>
        <p:nvSpPr>
          <p:cNvPr id="16" name="TextBox 15"/>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来源：sci-logic-kb TFT topic; Predehl (2012); Guéna (2017); Gozzard (2022); BACON (2021); Cacciapuoti (2017, I-SOC)</a:t>
            </a:r>
          </a:p>
        </p:txBody>
      </p:sp>
      <p:sp>
        <p:nvSpPr>
          <p:cNvPr id="17" name="TextBox 16"/>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当前挑战与系统不一致性</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CCTF 2025明确指出的关键问题</a:t>
            </a:r>
          </a:p>
        </p:txBody>
      </p:sp>
      <p:sp>
        <p:nvSpPr>
          <p:cNvPr id="6" name="Rectangle 5"/>
          <p:cNvSpPr/>
          <p:nvPr/>
        </p:nvSpPr>
        <p:spPr>
          <a:xfrm>
            <a:off x="457200" y="1828800"/>
            <a:ext cx="5486400" cy="4572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54864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5029200" cy="4114800"/>
          </a:xfrm>
          <a:prstGeom prst="rect">
            <a:avLst/>
          </a:prstGeom>
          <a:noFill/>
        </p:spPr>
        <p:txBody>
          <a:bodyPr wrap="square">
            <a:spAutoFit/>
          </a:bodyPr>
          <a:lstStyle/>
          <a:p>
            <a:pPr algn="l">
              <a:lnSpc>
                <a:spcPts val="2600"/>
              </a:lnSpc>
              <a:spcAft>
                <a:spcPts val="400"/>
              </a:spcAft>
              <a:defRPr sz="2000" b="1">
                <a:solidFill>
                  <a:srgbClr val="EF4444"/>
                </a:solidFill>
                <a:latin typeface="Microsoft YaHei"/>
              </a:defRPr>
            </a:pPr>
            <a:r>
              <a:t>系统不一致性（Discrepancies）</a:t>
            </a:r>
          </a:p>
          <a:p>
            <a:pPr algn="l">
              <a:lnSpc>
                <a:spcPts val="780"/>
              </a:lnSpc>
              <a:spcAft>
                <a:spcPts val="400"/>
              </a:spcAft>
              <a:defRPr sz="600" b="0">
                <a:solidFill>
                  <a:srgbClr val="FFFFFF"/>
                </a:solidFill>
                <a:latin typeface="Microsoft YaHei"/>
              </a:defRPr>
            </a:pPr>
          </a:p>
          <a:p>
            <a:pPr algn="l">
              <a:lnSpc>
                <a:spcPts val="2080"/>
              </a:lnSpc>
              <a:spcAft>
                <a:spcPts val="400"/>
              </a:spcAft>
              <a:defRPr sz="1600" b="1">
                <a:solidFill>
                  <a:srgbClr val="FCCC00"/>
                </a:solidFill>
                <a:latin typeface="Microsoft YaHei"/>
              </a:defRPr>
            </a:pPr>
            <a:r>
              <a:t>⚠️ Sr光钟频率比偏差 ~1×10⁻¹⁶：</a:t>
            </a:r>
          </a:p>
          <a:p>
            <a:pPr algn="l">
              <a:lnSpc>
                <a:spcPts val="1820"/>
              </a:lnSpc>
              <a:spcAft>
                <a:spcPts val="400"/>
              </a:spcAft>
              <a:defRPr sz="1400" b="0">
                <a:solidFill>
                  <a:srgbClr val="C8D2DC"/>
                </a:solidFill>
                <a:latin typeface="Microsoft YaHei"/>
              </a:defRPr>
            </a:pPr>
            <a:r>
              <a:t>  • BACON 2025: 2021年测量与2025年测量</a:t>
            </a:r>
          </a:p>
          <a:p>
            <a:pPr algn="l">
              <a:lnSpc>
                <a:spcPts val="1820"/>
              </a:lnSpc>
              <a:spcAft>
                <a:spcPts val="400"/>
              </a:spcAft>
              <a:defRPr sz="1400" b="0">
                <a:solidFill>
                  <a:srgbClr val="C8D2DC"/>
                </a:solidFill>
                <a:latin typeface="Microsoft YaHei"/>
              </a:defRPr>
            </a:pPr>
            <a:r>
              <a:t>    之间存在 ~1×10⁻¹⁶的Sr比率偏差</a:t>
            </a:r>
          </a:p>
          <a:p>
            <a:pPr algn="l">
              <a:lnSpc>
                <a:spcPts val="1820"/>
              </a:lnSpc>
              <a:spcAft>
                <a:spcPts val="400"/>
              </a:spcAft>
              <a:defRPr sz="1400" b="0">
                <a:solidFill>
                  <a:srgbClr val="C8D2DC"/>
                </a:solidFill>
                <a:latin typeface="Microsoft YaHei"/>
              </a:defRPr>
            </a:pPr>
            <a:r>
              <a:t>  • 原因不明：可能是BBR建模、晶格光频移、</a:t>
            </a:r>
          </a:p>
          <a:p>
            <a:pPr algn="l">
              <a:lnSpc>
                <a:spcPts val="1820"/>
              </a:lnSpc>
              <a:spcAft>
                <a:spcPts val="400"/>
              </a:spcAft>
              <a:defRPr sz="1400" b="0">
                <a:solidFill>
                  <a:srgbClr val="C8D2DC"/>
                </a:solidFill>
                <a:latin typeface="Microsoft YaHei"/>
              </a:defRPr>
            </a:pPr>
            <a:r>
              <a:t>    密度依赖碰撞频移评估的系统误差</a:t>
            </a:r>
          </a:p>
          <a:p>
            <a:pPr algn="l">
              <a:lnSpc>
                <a:spcPts val="520"/>
              </a:lnSpc>
              <a:spcAft>
                <a:spcPts val="400"/>
              </a:spcAft>
              <a:defRPr sz="400" b="0">
                <a:solidFill>
                  <a:srgbClr val="FFFFFF"/>
                </a:solidFill>
                <a:latin typeface="Microsoft YaHei"/>
              </a:defRPr>
            </a:pPr>
          </a:p>
          <a:p>
            <a:pPr algn="l">
              <a:lnSpc>
                <a:spcPts val="2080"/>
              </a:lnSpc>
              <a:spcAft>
                <a:spcPts val="400"/>
              </a:spcAft>
              <a:defRPr sz="1600" b="1">
                <a:solidFill>
                  <a:srgbClr val="FCCC00"/>
                </a:solidFill>
                <a:latin typeface="Microsoft YaHei"/>
              </a:defRPr>
            </a:pPr>
            <a:r>
              <a:t>⚠️ Al⁺/Yb比率偏差 ~1.5×10⁻¹⁷：</a:t>
            </a:r>
          </a:p>
          <a:p>
            <a:pPr algn="l">
              <a:lnSpc>
                <a:spcPts val="1820"/>
              </a:lnSpc>
              <a:spcAft>
                <a:spcPts val="400"/>
              </a:spcAft>
              <a:defRPr sz="1400" b="0">
                <a:solidFill>
                  <a:srgbClr val="C8D2DC"/>
                </a:solidFill>
                <a:latin typeface="Microsoft YaHei"/>
              </a:defRPr>
            </a:pPr>
            <a:r>
              <a:t>  • BACON 2025 vs 2021: ~1.5×10⁻¹⁷偏差</a:t>
            </a:r>
          </a:p>
          <a:p>
            <a:pPr algn="l">
              <a:lnSpc>
                <a:spcPts val="1820"/>
              </a:lnSpc>
              <a:spcAft>
                <a:spcPts val="400"/>
              </a:spcAft>
              <a:defRPr sz="1400" b="0">
                <a:solidFill>
                  <a:srgbClr val="C8D2DC"/>
                </a:solidFill>
                <a:latin typeface="Microsoft YaHei"/>
              </a:defRPr>
            </a:pPr>
            <a:r>
              <a:t>  • 表明某些系统效应未被充分理解</a:t>
            </a:r>
          </a:p>
          <a:p>
            <a:pPr algn="l">
              <a:lnSpc>
                <a:spcPts val="520"/>
              </a:lnSpc>
              <a:spcAft>
                <a:spcPts val="400"/>
              </a:spcAft>
              <a:defRPr sz="400" b="0">
                <a:solidFill>
                  <a:srgbClr val="FFFFFF"/>
                </a:solidFill>
                <a:latin typeface="Microsoft YaHei"/>
              </a:defRPr>
            </a:pPr>
          </a:p>
          <a:p>
            <a:pPr algn="l">
              <a:lnSpc>
                <a:spcPts val="2080"/>
              </a:lnSpc>
              <a:spcAft>
                <a:spcPts val="400"/>
              </a:spcAft>
              <a:defRPr sz="1600" b="1">
                <a:solidFill>
                  <a:srgbClr val="FCCC00"/>
                </a:solidFill>
                <a:latin typeface="Microsoft YaHei"/>
              </a:defRPr>
            </a:pPr>
            <a:r>
              <a:t>⚠️ Yb⁺ E3/Sr: PTB长期测量 &gt;10⁻¹⁷波动</a:t>
            </a:r>
          </a:p>
          <a:p>
            <a:pPr algn="l">
              <a:lnSpc>
                <a:spcPts val="1820"/>
              </a:lnSpc>
              <a:spcAft>
                <a:spcPts val="400"/>
              </a:spcAft>
              <a:defRPr sz="1400" b="0">
                <a:solidFill>
                  <a:srgbClr val="C8D2DC"/>
                </a:solidFill>
                <a:latin typeface="Microsoft YaHei"/>
              </a:defRPr>
            </a:pPr>
            <a:r>
              <a:t>  • 原因不明（2012–2019, 107次独立测量）</a:t>
            </a:r>
          </a:p>
        </p:txBody>
      </p:sp>
      <p:sp>
        <p:nvSpPr>
          <p:cNvPr id="9" name="Rectangle 8"/>
          <p:cNvSpPr/>
          <p:nvPr/>
        </p:nvSpPr>
        <p:spPr>
          <a:xfrm>
            <a:off x="6217920" y="1828800"/>
            <a:ext cx="5486400" cy="4572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28800"/>
            <a:ext cx="54864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011680"/>
            <a:ext cx="5029200" cy="4114800"/>
          </a:xfrm>
          <a:prstGeom prst="rect">
            <a:avLst/>
          </a:prstGeom>
          <a:noFill/>
        </p:spPr>
        <p:txBody>
          <a:bodyPr wrap="square">
            <a:spAutoFit/>
          </a:bodyPr>
          <a:lstStyle/>
          <a:p>
            <a:pPr algn="l">
              <a:lnSpc>
                <a:spcPts val="2600"/>
              </a:lnSpc>
              <a:spcAft>
                <a:spcPts val="400"/>
              </a:spcAft>
              <a:defRPr sz="2000" b="1">
                <a:solidFill>
                  <a:srgbClr val="F59E0B"/>
                </a:solidFill>
                <a:latin typeface="Microsoft YaHei"/>
              </a:defRPr>
            </a:pPr>
            <a:r>
              <a:t>CCTF 2025应对措施</a:t>
            </a:r>
          </a:p>
          <a:p>
            <a:pPr algn="l">
              <a:lnSpc>
                <a:spcPts val="780"/>
              </a:lnSpc>
              <a:spcAft>
                <a:spcPts val="400"/>
              </a:spcAft>
              <a:defRPr sz="600" b="0">
                <a:solidFill>
                  <a:srgbClr val="FFFFFF"/>
                </a:solidFill>
                <a:latin typeface="Microsoft YaHei"/>
              </a:defRPr>
            </a:pPr>
          </a:p>
          <a:p>
            <a:pPr algn="l">
              <a:lnSpc>
                <a:spcPts val="2080"/>
              </a:lnSpc>
              <a:spcAft>
                <a:spcPts val="400"/>
              </a:spcAft>
              <a:defRPr sz="1600" b="1">
                <a:solidFill>
                  <a:srgbClr val="14B8A6"/>
                </a:solidFill>
                <a:latin typeface="Microsoft YaHei"/>
              </a:defRPr>
            </a:pPr>
            <a:r>
              <a:t>1. 扩大独立比对规模：</a:t>
            </a:r>
          </a:p>
          <a:p>
            <a:pPr algn="l">
              <a:lnSpc>
                <a:spcPts val="1820"/>
              </a:lnSpc>
              <a:spcAft>
                <a:spcPts val="400"/>
              </a:spcAft>
              <a:defRPr sz="1400" b="0">
                <a:solidFill>
                  <a:srgbClr val="C8D2DC"/>
                </a:solidFill>
                <a:latin typeface="Microsoft YaHei"/>
              </a:defRPr>
            </a:pPr>
            <a:r>
              <a:t>   • 更多NMI参与OFS比对活动</a:t>
            </a:r>
          </a:p>
          <a:p>
            <a:pPr algn="l">
              <a:lnSpc>
                <a:spcPts val="1820"/>
              </a:lnSpc>
              <a:spcAft>
                <a:spcPts val="400"/>
              </a:spcAft>
              <a:defRPr sz="1400" b="0">
                <a:solidFill>
                  <a:srgbClr val="C8D2DC"/>
                </a:solidFill>
                <a:latin typeface="Microsoft YaHei"/>
              </a:defRPr>
            </a:pPr>
            <a:r>
              <a:t>   • 同类型钟不同实验室交叉比对</a:t>
            </a:r>
          </a:p>
          <a:p>
            <a:pPr algn="l">
              <a:lnSpc>
                <a:spcPts val="520"/>
              </a:lnSpc>
              <a:spcAft>
                <a:spcPts val="400"/>
              </a:spcAft>
              <a:defRPr sz="400" b="0">
                <a:solidFill>
                  <a:srgbClr val="FFFFFF"/>
                </a:solidFill>
                <a:latin typeface="Microsoft YaHei"/>
              </a:defRPr>
            </a:pPr>
          </a:p>
          <a:p>
            <a:pPr algn="l">
              <a:lnSpc>
                <a:spcPts val="2080"/>
              </a:lnSpc>
              <a:spcAft>
                <a:spcPts val="400"/>
              </a:spcAft>
              <a:defRPr sz="1600" b="1">
                <a:solidFill>
                  <a:srgbClr val="14B8A6"/>
                </a:solidFill>
                <a:latin typeface="Microsoft YaHei"/>
              </a:defRPr>
            </a:pPr>
            <a:r>
              <a:t>2. 不确定性预算验证：</a:t>
            </a:r>
          </a:p>
          <a:p>
            <a:pPr algn="l">
              <a:lnSpc>
                <a:spcPts val="1820"/>
              </a:lnSpc>
              <a:spcAft>
                <a:spcPts val="400"/>
              </a:spcAft>
              <a:defRPr sz="1400" b="0">
                <a:solidFill>
                  <a:srgbClr val="C8D2DC"/>
                </a:solidFill>
                <a:latin typeface="Microsoft YaHei"/>
              </a:defRPr>
            </a:pPr>
            <a:r>
              <a:t>   • 各实验室独立评估并交叉验证</a:t>
            </a:r>
          </a:p>
          <a:p>
            <a:pPr algn="l">
              <a:lnSpc>
                <a:spcPts val="1820"/>
              </a:lnSpc>
              <a:spcAft>
                <a:spcPts val="400"/>
              </a:spcAft>
              <a:defRPr sz="1400" b="0">
                <a:solidFill>
                  <a:srgbClr val="C8D2DC"/>
                </a:solidFill>
                <a:latin typeface="Microsoft YaHei"/>
              </a:defRPr>
            </a:pPr>
            <a:r>
              <a:t>   • 公开、全面的不确定度预算</a:t>
            </a:r>
          </a:p>
          <a:p>
            <a:pPr algn="l">
              <a:lnSpc>
                <a:spcPts val="520"/>
              </a:lnSpc>
              <a:spcAft>
                <a:spcPts val="400"/>
              </a:spcAft>
              <a:defRPr sz="400" b="0">
                <a:solidFill>
                  <a:srgbClr val="FFFFFF"/>
                </a:solidFill>
                <a:latin typeface="Microsoft YaHei"/>
              </a:defRPr>
            </a:pPr>
          </a:p>
          <a:p>
            <a:pPr algn="l">
              <a:lnSpc>
                <a:spcPts val="2080"/>
              </a:lnSpc>
              <a:spcAft>
                <a:spcPts val="400"/>
              </a:spcAft>
              <a:defRPr sz="1600" b="1">
                <a:solidFill>
                  <a:srgbClr val="14B8A6"/>
                </a:solidFill>
                <a:latin typeface="Microsoft YaHei"/>
              </a:defRPr>
            </a:pPr>
            <a:r>
              <a:t>3. 改进条件控制：</a:t>
            </a:r>
          </a:p>
          <a:p>
            <a:pPr algn="l">
              <a:lnSpc>
                <a:spcPts val="1820"/>
              </a:lnSpc>
              <a:spcAft>
                <a:spcPts val="400"/>
              </a:spcAft>
              <a:defRPr sz="1400" b="0">
                <a:solidFill>
                  <a:srgbClr val="C8D2DC"/>
                </a:solidFill>
                <a:latin typeface="Microsoft YaHei"/>
              </a:defRPr>
            </a:pPr>
            <a:r>
              <a:t>   • BBR屏蔽与温度均匀性</a:t>
            </a:r>
          </a:p>
          <a:p>
            <a:pPr algn="l">
              <a:lnSpc>
                <a:spcPts val="1820"/>
              </a:lnSpc>
              <a:spcAft>
                <a:spcPts val="400"/>
              </a:spcAft>
              <a:defRPr sz="1400" b="0">
                <a:solidFill>
                  <a:srgbClr val="C8D2DC"/>
                </a:solidFill>
                <a:latin typeface="Microsoft YaHei"/>
              </a:defRPr>
            </a:pPr>
            <a:r>
              <a:t>   • 晶格激光的空间模式质量</a:t>
            </a:r>
          </a:p>
          <a:p>
            <a:pPr algn="l">
              <a:lnSpc>
                <a:spcPts val="1820"/>
              </a:lnSpc>
              <a:spcAft>
                <a:spcPts val="400"/>
              </a:spcAft>
              <a:defRPr sz="1400" b="0">
                <a:solidFill>
                  <a:srgbClr val="C8D2DC"/>
                </a:solidFill>
                <a:latin typeface="Microsoft YaHei"/>
              </a:defRPr>
            </a:pPr>
            <a:r>
              <a:t>   • 原子密度与碰撞效应控制</a:t>
            </a:r>
          </a:p>
          <a:p>
            <a:pPr algn="l">
              <a:lnSpc>
                <a:spcPts val="520"/>
              </a:lnSpc>
              <a:spcAft>
                <a:spcPts val="400"/>
              </a:spcAft>
              <a:defRPr sz="400" b="0">
                <a:solidFill>
                  <a:srgbClr val="FFFFFF"/>
                </a:solidFill>
                <a:latin typeface="Microsoft YaHei"/>
              </a:defRPr>
            </a:pPr>
          </a:p>
          <a:p>
            <a:pPr algn="l">
              <a:lnSpc>
                <a:spcPts val="2080"/>
              </a:lnSpc>
              <a:spcAft>
                <a:spcPts val="400"/>
              </a:spcAft>
              <a:defRPr sz="1600" b="1">
                <a:solidFill>
                  <a:srgbClr val="EF4444"/>
                </a:solidFill>
                <a:latin typeface="Microsoft YaHei"/>
              </a:defRPr>
            </a:pPr>
            <a:r>
              <a:t>4. 时间表：2030年前必须解决</a:t>
            </a:r>
          </a:p>
        </p:txBody>
      </p:sp>
      <p:sp>
        <p:nvSpPr>
          <p:cNvPr id="12" name="TextBox 11"/>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中国在光钟与比对方面的贡献</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国家授时中心(NTSC) · 中国科学院 · 高校</a:t>
            </a:r>
          </a:p>
        </p:txBody>
      </p:sp>
      <p:graphicFrame>
        <p:nvGraphicFramePr>
          <p:cNvPr id="6" name="Table 5"/>
          <p:cNvGraphicFramePr>
            <a:graphicFrameLocks noGrp="1"/>
          </p:cNvGraphicFramePr>
          <p:nvPr/>
        </p:nvGraphicFramePr>
        <p:xfrm>
          <a:off x="274320" y="1645920"/>
          <a:ext cx="11338560" cy="2560320"/>
        </p:xfrm>
        <a:graphic>
          <a:graphicData uri="http://schemas.openxmlformats.org/drawingml/2006/table">
            <a:tbl>
              <a:tblPr firstRow="1" bandRow="1">
                <a:tableStyleId>{5C22544A-7EE6-4342-B048-85BDC9FD1C3A}</a:tableStyleId>
              </a:tblPr>
              <a:tblGrid>
                <a:gridCol w="2468880"/>
                <a:gridCol w="2286000"/>
                <a:gridCol w="2743200"/>
                <a:gridCol w="3840480"/>
              </a:tblGrid>
              <a:tr h="320040">
                <a:tc>
                  <a:txBody>
                    <a:bodyPr/>
                    <a:lstStyle/>
                    <a:p>
                      <a:pPr algn="ctr">
                        <a:defRPr sz="1100" b="1">
                          <a:solidFill>
                            <a:srgbClr val="FFFFFF"/>
                          </a:solidFill>
                          <a:latin typeface="Calibri"/>
                        </a:defRPr>
                      </a:pPr>
                      <a:r>
                        <a:t>成果</a:t>
                      </a:r>
                    </a:p>
                  </a:txBody>
                  <a:tcPr>
                    <a:solidFill>
                      <a:srgbClr val="122E52"/>
                    </a:solidFill>
                  </a:tcPr>
                </a:tc>
                <a:tc>
                  <a:txBody>
                    <a:bodyPr/>
                    <a:lstStyle/>
                    <a:p>
                      <a:pPr algn="ctr">
                        <a:defRPr sz="1100" b="1">
                          <a:solidFill>
                            <a:srgbClr val="FFFFFF"/>
                          </a:solidFill>
                          <a:latin typeface="Calibri"/>
                        </a:defRPr>
                      </a:pPr>
                      <a:r>
                        <a:t>机构</a:t>
                      </a:r>
                    </a:p>
                  </a:txBody>
                  <a:tcPr>
                    <a:solidFill>
                      <a:srgbClr val="122E52"/>
                    </a:solidFill>
                  </a:tcPr>
                </a:tc>
                <a:tc>
                  <a:txBody>
                    <a:bodyPr/>
                    <a:lstStyle/>
                    <a:p>
                      <a:pPr algn="ctr">
                        <a:defRPr sz="1100" b="1">
                          <a:solidFill>
                            <a:srgbClr val="FFFFFF"/>
                          </a:solidFill>
                          <a:latin typeface="Calibri"/>
                        </a:defRPr>
                      </a:pPr>
                      <a:r>
                        <a:t>年份</a:t>
                      </a:r>
                    </a:p>
                  </a:txBody>
                  <a:tcPr>
                    <a:solidFill>
                      <a:srgbClr val="122E52"/>
                    </a:solidFill>
                  </a:tcPr>
                </a:tc>
                <a:tc>
                  <a:txBody>
                    <a:bodyPr/>
                    <a:lstStyle/>
                    <a:p>
                      <a:pPr algn="ctr">
                        <a:defRPr sz="1100" b="1">
                          <a:solidFill>
                            <a:srgbClr val="FFFFFF"/>
                          </a:solidFill>
                          <a:latin typeface="Calibri"/>
                        </a:defRPr>
                      </a:pPr>
                      <a:r>
                        <a:t>关键指标</a:t>
                      </a:r>
                    </a:p>
                  </a:txBody>
                  <a:tcPr>
                    <a:solidFill>
                      <a:srgbClr val="122E52"/>
                    </a:solidFill>
                  </a:tcPr>
                </a:tc>
              </a:tr>
              <a:tr h="320040">
                <a:tc>
                  <a:txBody>
                    <a:bodyPr/>
                    <a:lstStyle/>
                    <a:p>
                      <a:pPr algn="ctr">
                        <a:defRPr sz="900">
                          <a:solidFill>
                            <a:srgbClr val="C8D2DC"/>
                          </a:solidFill>
                          <a:latin typeface="Calibri"/>
                        </a:defRPr>
                      </a:pPr>
                      <a:r>
                        <a:t>NimSrI Sr光晶格钟</a:t>
                      </a:r>
                    </a:p>
                    <a:p>
                      <a:pPr algn="ctr">
                        <a:defRPr sz="900">
                          <a:solidFill>
                            <a:srgbClr val="C8D2DC"/>
                          </a:solidFill>
                          <a:latin typeface="Calibri"/>
                        </a:defRPr>
                      </a:pPr>
                      <a:r>
                        <a:t>系统不确定度</a:t>
                      </a:r>
                    </a:p>
                  </a:txBody>
                  <a:tcPr>
                    <a:solidFill>
                      <a:srgbClr val="122E52"/>
                    </a:solidFill>
                  </a:tcPr>
                </a:tc>
                <a:tc>
                  <a:txBody>
                    <a:bodyPr/>
                    <a:lstStyle/>
                    <a:p>
                      <a:pPr algn="ctr">
                        <a:defRPr sz="900">
                          <a:solidFill>
                            <a:srgbClr val="C8D2DC"/>
                          </a:solidFill>
                          <a:latin typeface="Calibri"/>
                        </a:defRPr>
                      </a:pPr>
                      <a:r>
                        <a:t>NTSC</a:t>
                      </a:r>
                    </a:p>
                    <a:p>
                      <a:pPr algn="ctr">
                        <a:defRPr sz="900">
                          <a:solidFill>
                            <a:srgbClr val="C8D2DC"/>
                          </a:solidFill>
                          <a:latin typeface="Calibri"/>
                        </a:defRPr>
                      </a:pPr>
                      <a:r>
                        <a:t>(西安)</a:t>
                      </a:r>
                    </a:p>
                  </a:txBody>
                  <a:tcPr>
                    <a:solidFill>
                      <a:srgbClr val="122E52"/>
                    </a:solidFill>
                  </a:tcPr>
                </a:tc>
                <a:tc>
                  <a:txBody>
                    <a:bodyPr/>
                    <a:lstStyle/>
                    <a:p>
                      <a:pPr algn="ctr">
                        <a:defRPr sz="900">
                          <a:solidFill>
                            <a:srgbClr val="C8D2DC"/>
                          </a:solidFill>
                          <a:latin typeface="Calibri"/>
                        </a:defRPr>
                      </a:pPr>
                      <a:r>
                        <a:t>2024</a:t>
                      </a:r>
                    </a:p>
                  </a:txBody>
                  <a:tcPr>
                    <a:solidFill>
                      <a:srgbClr val="122E52"/>
                    </a:solidFill>
                  </a:tcPr>
                </a:tc>
                <a:tc>
                  <a:txBody>
                    <a:bodyPr/>
                    <a:lstStyle/>
                    <a:p>
                      <a:pPr algn="ctr">
                        <a:defRPr sz="900">
                          <a:solidFill>
                            <a:srgbClr val="C8D2DC"/>
                          </a:solidFill>
                          <a:latin typeface="Calibri"/>
                        </a:defRPr>
                      </a:pPr>
                      <a:r>
                        <a:t>4.8×10⁻¹⁸ 系统不确定度</a:t>
                      </a:r>
                    </a:p>
                    <a:p>
                      <a:pPr algn="ctr">
                        <a:defRPr sz="900">
                          <a:solidFill>
                            <a:srgbClr val="C8D2DC"/>
                          </a:solidFill>
                          <a:latin typeface="Calibri"/>
                        </a:defRPr>
                      </a:pPr>
                      <a:r>
                        <a:t>3.3×10⁻¹⁷ @1s短期稳定度</a:t>
                      </a:r>
                    </a:p>
                  </a:txBody>
                  <a:tcPr>
                    <a:solidFill>
                      <a:srgbClr val="122E52"/>
                    </a:solidFill>
                  </a:tcPr>
                </a:tc>
              </a:tr>
              <a:tr h="320040">
                <a:tc>
                  <a:txBody>
                    <a:bodyPr/>
                    <a:lstStyle/>
                    <a:p>
                      <a:pPr algn="ctr">
                        <a:defRPr sz="900">
                          <a:solidFill>
                            <a:srgbClr val="C8D2DC"/>
                          </a:solidFill>
                          <a:latin typeface="Calibri"/>
                        </a:defRPr>
                      </a:pPr>
                      <a:r>
                        <a:t>⁴⁰Ca⁺ 双离子光钟比对</a:t>
                      </a:r>
                    </a:p>
                  </a:txBody>
                  <a:tcPr>
                    <a:solidFill>
                      <a:srgbClr val="0B1D3A"/>
                    </a:solidFill>
                  </a:tcPr>
                </a:tc>
                <a:tc>
                  <a:txBody>
                    <a:bodyPr/>
                    <a:lstStyle/>
                    <a:p>
                      <a:pPr algn="ctr">
                        <a:defRPr sz="900">
                          <a:solidFill>
                            <a:srgbClr val="C8D2DC"/>
                          </a:solidFill>
                          <a:latin typeface="Calibri"/>
                        </a:defRPr>
                      </a:pPr>
                      <a:r>
                        <a:t>WIPM</a:t>
                      </a:r>
                    </a:p>
                    <a:p>
                      <a:pPr algn="ctr">
                        <a:defRPr sz="900">
                          <a:solidFill>
                            <a:srgbClr val="C8D2DC"/>
                          </a:solidFill>
                          <a:latin typeface="Calibri"/>
                        </a:defRPr>
                      </a:pPr>
                      <a:r>
                        <a:t>(武汉)</a:t>
                      </a:r>
                    </a:p>
                  </a:txBody>
                  <a:tcPr>
                    <a:solidFill>
                      <a:srgbClr val="0B1D3A"/>
                    </a:solidFill>
                  </a:tcPr>
                </a:tc>
                <a:tc>
                  <a:txBody>
                    <a:bodyPr/>
                    <a:lstStyle/>
                    <a:p>
                      <a:pPr algn="ctr">
                        <a:defRPr sz="900">
                          <a:solidFill>
                            <a:srgbClr val="C8D2DC"/>
                          </a:solidFill>
                          <a:latin typeface="Calibri"/>
                        </a:defRPr>
                      </a:pPr>
                      <a:r>
                        <a:t>2016</a:t>
                      </a:r>
                    </a:p>
                  </a:txBody>
                  <a:tcPr>
                    <a:solidFill>
                      <a:srgbClr val="0B1D3A"/>
                    </a:solidFill>
                  </a:tcPr>
                </a:tc>
                <a:tc>
                  <a:txBody>
                    <a:bodyPr/>
                    <a:lstStyle/>
                    <a:p>
                      <a:pPr algn="ctr">
                        <a:defRPr sz="900">
                          <a:solidFill>
                            <a:srgbClr val="C8D2DC"/>
                          </a:solidFill>
                          <a:latin typeface="Calibri"/>
                        </a:defRPr>
                      </a:pPr>
                      <a:r>
                        <a:t>10⁻¹⁷ 级比对不确定度</a:t>
                      </a:r>
                    </a:p>
                    <a:p>
                      <a:pPr algn="ctr">
                        <a:defRPr sz="900">
                          <a:solidFill>
                            <a:srgbClr val="C8D2DC"/>
                          </a:solidFill>
                          <a:latin typeface="Calibri"/>
                        </a:defRPr>
                      </a:pPr>
                      <a:r>
                        <a:t>两台独立 ⁴⁰Ca⁺ 光钟</a:t>
                      </a:r>
                    </a:p>
                  </a:txBody>
                  <a:tcPr>
                    <a:solidFill>
                      <a:srgbClr val="0B1D3A"/>
                    </a:solidFill>
                  </a:tcPr>
                </a:tc>
              </a:tr>
              <a:tr h="320040">
                <a:tc>
                  <a:txBody>
                    <a:bodyPr/>
                    <a:lstStyle/>
                    <a:p>
                      <a:pPr algn="ctr">
                        <a:defRPr sz="900">
                          <a:solidFill>
                            <a:srgbClr val="C8D2DC"/>
                          </a:solidFill>
                          <a:latin typeface="Calibri"/>
                        </a:defRPr>
                      </a:pPr>
                      <a:r>
                        <a:t>490 km 光纤频率传递</a:t>
                      </a:r>
                    </a:p>
                    <a:p>
                      <a:pPr algn="ctr">
                        <a:defRPr sz="900">
                          <a:solidFill>
                            <a:srgbClr val="C8D2DC"/>
                          </a:solidFill>
                          <a:latin typeface="Calibri"/>
                        </a:defRPr>
                      </a:pPr>
                      <a:r>
                        <a:t>(噪声场地链路)</a:t>
                      </a:r>
                    </a:p>
                  </a:txBody>
                  <a:tcPr>
                    <a:solidFill>
                      <a:srgbClr val="122E52"/>
                    </a:solidFill>
                  </a:tcPr>
                </a:tc>
                <a:tc>
                  <a:txBody>
                    <a:bodyPr/>
                    <a:lstStyle/>
                    <a:p>
                      <a:pPr algn="ctr">
                        <a:defRPr sz="900">
                          <a:solidFill>
                            <a:srgbClr val="C8D2DC"/>
                          </a:solidFill>
                          <a:latin typeface="Calibri"/>
                        </a:defRPr>
                      </a:pPr>
                      <a:r>
                        <a:t>NTSC</a:t>
                      </a:r>
                    </a:p>
                    <a:p>
                      <a:pPr algn="ctr">
                        <a:defRPr sz="900">
                          <a:solidFill>
                            <a:srgbClr val="C8D2DC"/>
                          </a:solidFill>
                          <a:latin typeface="Calibri"/>
                        </a:defRPr>
                      </a:pPr>
                      <a:r>
                        <a:t>(西安)</a:t>
                      </a:r>
                    </a:p>
                  </a:txBody>
                  <a:tcPr>
                    <a:solidFill>
                      <a:srgbClr val="122E52"/>
                    </a:solidFill>
                  </a:tcPr>
                </a:tc>
                <a:tc>
                  <a:txBody>
                    <a:bodyPr/>
                    <a:lstStyle/>
                    <a:p>
                      <a:pPr algn="ctr">
                        <a:defRPr sz="900">
                          <a:solidFill>
                            <a:srgbClr val="C8D2DC"/>
                          </a:solidFill>
                          <a:latin typeface="Calibri"/>
                        </a:defRPr>
                      </a:pPr>
                      <a:r>
                        <a:t>2022</a:t>
                      </a:r>
                    </a:p>
                  </a:txBody>
                  <a:tcPr>
                    <a:solidFill>
                      <a:srgbClr val="122E52"/>
                    </a:solidFill>
                  </a:tcPr>
                </a:tc>
                <a:tc>
                  <a:txBody>
                    <a:bodyPr/>
                    <a:lstStyle/>
                    <a:p>
                      <a:pPr algn="ctr">
                        <a:defRPr sz="900">
                          <a:solidFill>
                            <a:srgbClr val="C8D2DC"/>
                          </a:solidFill>
                          <a:latin typeface="Calibri"/>
                        </a:defRPr>
                      </a:pPr>
                      <a:r>
                        <a:t>相干光纤链路</a:t>
                      </a:r>
                    </a:p>
                    <a:p>
                      <a:pPr algn="ctr">
                        <a:defRPr sz="900">
                          <a:solidFill>
                            <a:srgbClr val="C8D2DC"/>
                          </a:solidFill>
                          <a:latin typeface="Calibri"/>
                        </a:defRPr>
                      </a:pPr>
                      <a:r>
                        <a:t>496 km 噪声环境下</a:t>
                      </a:r>
                    </a:p>
                  </a:txBody>
                  <a:tcPr>
                    <a:solidFill>
                      <a:srgbClr val="122E52"/>
                    </a:solidFill>
                  </a:tcPr>
                </a:tc>
              </a:tr>
              <a:tr h="320040">
                <a:tc>
                  <a:txBody>
                    <a:bodyPr/>
                    <a:lstStyle/>
                    <a:p>
                      <a:pPr algn="ctr">
                        <a:defRPr sz="900">
                          <a:solidFill>
                            <a:srgbClr val="C8D2DC"/>
                          </a:solidFill>
                          <a:latin typeface="Calibri"/>
                        </a:defRPr>
                      </a:pPr>
                      <a:r>
                        <a:t>113 km自由空间</a:t>
                      </a:r>
                    </a:p>
                    <a:p>
                      <a:pPr algn="ctr">
                        <a:defRPr sz="900">
                          <a:solidFill>
                            <a:srgbClr val="C8D2DC"/>
                          </a:solidFill>
                          <a:latin typeface="Calibri"/>
                        </a:defRPr>
                      </a:pPr>
                      <a:r>
                        <a:t>双梳时频传递</a:t>
                      </a:r>
                    </a:p>
                  </a:txBody>
                  <a:tcPr>
                    <a:solidFill>
                      <a:srgbClr val="0B1D3A"/>
                    </a:solidFill>
                  </a:tcPr>
                </a:tc>
                <a:tc>
                  <a:txBody>
                    <a:bodyPr/>
                    <a:lstStyle/>
                    <a:p>
                      <a:pPr algn="ctr">
                        <a:defRPr sz="900">
                          <a:solidFill>
                            <a:srgbClr val="C8D2DC"/>
                          </a:solidFill>
                          <a:latin typeface="Calibri"/>
                        </a:defRPr>
                      </a:pPr>
                      <a:r>
                        <a:t>NTSC/USTC</a:t>
                      </a:r>
                    </a:p>
                  </a:txBody>
                  <a:tcPr>
                    <a:solidFill>
                      <a:srgbClr val="0B1D3A"/>
                    </a:solidFill>
                  </a:tcPr>
                </a:tc>
                <a:tc>
                  <a:txBody>
                    <a:bodyPr/>
                    <a:lstStyle/>
                    <a:p>
                      <a:pPr algn="ctr">
                        <a:defRPr sz="900">
                          <a:solidFill>
                            <a:srgbClr val="C8D2DC"/>
                          </a:solidFill>
                          <a:latin typeface="Calibri"/>
                        </a:defRPr>
                      </a:pPr>
                      <a:r>
                        <a:t>2024</a:t>
                      </a:r>
                    </a:p>
                  </a:txBody>
                  <a:tcPr>
                    <a:solidFill>
                      <a:srgbClr val="0B1D3A"/>
                    </a:solidFill>
                  </a:tcPr>
                </a:tc>
                <a:tc>
                  <a:txBody>
                    <a:bodyPr/>
                    <a:lstStyle/>
                    <a:p>
                      <a:pPr algn="ctr">
                        <a:defRPr sz="900">
                          <a:solidFill>
                            <a:srgbClr val="C8D2DC"/>
                          </a:solidFill>
                          <a:latin typeface="Calibri"/>
                        </a:defRPr>
                      </a:pPr>
                      <a:r>
                        <a:t>CLS增强探测</a:t>
                      </a:r>
                    </a:p>
                    <a:p>
                      <a:pPr algn="ctr">
                        <a:defRPr sz="900">
                          <a:solidFill>
                            <a:srgbClr val="C8D2DC"/>
                          </a:solidFill>
                          <a:latin typeface="Calibri"/>
                        </a:defRPr>
                      </a:pPr>
                      <a:r>
                        <a:t>最小检测功率 ~0.1 nW</a:t>
                      </a:r>
                    </a:p>
                  </a:txBody>
                  <a:tcPr>
                    <a:solidFill>
                      <a:srgbClr val="0B1D3A"/>
                    </a:solidFill>
                  </a:tcPr>
                </a:tc>
              </a:tr>
              <a:tr h="320040">
                <a:tc>
                  <a:txBody>
                    <a:bodyPr/>
                    <a:lstStyle/>
                    <a:p>
                      <a:pPr algn="ctr">
                        <a:defRPr sz="900">
                          <a:solidFill>
                            <a:srgbClr val="C8D2DC"/>
                          </a:solidFill>
                          <a:latin typeface="Calibri"/>
                        </a:defRPr>
                      </a:pPr>
                      <a:r>
                        <a:t>112 km 城市</a:t>
                      </a:r>
                    </a:p>
                    <a:p>
                      <a:pPr algn="ctr">
                        <a:defRPr sz="900">
                          <a:solidFill>
                            <a:srgbClr val="C8D2DC"/>
                          </a:solidFill>
                          <a:latin typeface="Calibri"/>
                        </a:defRPr>
                      </a:pPr>
                      <a:r>
                        <a:t>RF-over-fiber 链路</a:t>
                      </a:r>
                    </a:p>
                  </a:txBody>
                  <a:tcPr>
                    <a:solidFill>
                      <a:srgbClr val="122E52"/>
                    </a:solidFill>
                  </a:tcPr>
                </a:tc>
                <a:tc>
                  <a:txBody>
                    <a:bodyPr/>
                    <a:lstStyle/>
                    <a:p>
                      <a:pPr algn="ctr">
                        <a:defRPr sz="900">
                          <a:solidFill>
                            <a:srgbClr val="C8D2DC"/>
                          </a:solidFill>
                          <a:latin typeface="Calibri"/>
                        </a:defRPr>
                      </a:pPr>
                      <a:r>
                        <a:t>NTSC</a:t>
                      </a:r>
                    </a:p>
                    <a:p>
                      <a:pPr algn="ctr">
                        <a:defRPr sz="900">
                          <a:solidFill>
                            <a:srgbClr val="C8D2DC"/>
                          </a:solidFill>
                          <a:latin typeface="Calibri"/>
                        </a:defRPr>
                      </a:pPr>
                      <a:r>
                        <a:t>(西安)</a:t>
                      </a:r>
                    </a:p>
                  </a:txBody>
                  <a:tcPr>
                    <a:solidFill>
                      <a:srgbClr val="122E52"/>
                    </a:solidFill>
                  </a:tcPr>
                </a:tc>
                <a:tc>
                  <a:txBody>
                    <a:bodyPr/>
                    <a:lstStyle/>
                    <a:p>
                      <a:pPr algn="ctr">
                        <a:defRPr sz="900">
                          <a:solidFill>
                            <a:srgbClr val="C8D2DC"/>
                          </a:solidFill>
                          <a:latin typeface="Calibri"/>
                        </a:defRPr>
                      </a:pPr>
                      <a:r>
                        <a:t>2020</a:t>
                      </a:r>
                    </a:p>
                  </a:txBody>
                  <a:tcPr>
                    <a:solidFill>
                      <a:srgbClr val="122E52"/>
                    </a:solidFill>
                  </a:tcPr>
                </a:tc>
                <a:tc>
                  <a:txBody>
                    <a:bodyPr/>
                    <a:lstStyle/>
                    <a:p>
                      <a:pPr algn="ctr">
                        <a:defRPr sz="900">
                          <a:solidFill>
                            <a:srgbClr val="C8D2DC"/>
                          </a:solidFill>
                          <a:latin typeface="Calibri"/>
                        </a:defRPr>
                      </a:pPr>
                      <a:r>
                        <a:t>RF-over-fiber时间传递</a:t>
                      </a:r>
                    </a:p>
                    <a:p>
                      <a:pPr algn="ctr">
                        <a:defRPr sz="900">
                          <a:solidFill>
                            <a:srgbClr val="C8D2DC"/>
                          </a:solidFill>
                          <a:latin typeface="Calibri"/>
                        </a:defRPr>
                      </a:pPr>
                      <a:r>
                        <a:t>城市环境演示</a:t>
                      </a:r>
                    </a:p>
                  </a:txBody>
                  <a:tcPr>
                    <a:solidFill>
                      <a:srgbClr val="122E52"/>
                    </a:solidFill>
                  </a:tcPr>
                </a:tc>
              </a:tr>
              <a:tr h="320040">
                <a:tc>
                  <a:txBody>
                    <a:bodyPr/>
                    <a:lstStyle/>
                    <a:p>
                      <a:pPr algn="ctr">
                        <a:defRPr sz="900">
                          <a:solidFill>
                            <a:srgbClr val="C8D2DC"/>
                          </a:solidFill>
                          <a:latin typeface="Calibri"/>
                        </a:defRPr>
                      </a:pPr>
                      <a:r>
                        <a:t>多分支全保偏</a:t>
                      </a:r>
                    </a:p>
                    <a:p>
                      <a:pPr algn="ctr">
                        <a:defRPr sz="900">
                          <a:solidFill>
                            <a:srgbClr val="C8D2DC"/>
                          </a:solidFill>
                          <a:latin typeface="Calibri"/>
                        </a:defRPr>
                      </a:pPr>
                      <a:r>
                        <a:t>光纤频率梳</a:t>
                      </a:r>
                    </a:p>
                  </a:txBody>
                  <a:tcPr>
                    <a:solidFill>
                      <a:srgbClr val="0B1D3A"/>
                    </a:solidFill>
                  </a:tcPr>
                </a:tc>
                <a:tc>
                  <a:txBody>
                    <a:bodyPr/>
                    <a:lstStyle/>
                    <a:p>
                      <a:pPr algn="ctr">
                        <a:defRPr sz="900">
                          <a:solidFill>
                            <a:srgbClr val="C8D2DC"/>
                          </a:solidFill>
                          <a:latin typeface="Calibri"/>
                        </a:defRPr>
                      </a:pPr>
                      <a:r>
                        <a:t>NTSC</a:t>
                      </a:r>
                    </a:p>
                    <a:p>
                      <a:pPr algn="ctr">
                        <a:defRPr sz="900">
                          <a:solidFill>
                            <a:srgbClr val="C8D2DC"/>
                          </a:solidFill>
                          <a:latin typeface="Calibri"/>
                        </a:defRPr>
                      </a:pPr>
                      <a:r>
                        <a:t>(西安)</a:t>
                      </a:r>
                    </a:p>
                  </a:txBody>
                  <a:tcPr>
                    <a:solidFill>
                      <a:srgbClr val="0B1D3A"/>
                    </a:solidFill>
                  </a:tcPr>
                </a:tc>
                <a:tc>
                  <a:txBody>
                    <a:bodyPr/>
                    <a:lstStyle/>
                    <a:p>
                      <a:pPr algn="ctr">
                        <a:defRPr sz="900">
                          <a:solidFill>
                            <a:srgbClr val="C8D2DC"/>
                          </a:solidFill>
                          <a:latin typeface="Calibri"/>
                        </a:defRPr>
                      </a:pPr>
                      <a:r>
                        <a:t>2020-2022</a:t>
                      </a:r>
                    </a:p>
                  </a:txBody>
                  <a:tcPr>
                    <a:solidFill>
                      <a:srgbClr val="0B1D3A"/>
                    </a:solidFill>
                  </a:tcPr>
                </a:tc>
                <a:tc>
                  <a:txBody>
                    <a:bodyPr/>
                    <a:lstStyle/>
                    <a:p>
                      <a:pPr algn="ctr">
                        <a:defRPr sz="900">
                          <a:solidFill>
                            <a:srgbClr val="C8D2DC"/>
                          </a:solidFill>
                          <a:latin typeface="Calibri"/>
                        </a:defRPr>
                      </a:pPr>
                      <a:r>
                        <a:t>5分支 NALM Er:fiber梳</a:t>
                      </a:r>
                    </a:p>
                    <a:p>
                      <a:pPr algn="ctr">
                        <a:defRPr sz="900">
                          <a:solidFill>
                            <a:srgbClr val="C8D2DC"/>
                          </a:solidFill>
                          <a:latin typeface="Calibri"/>
                        </a:defRPr>
                      </a:pPr>
                      <a:r>
                        <a:t>多路拍频 SNR &gt; 30 dB</a:t>
                      </a:r>
                    </a:p>
                  </a:txBody>
                  <a:tcPr>
                    <a:solidFill>
                      <a:srgbClr val="0B1D3A"/>
                    </a:solidFill>
                  </a:tcPr>
                </a:tc>
              </a:tr>
              <a:tr h="320040">
                <a:tc>
                  <a:txBody>
                    <a:bodyPr/>
                    <a:lstStyle/>
                    <a:p>
                      <a:pPr algn="ctr">
                        <a:defRPr sz="900">
                          <a:solidFill>
                            <a:srgbClr val="C8D2DC"/>
                          </a:solidFill>
                          <a:latin typeface="Calibri"/>
                        </a:defRPr>
                      </a:pPr>
                      <a:r>
                        <a:t>星地时频传递模拟</a:t>
                      </a:r>
                    </a:p>
                    <a:p>
                      <a:pPr algn="ctr">
                        <a:defRPr sz="900">
                          <a:solidFill>
                            <a:srgbClr val="C8D2DC"/>
                          </a:solidFill>
                          <a:latin typeface="Calibri"/>
                        </a:defRPr>
                      </a:pPr>
                      <a:r>
                        <a:t>(非互易性研究)</a:t>
                      </a:r>
                    </a:p>
                  </a:txBody>
                  <a:tcPr>
                    <a:solidFill>
                      <a:srgbClr val="122E52"/>
                    </a:solidFill>
                  </a:tcPr>
                </a:tc>
                <a:tc>
                  <a:txBody>
                    <a:bodyPr/>
                    <a:lstStyle/>
                    <a:p>
                      <a:pPr algn="ctr">
                        <a:defRPr sz="900">
                          <a:solidFill>
                            <a:srgbClr val="C8D2DC"/>
                          </a:solidFill>
                          <a:latin typeface="Calibri"/>
                        </a:defRPr>
                      </a:pPr>
                      <a:r>
                        <a:t>NTSC</a:t>
                      </a:r>
                    </a:p>
                    <a:p>
                      <a:pPr algn="ctr">
                        <a:defRPr sz="900">
                          <a:solidFill>
                            <a:srgbClr val="C8D2DC"/>
                          </a:solidFill>
                          <a:latin typeface="Calibri"/>
                        </a:defRPr>
                      </a:pPr>
                      <a:r>
                        <a:t>(西安)</a:t>
                      </a:r>
                    </a:p>
                  </a:txBody>
                  <a:tcPr>
                    <a:solidFill>
                      <a:srgbClr val="122E52"/>
                    </a:solidFill>
                  </a:tcPr>
                </a:tc>
                <a:tc>
                  <a:txBody>
                    <a:bodyPr/>
                    <a:lstStyle/>
                    <a:p>
                      <a:pPr algn="ctr">
                        <a:defRPr sz="900">
                          <a:solidFill>
                            <a:srgbClr val="C8D2DC"/>
                          </a:solidFill>
                          <a:latin typeface="Calibri"/>
                        </a:defRPr>
                      </a:pPr>
                      <a:r>
                        <a:t>2024</a:t>
                      </a:r>
                    </a:p>
                  </a:txBody>
                  <a:tcPr>
                    <a:solidFill>
                      <a:srgbClr val="122E52"/>
                    </a:solidFill>
                  </a:tcPr>
                </a:tc>
                <a:tc>
                  <a:txBody>
                    <a:bodyPr/>
                    <a:lstStyle/>
                    <a:p>
                      <a:pPr algn="ctr">
                        <a:defRPr sz="900">
                          <a:solidFill>
                            <a:srgbClr val="C8D2DC"/>
                          </a:solidFill>
                          <a:latin typeface="Calibri"/>
                        </a:defRPr>
                      </a:pPr>
                      <a:r>
                        <a:t>大气非互易性效应</a:t>
                      </a:r>
                    </a:p>
                    <a:p>
                      <a:pPr algn="ctr">
                        <a:defRPr sz="900">
                          <a:solidFill>
                            <a:srgbClr val="C8D2DC"/>
                          </a:solidFill>
                          <a:latin typeface="Calibri"/>
                        </a:defRPr>
                      </a:pPr>
                      <a:r>
                        <a:t>卫星双向TWTFT原理</a:t>
                      </a:r>
                    </a:p>
                  </a:txBody>
                  <a:tcPr>
                    <a:solidFill>
                      <a:srgbClr val="122E52"/>
                    </a:solidFill>
                  </a:tcPr>
                </a:tc>
              </a:tr>
            </a:tbl>
          </a:graphicData>
        </a:graphic>
      </p:graphicFrame>
      <p:sp>
        <p:nvSpPr>
          <p:cNvPr id="7" name="TextBox 6"/>
          <p:cNvSpPr txBox="1"/>
          <p:nvPr/>
        </p:nvSpPr>
        <p:spPr>
          <a:xfrm>
            <a:off x="457200" y="5943600"/>
            <a:ext cx="11247120" cy="731520"/>
          </a:xfrm>
          <a:prstGeom prst="rect">
            <a:avLst/>
          </a:prstGeom>
          <a:noFill/>
        </p:spPr>
        <p:txBody>
          <a:bodyPr wrap="square">
            <a:spAutoFit/>
          </a:bodyPr>
          <a:lstStyle/>
          <a:p>
            <a:pPr algn="l">
              <a:lnSpc>
                <a:spcPts val="1820"/>
              </a:lnSpc>
              <a:spcAft>
                <a:spcPts val="400"/>
              </a:spcAft>
              <a:defRPr sz="1400" b="0">
                <a:solidFill>
                  <a:srgbClr val="14B8A6"/>
                </a:solidFill>
                <a:latin typeface="Microsoft YaHei"/>
              </a:defRPr>
            </a:pPr>
            <a:r>
              <a:t>中国参与国际光钟比对的前景：NTSC NimSrI系统已达到4.8×10⁻¹⁸，具备参与国际10⁻¹⁸级比对的基础条件。</a:t>
            </a:r>
          </a:p>
          <a:p>
            <a:pPr algn="l">
              <a:lnSpc>
                <a:spcPts val="1820"/>
              </a:lnSpc>
              <a:spcAft>
                <a:spcPts val="400"/>
              </a:spcAft>
              <a:defRPr sz="1400" b="0">
                <a:solidFill>
                  <a:srgbClr val="C8D2DC"/>
                </a:solidFill>
                <a:latin typeface="Microsoft YaHei"/>
              </a:defRPr>
            </a:pPr>
            <a:r>
              <a:t>光纤时频传递网络已覆盖112–490 km，可支撑国内光钟比对网络的建立。</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总结：通向2030的路线</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SI秒重定义 — 当前状态与展望</a:t>
            </a:r>
          </a:p>
        </p:txBody>
      </p:sp>
      <p:sp>
        <p:nvSpPr>
          <p:cNvPr id="6" name="Rectangle 5"/>
          <p:cNvSpPr/>
          <p:nvPr/>
        </p:nvSpPr>
        <p:spPr>
          <a:xfrm>
            <a:off x="274320" y="1828800"/>
            <a:ext cx="3611880" cy="8229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920240"/>
            <a:ext cx="3337560" cy="640080"/>
          </a:xfrm>
          <a:prstGeom prst="rect">
            <a:avLst/>
          </a:prstGeom>
          <a:noFill/>
        </p:spPr>
        <p:txBody>
          <a:bodyPr wrap="square">
            <a:spAutoFit/>
          </a:bodyPr>
          <a:lstStyle/>
          <a:p>
            <a:pPr algn="ctr">
              <a:defRPr sz="2200" b="1">
                <a:solidFill>
                  <a:srgbClr val="FFFFFF"/>
                </a:solidFill>
                <a:latin typeface="Microsoft YaHei"/>
              </a:defRPr>
            </a:pPr>
            <a:r>
              <a:t>已达成 ✅</a:t>
            </a:r>
          </a:p>
        </p:txBody>
      </p:sp>
      <p:sp>
        <p:nvSpPr>
          <p:cNvPr id="8" name="Rectangle 7"/>
          <p:cNvSpPr/>
          <p:nvPr/>
        </p:nvSpPr>
        <p:spPr>
          <a:xfrm>
            <a:off x="274320" y="2651760"/>
            <a:ext cx="3611880" cy="36576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834640"/>
            <a:ext cx="3246120" cy="3200400"/>
          </a:xfrm>
          <a:prstGeom prst="rect">
            <a:avLst/>
          </a:prstGeom>
          <a:noFill/>
        </p:spPr>
        <p:txBody>
          <a:bodyPr wrap="square">
            <a:spAutoFit/>
          </a:bodyPr>
          <a:lstStyle/>
          <a:p>
            <a:pPr algn="l">
              <a:defRPr sz="1300" b="0">
                <a:solidFill>
                  <a:srgbClr val="C8D2DC"/>
                </a:solidFill>
                <a:latin typeface="Microsoft YaHei"/>
              </a:defRPr>
            </a:pPr>
            <a:r>
              <a:t>• 光钟不确定度突破10⁻¹⁸</a:t>
            </a:r>
            <a:br/>
            <a:r>
              <a:t>  (Sr: 8×10⁻¹⁹; Al⁺: 5.5×10⁻¹⁹)</a:t>
            </a:r>
            <a:br/>
            <a:r>
              <a:t>• 三钟频率比 ≤3.2×10⁻¹⁸</a:t>
            </a:r>
            <a:br/>
            <a:r>
              <a:t>  (BACON 2025, 满足 I.2)</a:t>
            </a:r>
            <a:br/>
            <a:r>
              <a:t>• 光纤链路已达10⁻¹⁹水平</a:t>
            </a:r>
            <a:br/>
            <a:r>
              <a:t>  (相对光频比对足够)</a:t>
            </a:r>
            <a:br/>
            <a:r>
              <a:t>• 可搬运光钟成功演示</a:t>
            </a:r>
            <a:br/>
            <a:r>
              <a:t>  (PTB卡车, RIKEN塔, NIST船)</a:t>
            </a:r>
            <a:br/>
            <a:r>
              <a:t>• 核光钟概念验证</a:t>
            </a:r>
            <a:br/>
            <a:r>
              <a:t>  (²²⁹Th 首次核跃迁激发)</a:t>
            </a:r>
          </a:p>
        </p:txBody>
      </p:sp>
      <p:sp>
        <p:nvSpPr>
          <p:cNvPr id="10" name="Rectangle 9"/>
          <p:cNvSpPr/>
          <p:nvPr/>
        </p:nvSpPr>
        <p:spPr>
          <a:xfrm>
            <a:off x="4160520" y="1828800"/>
            <a:ext cx="3611880" cy="822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920240"/>
            <a:ext cx="3337560" cy="640080"/>
          </a:xfrm>
          <a:prstGeom prst="rect">
            <a:avLst/>
          </a:prstGeom>
          <a:noFill/>
        </p:spPr>
        <p:txBody>
          <a:bodyPr wrap="square">
            <a:spAutoFit/>
          </a:bodyPr>
          <a:lstStyle/>
          <a:p>
            <a:pPr algn="ctr">
              <a:defRPr sz="2200" b="1">
                <a:solidFill>
                  <a:srgbClr val="FFFFFF"/>
                </a:solidFill>
                <a:latin typeface="Microsoft YaHei"/>
              </a:defRPr>
            </a:pPr>
            <a:r>
              <a:t>进行中 ⚠️</a:t>
            </a:r>
          </a:p>
        </p:txBody>
      </p:sp>
      <p:sp>
        <p:nvSpPr>
          <p:cNvPr id="12" name="Rectangle 11"/>
          <p:cNvSpPr/>
          <p:nvPr/>
        </p:nvSpPr>
        <p:spPr>
          <a:xfrm>
            <a:off x="4160520" y="2651760"/>
            <a:ext cx="3611880" cy="36576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400" y="2834640"/>
            <a:ext cx="3246120" cy="3200400"/>
          </a:xfrm>
          <a:prstGeom prst="rect">
            <a:avLst/>
          </a:prstGeom>
          <a:noFill/>
        </p:spPr>
        <p:txBody>
          <a:bodyPr wrap="square">
            <a:spAutoFit/>
          </a:bodyPr>
          <a:lstStyle/>
          <a:p>
            <a:pPr algn="l">
              <a:defRPr sz="1300" b="0">
                <a:solidFill>
                  <a:srgbClr val="C8D2DC"/>
                </a:solidFill>
                <a:latin typeface="Microsoft YaHei"/>
              </a:defRPr>
            </a:pPr>
            <a:r>
              <a:t>• 系统不一致性排查</a:t>
            </a:r>
            <a:br/>
            <a:r>
              <a:t>  (Sr偏差 ~1×10⁻¹⁶原因不明)</a:t>
            </a:r>
            <a:br/>
            <a:r>
              <a:t>• 更多频率比独立验证</a:t>
            </a:r>
            <a:br/>
            <a:r>
              <a:t>  (不同实验室交叉比对)</a:t>
            </a:r>
            <a:br/>
            <a:r>
              <a:t>• OFS对TAI常态贡献</a:t>
            </a:r>
            <a:br/>
            <a:r>
              <a:t>  (运行可靠性需提升)</a:t>
            </a:r>
            <a:br/>
            <a:r>
              <a:t>• 大地水准面精度改进</a:t>
            </a:r>
            <a:br/>
            <a:r>
              <a:t>  (需要 cm 级全球模型)</a:t>
            </a:r>
            <a:br/>
            <a:r>
              <a:t>• 光钟TRL和工程化</a:t>
            </a:r>
            <a:br/>
            <a:r>
              <a:t>  (连续运行 &gt;10天达标)</a:t>
            </a:r>
          </a:p>
        </p:txBody>
      </p:sp>
      <p:sp>
        <p:nvSpPr>
          <p:cNvPr id="14" name="Rectangle 13"/>
          <p:cNvSpPr/>
          <p:nvPr/>
        </p:nvSpPr>
        <p:spPr>
          <a:xfrm>
            <a:off x="8046720" y="1828800"/>
            <a:ext cx="3611880" cy="8229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1920240"/>
            <a:ext cx="3337560" cy="640080"/>
          </a:xfrm>
          <a:prstGeom prst="rect">
            <a:avLst/>
          </a:prstGeom>
          <a:noFill/>
        </p:spPr>
        <p:txBody>
          <a:bodyPr wrap="square">
            <a:spAutoFit/>
          </a:bodyPr>
          <a:lstStyle/>
          <a:p>
            <a:pPr algn="ctr">
              <a:defRPr sz="2200" b="1">
                <a:solidFill>
                  <a:srgbClr val="FFFFFF"/>
                </a:solidFill>
                <a:latin typeface="Microsoft YaHei"/>
              </a:defRPr>
            </a:pPr>
            <a:r>
              <a:t>2026—2030要做 🎯</a:t>
            </a:r>
          </a:p>
        </p:txBody>
      </p:sp>
      <p:sp>
        <p:nvSpPr>
          <p:cNvPr id="16" name="Rectangle 15"/>
          <p:cNvSpPr/>
          <p:nvPr/>
        </p:nvSpPr>
        <p:spPr>
          <a:xfrm>
            <a:off x="8046720" y="2651760"/>
            <a:ext cx="3611880" cy="36576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2834640"/>
            <a:ext cx="3246120" cy="3200400"/>
          </a:xfrm>
          <a:prstGeom prst="rect">
            <a:avLst/>
          </a:prstGeom>
          <a:noFill/>
        </p:spPr>
        <p:txBody>
          <a:bodyPr wrap="square">
            <a:spAutoFit/>
          </a:bodyPr>
          <a:lstStyle/>
          <a:p>
            <a:pPr algn="l">
              <a:defRPr sz="1300" b="0">
                <a:solidFill>
                  <a:srgbClr val="C8D2DC"/>
                </a:solidFill>
                <a:latin typeface="Microsoft YaHei"/>
              </a:defRPr>
            </a:pPr>
            <a:r>
              <a:t>• 扩大国际比对规模</a:t>
            </a:r>
            <a:br/>
            <a:r>
              <a:t>  (CCTF协调，多国参与)</a:t>
            </a:r>
            <a:br/>
            <a:r>
              <a:t>• 解决系统效应偏差</a:t>
            </a:r>
            <a:br/>
            <a:r>
              <a:t>  (BBR, BBR, 碰撞效应)</a:t>
            </a:r>
            <a:br/>
            <a:r>
              <a:t>• 选择重定义方案</a:t>
            </a:r>
            <a:br/>
            <a:r>
              <a:t>  (单一跃迁 vs 多跃迁)</a:t>
            </a:r>
            <a:br/>
            <a:r>
              <a:t>• 确定候选跃迁</a:t>
            </a:r>
            <a:br/>
            <a:r>
              <a:t>  (Al⁺, Sr, Yb等中选一)</a:t>
            </a:r>
            <a:br/>
            <a:r>
              <a:t>• CGPM 2026提草案</a:t>
            </a:r>
            <a:br/>
            <a:r>
              <a:t>  → CGPM 2030批准</a:t>
            </a:r>
          </a:p>
        </p:txBody>
      </p:sp>
      <p:sp>
        <p:nvSpPr>
          <p:cNvPr id="18" name="TextBox 17"/>
          <p:cNvSpPr txBox="1"/>
          <p:nvPr/>
        </p:nvSpPr>
        <p:spPr>
          <a:xfrm>
            <a:off x="731520" y="5943600"/>
            <a:ext cx="10515600" cy="731520"/>
          </a:xfrm>
          <a:prstGeom prst="rect">
            <a:avLst/>
          </a:prstGeom>
          <a:noFill/>
        </p:spPr>
        <p:txBody>
          <a:bodyPr wrap="square">
            <a:spAutoFit/>
          </a:bodyPr>
          <a:lstStyle/>
          <a:p>
            <a:pPr algn="l">
              <a:lnSpc>
                <a:spcPts val="1950"/>
              </a:lnSpc>
              <a:spcAft>
                <a:spcPts val="400"/>
              </a:spcAft>
              <a:defRPr sz="1500" b="0">
                <a:solidFill>
                  <a:srgbClr val="FCCC00"/>
                </a:solidFill>
                <a:latin typeface="Microsoft YaHei"/>
              </a:defRPr>
            </a:pPr>
            <a:r>
              <a:t>核心信息：光钟技术已足够精确，但系统可靠性、国际比对一致性和TAI集成尚需努力。2026年CGPM是关键里程碑。</a:t>
            </a:r>
          </a:p>
        </p:txBody>
      </p:sp>
      <p:sp>
        <p:nvSpPr>
          <p:cNvPr id="19" name="TextBox 18"/>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参考文献与数据来源</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Key References</a:t>
            </a:r>
          </a:p>
        </p:txBody>
      </p:sp>
      <p:sp>
        <p:nvSpPr>
          <p:cNvPr id="6" name="TextBox 5"/>
          <p:cNvSpPr txBox="1"/>
          <p:nvPr/>
        </p:nvSpPr>
        <p:spPr>
          <a:xfrm>
            <a:off x="457200" y="1828800"/>
            <a:ext cx="11247120" cy="4572000"/>
          </a:xfrm>
          <a:prstGeom prst="rect">
            <a:avLst/>
          </a:prstGeom>
          <a:noFill/>
        </p:spPr>
        <p:txBody>
          <a:bodyPr wrap="square">
            <a:spAutoFit/>
          </a:bodyPr>
          <a:lstStyle/>
          <a:p>
            <a:pPr algn="l">
              <a:lnSpc>
                <a:spcPts val="2340"/>
              </a:lnSpc>
              <a:spcAft>
                <a:spcPts val="400"/>
              </a:spcAft>
              <a:defRPr sz="1800" b="1">
                <a:solidFill>
                  <a:srgbClr val="FCCC00"/>
                </a:solidFill>
                <a:latin typeface="Microsoft YaHei"/>
              </a:defRPr>
            </a:pPr>
            <a:r>
              <a:t>主要政策文件</a:t>
            </a:r>
          </a:p>
          <a:p>
            <a:pPr algn="l">
              <a:lnSpc>
                <a:spcPts val="520"/>
              </a:lnSpc>
              <a:spcAft>
                <a:spcPts val="400"/>
              </a:spcAft>
              <a:defRPr sz="400" b="0">
                <a:solidFill>
                  <a:srgbClr val="FFFFFF"/>
                </a:solidFill>
                <a:latin typeface="Microsoft YaHei"/>
              </a:defRPr>
            </a:pPr>
          </a:p>
          <a:p>
            <a:pPr algn="l">
              <a:lnSpc>
                <a:spcPts val="1820"/>
              </a:lnSpc>
              <a:spcAft>
                <a:spcPts val="400"/>
              </a:spcAft>
              <a:defRPr sz="1400" b="0">
                <a:solidFill>
                  <a:srgbClr val="C8D2DC"/>
                </a:solidFill>
                <a:latin typeface="Microsoft YaHei"/>
              </a:defRPr>
            </a:pPr>
            <a:r>
              <a:t>[1] Dimarcq et al., "Roadmap towards the redefinition of the second," Metrologia 61, 012001 (2024).</a:t>
            </a:r>
          </a:p>
          <a:p>
            <a:pPr algn="l">
              <a:lnSpc>
                <a:spcPts val="1820"/>
              </a:lnSpc>
              <a:spcAft>
                <a:spcPts val="400"/>
              </a:spcAft>
              <a:defRPr sz="1400" b="0">
                <a:solidFill>
                  <a:srgbClr val="C8D2DC"/>
                </a:solidFill>
                <a:latin typeface="Microsoft YaHei"/>
              </a:defRPr>
            </a:pPr>
            <a:r>
              <a:t>[2] CCTF Recommendation 24-3, "On the actions to progress on the roadmap for the redefinition of the second," BIPM (2024).</a:t>
            </a:r>
          </a:p>
          <a:p>
            <a:pPr algn="l">
              <a:lnSpc>
                <a:spcPts val="1820"/>
              </a:lnSpc>
              <a:spcAft>
                <a:spcPts val="400"/>
              </a:spcAft>
              <a:defRPr sz="1400" b="0">
                <a:solidFill>
                  <a:srgbClr val="C8D2DC"/>
                </a:solidFill>
                <a:latin typeface="Microsoft YaHei"/>
              </a:defRPr>
            </a:pPr>
            <a:r>
              <a:t>[3] Gertsvolf, "Conditions to change definition: Frequency standards and TAI," CCTF TE 28042025, BIPM (2025).</a:t>
            </a:r>
          </a:p>
          <a:p>
            <a:pPr algn="l">
              <a:lnSpc>
                <a:spcPts val="1820"/>
              </a:lnSpc>
              <a:spcAft>
                <a:spcPts val="400"/>
              </a:spcAft>
              <a:defRPr sz="1400" b="0">
                <a:solidFill>
                  <a:srgbClr val="C8D2DC"/>
                </a:solidFill>
                <a:latin typeface="Microsoft YaHei"/>
              </a:defRPr>
            </a:pPr>
            <a:r>
              <a:t>[4] BIPM, "Latest Updates from 2025 CCTF Meeting," bipm.org (Oct 2025).</a:t>
            </a:r>
          </a:p>
          <a:p>
            <a:pPr algn="l">
              <a:lnSpc>
                <a:spcPts val="520"/>
              </a:lnSpc>
              <a:spcAft>
                <a:spcPts val="400"/>
              </a:spcAft>
              <a:defRPr sz="400" b="0">
                <a:solidFill>
                  <a:srgbClr val="FFFFFF"/>
                </a:solidFill>
                <a:latin typeface="Microsoft YaHei"/>
              </a:defRPr>
            </a:pPr>
          </a:p>
          <a:p>
            <a:pPr algn="l">
              <a:lnSpc>
                <a:spcPts val="2340"/>
              </a:lnSpc>
              <a:spcAft>
                <a:spcPts val="400"/>
              </a:spcAft>
              <a:defRPr sz="1800" b="1">
                <a:solidFill>
                  <a:srgbClr val="FCCC00"/>
                </a:solidFill>
                <a:latin typeface="Microsoft YaHei"/>
              </a:defRPr>
            </a:pPr>
            <a:r>
              <a:t>关键光钟与比对实验</a:t>
            </a:r>
          </a:p>
          <a:p>
            <a:pPr algn="l">
              <a:lnSpc>
                <a:spcPts val="520"/>
              </a:lnSpc>
              <a:spcAft>
                <a:spcPts val="400"/>
              </a:spcAft>
              <a:defRPr sz="400" b="0">
                <a:solidFill>
                  <a:srgbClr val="FFFFFF"/>
                </a:solidFill>
                <a:latin typeface="Microsoft YaHei"/>
              </a:defRPr>
            </a:pPr>
          </a:p>
          <a:p>
            <a:pPr algn="l">
              <a:lnSpc>
                <a:spcPts val="1690"/>
              </a:lnSpc>
              <a:spcAft>
                <a:spcPts val="400"/>
              </a:spcAft>
              <a:defRPr sz="1300" b="0">
                <a:solidFill>
                  <a:srgbClr val="C8D2DC"/>
                </a:solidFill>
                <a:latin typeface="Microsoft YaHei"/>
              </a:defRPr>
            </a:pPr>
            <a:r>
              <a:t>[5] BACON Collaboration, "Atomic clock frequency ratios with fractional uncertainty ≤3.2×10⁻¹⁸," arXiv:2512.21428 (2025).</a:t>
            </a:r>
          </a:p>
          <a:p>
            <a:pPr algn="l">
              <a:lnSpc>
                <a:spcPts val="1690"/>
              </a:lnSpc>
              <a:spcAft>
                <a:spcPts val="400"/>
              </a:spcAft>
              <a:defRPr sz="1300" b="0">
                <a:solidFill>
                  <a:srgbClr val="C8D2DC"/>
                </a:solidFill>
                <a:latin typeface="Microsoft YaHei"/>
              </a:defRPr>
            </a:pPr>
            <a:r>
              <a:t>[6] BACON Collaboration, "Frequency Ratio Measurements with 18-digit Accuracy Using a Network of Optical Clocks," Nature 591, 564 (2021).</a:t>
            </a:r>
          </a:p>
          <a:p>
            <a:pPr algn="l">
              <a:lnSpc>
                <a:spcPts val="1690"/>
              </a:lnSpc>
              <a:spcAft>
                <a:spcPts val="400"/>
              </a:spcAft>
              <a:defRPr sz="1300" b="0">
                <a:solidFill>
                  <a:srgbClr val="C8D2DC"/>
                </a:solidFill>
                <a:latin typeface="Microsoft YaHei"/>
              </a:defRPr>
            </a:pPr>
            <a:r>
              <a:t>[7] Aeppli et al., "Sr optical lattice clock with 8×10⁻¹⁹ systematic uncertainty," (2024).</a:t>
            </a:r>
          </a:p>
          <a:p>
            <a:pPr algn="l">
              <a:lnSpc>
                <a:spcPts val="1690"/>
              </a:lnSpc>
              <a:spcAft>
                <a:spcPts val="400"/>
              </a:spcAft>
              <a:defRPr sz="1300" b="0">
                <a:solidFill>
                  <a:srgbClr val="C8D2DC"/>
                </a:solidFill>
                <a:latin typeface="Microsoft YaHei"/>
              </a:defRPr>
            </a:pPr>
            <a:r>
              <a:t>[8] Bothwell et al., "JILA SrI optical lattice clock with uncertainty of 2.0×10⁻¹⁸," Metrologia 56, 065004 (2019).</a:t>
            </a:r>
          </a:p>
          <a:p>
            <a:pPr algn="l">
              <a:lnSpc>
                <a:spcPts val="1690"/>
              </a:lnSpc>
              <a:spcAft>
                <a:spcPts val="400"/>
              </a:spcAft>
              <a:defRPr sz="1300" b="0">
                <a:solidFill>
                  <a:srgbClr val="C8D2DC"/>
                </a:solidFill>
                <a:latin typeface="Microsoft YaHei"/>
              </a:defRPr>
            </a:pPr>
            <a:r>
              <a:t>[9] Li et al., "NimSrI Sr optical lattice clock with 4.8×10⁻¹⁸ uncertainty," (NTSC, 2024).</a:t>
            </a:r>
          </a:p>
          <a:p>
            <a:pPr algn="l">
              <a:lnSpc>
                <a:spcPts val="1690"/>
              </a:lnSpc>
              <a:spcAft>
                <a:spcPts val="400"/>
              </a:spcAft>
              <a:defRPr sz="1300" b="0">
                <a:solidFill>
                  <a:srgbClr val="C8D2DC"/>
                </a:solidFill>
                <a:latin typeface="Microsoft YaHei"/>
              </a:defRPr>
            </a:pPr>
            <a:r>
              <a:t>[10] Fortier et al., "Optical atomic clocks" (Review, 2026).</a:t>
            </a:r>
          </a:p>
          <a:p>
            <a:pPr algn="l">
              <a:lnSpc>
                <a:spcPts val="260"/>
              </a:lnSpc>
              <a:spcAft>
                <a:spcPts val="400"/>
              </a:spcAft>
              <a:defRPr sz="200" b="0">
                <a:solidFill>
                  <a:srgbClr val="FFFFFF"/>
                </a:solidFill>
                <a:latin typeface="Microsoft YaHei"/>
              </a:defRPr>
            </a:pPr>
          </a:p>
          <a:p>
            <a:pPr algn="l">
              <a:lnSpc>
                <a:spcPts val="2080"/>
              </a:lnSpc>
              <a:spcAft>
                <a:spcPts val="400"/>
              </a:spcAft>
              <a:defRPr sz="1600" b="1">
                <a:solidFill>
                  <a:srgbClr val="FCCC00"/>
                </a:solidFill>
                <a:latin typeface="Microsoft YaHei"/>
              </a:defRPr>
            </a:pPr>
            <a:r>
              <a:t>知识库</a:t>
            </a:r>
          </a:p>
          <a:p>
            <a:pPr algn="l">
              <a:lnSpc>
                <a:spcPts val="1690"/>
              </a:lnSpc>
              <a:spcAft>
                <a:spcPts val="400"/>
              </a:spcAft>
              <a:defRPr sz="1300" b="0">
                <a:solidFill>
                  <a:srgbClr val="C8D2DC"/>
                </a:solidFill>
                <a:latin typeface="Microsoft YaHei"/>
              </a:defRPr>
            </a:pPr>
            <a:r>
              <a:t>sci-logic-kb: https://github.com/hjiang555-a11y/sci-logic-kb — 时频计量知识图谱（530篇论文，1904个节点，1768个关系）</a:t>
            </a:r>
          </a:p>
        </p:txBody>
      </p:sp>
      <p:sp>
        <p:nvSpPr>
          <p:cNvPr id="7" name="TextBox 6"/>
          <p:cNvSpPr txBox="1"/>
          <p:nvPr/>
        </p:nvSpPr>
        <p:spPr>
          <a:xfrm>
            <a:off x="11247120" y="6400800"/>
            <a:ext cx="731520" cy="365760"/>
          </a:xfrm>
          <a:prstGeom prst="rect">
            <a:avLst/>
          </a:prstGeom>
          <a:noFill/>
        </p:spPr>
        <p:txBody>
          <a:bodyPr wrap="square">
            <a:spAutoFit/>
          </a:bodyPr>
          <a:lstStyle/>
          <a:p>
            <a:pPr algn="r">
              <a:defRPr sz="1200" b="0">
                <a:solidFill>
                  <a:srgbClr val="94A3B8"/>
                </a:solidFill>
                <a:latin typeface="Calibri"/>
              </a:defRPr>
            </a:pPr>
            <a: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核光钟 — 下一代时间频率标准</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²²⁹Th 核跃迁：从原子壳层到原子核的范式革命</a:t>
            </a:r>
          </a:p>
        </p:txBody>
      </p:sp>
      <p:sp>
        <p:nvSpPr>
          <p:cNvPr id="6" name="Rectangle 5"/>
          <p:cNvSpPr/>
          <p:nvPr/>
        </p:nvSpPr>
        <p:spPr>
          <a:xfrm>
            <a:off x="457200" y="1645920"/>
            <a:ext cx="5486400" cy="24688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5486400" cy="457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5029200" cy="2103120"/>
          </a:xfrm>
          <a:prstGeom prst="rect">
            <a:avLst/>
          </a:prstGeom>
          <a:noFill/>
        </p:spPr>
        <p:txBody>
          <a:bodyPr wrap="square">
            <a:spAutoFit/>
          </a:bodyPr>
          <a:lstStyle/>
          <a:p>
            <a:pPr algn="l">
              <a:lnSpc>
                <a:spcPts val="3120"/>
              </a:lnSpc>
              <a:spcAft>
                <a:spcPts val="300"/>
              </a:spcAft>
              <a:defRPr sz="2400" b="1">
                <a:solidFill>
                  <a:srgbClr val="A855F7"/>
                </a:solidFill>
                <a:latin typeface="Microsoft YaHei"/>
              </a:defRPr>
            </a:pPr>
            <a:r>
              <a:t>为什么是核跃迁？</a:t>
            </a:r>
          </a:p>
          <a:p>
            <a:pPr algn="l">
              <a:lnSpc>
                <a:spcPts val="780"/>
              </a:lnSpc>
              <a:spcAft>
                <a:spcPts val="300"/>
              </a:spcAft>
              <a:defRPr sz="600" b="0">
                <a:solidFill>
                  <a:srgbClr val="FFFFFF"/>
                </a:solidFill>
                <a:latin typeface="Microsoft YaHei"/>
              </a:defRPr>
            </a:pPr>
          </a:p>
          <a:p>
            <a:pPr algn="l">
              <a:lnSpc>
                <a:spcPts val="2340"/>
              </a:lnSpc>
              <a:spcAft>
                <a:spcPts val="300"/>
              </a:spcAft>
              <a:defRPr sz="1800" b="1">
                <a:solidFill>
                  <a:srgbClr val="14B8A6"/>
                </a:solidFill>
                <a:latin typeface="Microsoft YaHei"/>
              </a:defRPr>
            </a:pPr>
            <a:r>
              <a:t>原子核比原子小 ~10⁵ 倍</a:t>
            </a:r>
          </a:p>
          <a:p>
            <a:pPr algn="l">
              <a:lnSpc>
                <a:spcPts val="1950"/>
              </a:lnSpc>
              <a:spcAft>
                <a:spcPts val="300"/>
              </a:spcAft>
              <a:defRPr sz="1500" b="0">
                <a:solidFill>
                  <a:srgbClr val="C8D2DC"/>
                </a:solidFill>
                <a:latin typeface="Microsoft YaHei"/>
              </a:defRPr>
            </a:pPr>
            <a:r>
              <a:t>  → 对外部电磁场、环境扰动的敏感度降低数个量级</a:t>
            </a:r>
          </a:p>
          <a:p>
            <a:pPr algn="l">
              <a:lnSpc>
                <a:spcPts val="520"/>
              </a:lnSpc>
              <a:spcAft>
                <a:spcPts val="300"/>
              </a:spcAft>
              <a:defRPr sz="400" b="0">
                <a:solidFill>
                  <a:srgbClr val="FFFFFF"/>
                </a:solidFill>
                <a:latin typeface="Microsoft YaHei"/>
              </a:defRPr>
            </a:pPr>
          </a:p>
          <a:p>
            <a:pPr algn="l">
              <a:lnSpc>
                <a:spcPts val="2340"/>
              </a:lnSpc>
              <a:spcAft>
                <a:spcPts val="300"/>
              </a:spcAft>
              <a:defRPr sz="1800" b="1">
                <a:solidFill>
                  <a:srgbClr val="14B8A6"/>
                </a:solidFill>
                <a:latin typeface="Microsoft YaHei"/>
              </a:defRPr>
            </a:pPr>
            <a:r>
              <a:t>电子壳层天然屏蔽</a:t>
            </a:r>
          </a:p>
          <a:p>
            <a:pPr algn="l">
              <a:lnSpc>
                <a:spcPts val="1950"/>
              </a:lnSpc>
              <a:spcAft>
                <a:spcPts val="300"/>
              </a:spcAft>
              <a:defRPr sz="1500" b="0">
                <a:solidFill>
                  <a:srgbClr val="C8D2DC"/>
                </a:solidFill>
                <a:latin typeface="Microsoft YaHei"/>
              </a:defRPr>
            </a:pPr>
            <a:r>
              <a:t>  → 核外电子屏蔽外部电磁场，进一步隔离核跃迁</a:t>
            </a:r>
          </a:p>
          <a:p>
            <a:pPr algn="l">
              <a:lnSpc>
                <a:spcPts val="1950"/>
              </a:lnSpc>
              <a:spcAft>
                <a:spcPts val="300"/>
              </a:spcAft>
              <a:defRPr sz="1500" b="0">
                <a:solidFill>
                  <a:srgbClr val="C8D2DC"/>
                </a:solidFill>
                <a:latin typeface="Microsoft YaHei"/>
              </a:defRPr>
            </a:pPr>
            <a:r>
              <a:t>  → 不需像原子光钟那样严格控制 BBR、Zeeman、Stark 效应</a:t>
            </a:r>
          </a:p>
          <a:p>
            <a:pPr algn="l">
              <a:lnSpc>
                <a:spcPts val="520"/>
              </a:lnSpc>
              <a:spcAft>
                <a:spcPts val="300"/>
              </a:spcAft>
              <a:defRPr sz="400" b="0">
                <a:solidFill>
                  <a:srgbClr val="FFFFFF"/>
                </a:solidFill>
                <a:latin typeface="Microsoft YaHei"/>
              </a:defRPr>
            </a:pPr>
          </a:p>
          <a:p>
            <a:pPr algn="l">
              <a:lnSpc>
                <a:spcPts val="2340"/>
              </a:lnSpc>
              <a:spcAft>
                <a:spcPts val="300"/>
              </a:spcAft>
              <a:defRPr sz="1800" b="1">
                <a:solidFill>
                  <a:srgbClr val="14B8A6"/>
                </a:solidFill>
                <a:latin typeface="Microsoft YaHei"/>
              </a:defRPr>
            </a:pPr>
            <a:r>
              <a:t>核电磁矩极小</a:t>
            </a:r>
          </a:p>
          <a:p>
            <a:pPr algn="l">
              <a:lnSpc>
                <a:spcPts val="1950"/>
              </a:lnSpc>
              <a:spcAft>
                <a:spcPts val="300"/>
              </a:spcAft>
              <a:defRPr sz="1500" b="0">
                <a:solidFill>
                  <a:srgbClr val="C8D2DC"/>
                </a:solidFill>
                <a:latin typeface="Microsoft YaHei"/>
              </a:defRPr>
            </a:pPr>
            <a:r>
              <a:t>  → 核子磁矩 ≈ 10⁻³ 倍电子磁矩，电四极矩也更小</a:t>
            </a:r>
          </a:p>
          <a:p>
            <a:pPr algn="l">
              <a:lnSpc>
                <a:spcPts val="1950"/>
              </a:lnSpc>
              <a:spcAft>
                <a:spcPts val="300"/>
              </a:spcAft>
              <a:defRPr sz="1500" b="0">
                <a:solidFill>
                  <a:srgbClr val="C8D2DC"/>
                </a:solidFill>
                <a:latin typeface="Microsoft YaHei"/>
              </a:defRPr>
            </a:pPr>
            <a:r>
              <a:t>  → 系统频移预算理论上比原子光钟简单得多</a:t>
            </a:r>
          </a:p>
        </p:txBody>
      </p:sp>
      <p:sp>
        <p:nvSpPr>
          <p:cNvPr id="9" name="Rectangle 8"/>
          <p:cNvSpPr/>
          <p:nvPr/>
        </p:nvSpPr>
        <p:spPr>
          <a:xfrm>
            <a:off x="6217920" y="1645920"/>
            <a:ext cx="5486400" cy="24688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486400" cy="45720"/>
          </a:xfrm>
          <a:prstGeom prst="rect">
            <a:avLst/>
          </a:prstGeom>
          <a:solidFill>
            <a:srgbClr val="FC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5029200" cy="2103120"/>
          </a:xfrm>
          <a:prstGeom prst="rect">
            <a:avLst/>
          </a:prstGeom>
          <a:noFill/>
        </p:spPr>
        <p:txBody>
          <a:bodyPr wrap="square">
            <a:spAutoFit/>
          </a:bodyPr>
          <a:lstStyle/>
          <a:p>
            <a:pPr algn="l">
              <a:lnSpc>
                <a:spcPts val="3120"/>
              </a:lnSpc>
              <a:spcAft>
                <a:spcPts val="300"/>
              </a:spcAft>
              <a:defRPr sz="2400" b="1">
                <a:solidFill>
                  <a:srgbClr val="FCCC00"/>
                </a:solidFill>
                <a:latin typeface="Microsoft YaHei"/>
              </a:defRPr>
            </a:pPr>
            <a:r>
              <a:t>²²⁹Th：唯一的激光可及核跃迁</a:t>
            </a:r>
          </a:p>
          <a:p>
            <a:pPr algn="l">
              <a:lnSpc>
                <a:spcPts val="780"/>
              </a:lnSpc>
              <a:spcAft>
                <a:spcPts val="300"/>
              </a:spcAft>
              <a:defRPr sz="600" b="0">
                <a:solidFill>
                  <a:srgbClr val="FFFFFF"/>
                </a:solidFill>
                <a:latin typeface="Microsoft YaHei"/>
              </a:defRPr>
            </a:pPr>
          </a:p>
          <a:p>
            <a:pPr algn="l">
              <a:lnSpc>
                <a:spcPts val="2080"/>
              </a:lnSpc>
              <a:spcAft>
                <a:spcPts val="300"/>
              </a:spcAft>
              <a:defRPr sz="1600" b="0">
                <a:solidFill>
                  <a:srgbClr val="C8D2DC"/>
                </a:solidFill>
                <a:latin typeface="Microsoft YaHei"/>
              </a:defRPr>
            </a:pPr>
            <a:r>
              <a:t>• 激发能：仅 8.35574 eV（≈ 148.38 nm, VUV波段）</a:t>
            </a:r>
          </a:p>
          <a:p>
            <a:pPr algn="l">
              <a:lnSpc>
                <a:spcPts val="1820"/>
              </a:lnSpc>
              <a:spcAft>
                <a:spcPts val="300"/>
              </a:spcAft>
              <a:defRPr sz="1400" b="0">
                <a:solidFill>
                  <a:srgbClr val="94A3B8"/>
                </a:solidFill>
                <a:latin typeface="Microsoft YaHei"/>
              </a:defRPr>
            </a:pPr>
            <a:r>
              <a:t>  — 自然界中最低的核激发能，其他核跃迁都在 keV–MeV</a:t>
            </a:r>
          </a:p>
          <a:p>
            <a:pPr algn="l">
              <a:lnSpc>
                <a:spcPts val="2080"/>
              </a:lnSpc>
              <a:spcAft>
                <a:spcPts val="300"/>
              </a:spcAft>
              <a:defRPr sz="1600" b="0">
                <a:solidFill>
                  <a:srgbClr val="C8D2DC"/>
                </a:solidFill>
                <a:latin typeface="Microsoft YaHei"/>
              </a:defRPr>
            </a:pPr>
            <a:r>
              <a:t>• 自然线宽：~100 μHz（离子阱中）</a:t>
            </a:r>
          </a:p>
          <a:p>
            <a:pPr algn="l">
              <a:lnSpc>
                <a:spcPts val="1820"/>
              </a:lnSpc>
              <a:spcAft>
                <a:spcPts val="300"/>
              </a:spcAft>
              <a:defRPr sz="1400" b="0">
                <a:solidFill>
                  <a:srgbClr val="94A3B8"/>
                </a:solidFill>
                <a:latin typeface="Microsoft YaHei"/>
              </a:defRPr>
            </a:pPr>
            <a:r>
              <a:t>  — 对应 641±4 s 激发态寿命 (CaF₂晶体中)</a:t>
            </a:r>
          </a:p>
          <a:p>
            <a:pPr algn="l">
              <a:lnSpc>
                <a:spcPts val="2080"/>
              </a:lnSpc>
              <a:spcAft>
                <a:spcPts val="300"/>
              </a:spcAft>
              <a:defRPr sz="1600" b="0">
                <a:solidFill>
                  <a:srgbClr val="C8D2DC"/>
                </a:solidFill>
                <a:latin typeface="Microsoft YaHei"/>
              </a:defRPr>
            </a:pPr>
            <a:r>
              <a:t>• 品质因子 Q = ν/Δν ≈ 2×10¹⁹</a:t>
            </a:r>
          </a:p>
          <a:p>
            <a:pPr algn="l">
              <a:lnSpc>
                <a:spcPts val="1820"/>
              </a:lnSpc>
              <a:spcAft>
                <a:spcPts val="300"/>
              </a:spcAft>
              <a:defRPr sz="1400" b="0">
                <a:solidFill>
                  <a:srgbClr val="94A3B8"/>
                </a:solidFill>
                <a:latin typeface="Microsoft YaHei"/>
              </a:defRPr>
            </a:pPr>
            <a:r>
              <a:t>  — 比最佳原子光钟高约 5 个数量级</a:t>
            </a:r>
          </a:p>
          <a:p>
            <a:pPr algn="l">
              <a:lnSpc>
                <a:spcPts val="2080"/>
              </a:lnSpc>
              <a:spcAft>
                <a:spcPts val="300"/>
              </a:spcAft>
              <a:defRPr sz="1600" b="0">
                <a:solidFill>
                  <a:srgbClr val="C8D2DC"/>
                </a:solidFill>
                <a:latin typeface="Microsoft YaHei"/>
              </a:defRPr>
            </a:pPr>
            <a:r>
              <a:t>• α敏感度：K = 5900(2300)</a:t>
            </a:r>
          </a:p>
          <a:p>
            <a:pPr algn="l">
              <a:lnSpc>
                <a:spcPts val="1820"/>
              </a:lnSpc>
              <a:spcAft>
                <a:spcPts val="300"/>
              </a:spcAft>
              <a:defRPr sz="1400" b="0">
                <a:solidFill>
                  <a:srgbClr val="94A3B8"/>
                </a:solidFill>
                <a:latin typeface="Microsoft YaHei"/>
              </a:defRPr>
            </a:pPr>
            <a:r>
              <a:t>  — 对精细结构常数变化的灵敏度远超原子钟</a:t>
            </a:r>
          </a:p>
        </p:txBody>
      </p:sp>
      <p:sp>
        <p:nvSpPr>
          <p:cNvPr id="12" name="Rectangle 11"/>
          <p:cNvSpPr/>
          <p:nvPr/>
        </p:nvSpPr>
        <p:spPr>
          <a:xfrm>
            <a:off x="457200" y="4389120"/>
            <a:ext cx="11247120" cy="2286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389120"/>
            <a:ext cx="1124712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572000"/>
            <a:ext cx="4846320" cy="1828800"/>
          </a:xfrm>
          <a:prstGeom prst="rect">
            <a:avLst/>
          </a:prstGeom>
          <a:noFill/>
        </p:spPr>
        <p:txBody>
          <a:bodyPr wrap="square">
            <a:spAutoFit/>
          </a:bodyPr>
          <a:lstStyle/>
          <a:p>
            <a:pPr algn="l">
              <a:lnSpc>
                <a:spcPts val="2600"/>
              </a:lnSpc>
              <a:spcAft>
                <a:spcPts val="300"/>
              </a:spcAft>
              <a:defRPr sz="2000" b="1">
                <a:solidFill>
                  <a:srgbClr val="14B8A6"/>
                </a:solidFill>
                <a:latin typeface="Microsoft YaHei"/>
              </a:defRPr>
            </a:pPr>
            <a:r>
              <a:t>离子阱方案 (Th³⁺ 单离子)</a:t>
            </a:r>
          </a:p>
          <a:p>
            <a:pPr algn="l">
              <a:lnSpc>
                <a:spcPts val="1950"/>
              </a:lnSpc>
              <a:spcAft>
                <a:spcPts val="300"/>
              </a:spcAft>
              <a:defRPr sz="1500" b="0">
                <a:solidFill>
                  <a:srgbClr val="C8D2DC"/>
                </a:solidFill>
                <a:latin typeface="Microsoft YaHei"/>
              </a:defRPr>
            </a:pPr>
            <a:r>
              <a:t>• 最纯净环境，可实现自然线宽（~100 μHz）</a:t>
            </a:r>
          </a:p>
          <a:p>
            <a:pPr algn="l">
              <a:lnSpc>
                <a:spcPts val="1950"/>
              </a:lnSpc>
              <a:spcAft>
                <a:spcPts val="300"/>
              </a:spcAft>
              <a:defRPr sz="1500" b="0">
                <a:solidFill>
                  <a:srgbClr val="C8D2DC"/>
                </a:solidFill>
                <a:latin typeface="Microsoft YaHei"/>
              </a:defRPr>
            </a:pPr>
            <a:r>
              <a:t>• 预计系统不确定度：10⁻¹⁹ 或更好</a:t>
            </a:r>
          </a:p>
          <a:p>
            <a:pPr algn="l">
              <a:lnSpc>
                <a:spcPts val="1950"/>
              </a:lnSpc>
              <a:spcAft>
                <a:spcPts val="300"/>
              </a:spcAft>
              <a:defRPr sz="1500" b="0">
                <a:solidFill>
                  <a:srgbClr val="C8D2DC"/>
                </a:solidFill>
                <a:latin typeface="Microsoft YaHei"/>
              </a:defRPr>
            </a:pPr>
            <a:r>
              <a:t>• 挑战：需要稳定 Th³⁺ 离子源、高电荷态控制</a:t>
            </a:r>
          </a:p>
          <a:p>
            <a:pPr algn="l">
              <a:lnSpc>
                <a:spcPts val="1950"/>
              </a:lnSpc>
              <a:spcAft>
                <a:spcPts val="300"/>
              </a:spcAft>
              <a:defRPr sz="1500" b="0">
                <a:solidFill>
                  <a:srgbClr val="C8D2DC"/>
                </a:solidFill>
                <a:latin typeface="Microsoft YaHei"/>
              </a:defRPr>
            </a:pPr>
            <a:r>
              <a:t>• 优势：无固体环境引起的非均匀展宽</a:t>
            </a:r>
          </a:p>
        </p:txBody>
      </p:sp>
      <p:sp>
        <p:nvSpPr>
          <p:cNvPr id="15" name="TextBox 14"/>
          <p:cNvSpPr txBox="1"/>
          <p:nvPr/>
        </p:nvSpPr>
        <p:spPr>
          <a:xfrm>
            <a:off x="6217920" y="4572000"/>
            <a:ext cx="5029200" cy="1828800"/>
          </a:xfrm>
          <a:prstGeom prst="rect">
            <a:avLst/>
          </a:prstGeom>
          <a:noFill/>
        </p:spPr>
        <p:txBody>
          <a:bodyPr wrap="square">
            <a:spAutoFit/>
          </a:bodyPr>
          <a:lstStyle/>
          <a:p>
            <a:pPr algn="l">
              <a:lnSpc>
                <a:spcPts val="2600"/>
              </a:lnSpc>
              <a:spcAft>
                <a:spcPts val="300"/>
              </a:spcAft>
              <a:defRPr sz="2000" b="1">
                <a:solidFill>
                  <a:srgbClr val="F59E0B"/>
                </a:solidFill>
                <a:latin typeface="Microsoft YaHei"/>
              </a:defRPr>
            </a:pPr>
            <a:r>
              <a:t>固态方案 (Th⁴⁺:CaF₂ 晶体)</a:t>
            </a:r>
          </a:p>
          <a:p>
            <a:pPr algn="l">
              <a:lnSpc>
                <a:spcPts val="1950"/>
              </a:lnSpc>
              <a:spcAft>
                <a:spcPts val="300"/>
              </a:spcAft>
              <a:defRPr sz="1500" b="0">
                <a:solidFill>
                  <a:srgbClr val="C8D2DC"/>
                </a:solidFill>
                <a:latin typeface="Microsoft YaHei"/>
              </a:defRPr>
            </a:pPr>
            <a:r>
              <a:t>• 10¹⁵ 个核量子发射体 → 信噪比极高</a:t>
            </a:r>
          </a:p>
          <a:p>
            <a:pPr algn="l">
              <a:lnSpc>
                <a:spcPts val="1950"/>
              </a:lnSpc>
              <a:spcAft>
                <a:spcPts val="300"/>
              </a:spcAft>
              <a:defRPr sz="1500" b="0">
                <a:solidFill>
                  <a:srgbClr val="C8D2DC"/>
                </a:solidFill>
                <a:latin typeface="Microsoft YaHei"/>
              </a:defRPr>
            </a:pPr>
            <a:r>
              <a:t>• Lamb-Dicke 囚禁（晶体格点 ≪ VUV 波长）</a:t>
            </a:r>
          </a:p>
          <a:p>
            <a:pPr algn="l">
              <a:lnSpc>
                <a:spcPts val="1950"/>
              </a:lnSpc>
              <a:spcAft>
                <a:spcPts val="300"/>
              </a:spcAft>
              <a:defRPr sz="1500" b="0">
                <a:solidFill>
                  <a:srgbClr val="C8D2DC"/>
                </a:solidFill>
                <a:latin typeface="Microsoft YaHei"/>
              </a:defRPr>
            </a:pPr>
            <a:r>
              <a:t>• 潜力：紧凑、可搬运、低成本</a:t>
            </a:r>
          </a:p>
          <a:p>
            <a:pPr algn="l">
              <a:lnSpc>
                <a:spcPts val="1950"/>
              </a:lnSpc>
              <a:spcAft>
                <a:spcPts val="300"/>
              </a:spcAft>
              <a:defRPr sz="1500" b="0">
                <a:solidFill>
                  <a:srgbClr val="C8D2DC"/>
                </a:solidFill>
                <a:latin typeface="Microsoft YaHei"/>
              </a:defRPr>
            </a:pPr>
            <a:r>
              <a:t>• 挑战：晶体场导致非均匀展宽（10–100 kHz）</a:t>
            </a:r>
          </a:p>
          <a:p>
            <a:pPr algn="l">
              <a:lnSpc>
                <a:spcPts val="1950"/>
              </a:lnSpc>
              <a:spcAft>
                <a:spcPts val="300"/>
              </a:spcAft>
              <a:defRPr sz="1500" b="0">
                <a:solidFill>
                  <a:srgbClr val="C8D2DC"/>
                </a:solidFill>
                <a:latin typeface="Microsoft YaHei"/>
              </a:defRPr>
            </a:pPr>
            <a:r>
              <a:t>• 最佳工作温度：196 K（频移 &lt; 10⁻¹⁸ 量级）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核光钟突破性进展时间线（2024—2026）</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从概念验证到关键技术突破，²²⁹Th核光钟迈出决定性步伐</a:t>
            </a:r>
          </a:p>
        </p:txBody>
      </p:sp>
      <p:graphicFrame>
        <p:nvGraphicFramePr>
          <p:cNvPr id="6" name="Table 5"/>
          <p:cNvGraphicFramePr>
            <a:graphicFrameLocks noGrp="1"/>
          </p:cNvGraphicFramePr>
          <p:nvPr/>
        </p:nvGraphicFramePr>
        <p:xfrm>
          <a:off x="274320" y="1645920"/>
          <a:ext cx="11430000" cy="2048256"/>
        </p:xfrm>
        <a:graphic>
          <a:graphicData uri="http://schemas.openxmlformats.org/drawingml/2006/table">
            <a:tbl>
              <a:tblPr firstRow="1" bandRow="1">
                <a:tableStyleId>{5C22544A-7EE6-4342-B048-85BDC9FD1C3A}</a:tableStyleId>
              </a:tblPr>
              <a:tblGrid>
                <a:gridCol w="1097280"/>
                <a:gridCol w="1828800"/>
                <a:gridCol w="2103120"/>
                <a:gridCol w="2743200"/>
                <a:gridCol w="3657600"/>
              </a:tblGrid>
              <a:tr h="292608">
                <a:tc>
                  <a:txBody>
                    <a:bodyPr/>
                    <a:lstStyle/>
                    <a:p>
                      <a:pPr algn="ctr">
                        <a:defRPr sz="1000" b="1">
                          <a:solidFill>
                            <a:srgbClr val="FFFFFF"/>
                          </a:solidFill>
                          <a:latin typeface="Calibri"/>
                        </a:defRPr>
                      </a:pPr>
                      <a:r>
                        <a:t>时间</a:t>
                      </a:r>
                    </a:p>
                  </a:txBody>
                  <a:tcPr>
                    <a:solidFill>
                      <a:srgbClr val="122E52"/>
                    </a:solidFill>
                  </a:tcPr>
                </a:tc>
                <a:tc>
                  <a:txBody>
                    <a:bodyPr/>
                    <a:lstStyle/>
                    <a:p>
                      <a:pPr algn="ctr">
                        <a:defRPr sz="1000" b="1">
                          <a:solidFill>
                            <a:srgbClr val="FFFFFF"/>
                          </a:solidFill>
                          <a:latin typeface="Calibri"/>
                        </a:defRPr>
                      </a:pPr>
                      <a:r>
                        <a:t>里程碑</a:t>
                      </a:r>
                    </a:p>
                  </a:txBody>
                  <a:tcPr>
                    <a:solidFill>
                      <a:srgbClr val="122E52"/>
                    </a:solidFill>
                  </a:tcPr>
                </a:tc>
                <a:tc>
                  <a:txBody>
                    <a:bodyPr/>
                    <a:lstStyle/>
                    <a:p>
                      <a:pPr algn="ctr">
                        <a:defRPr sz="1000" b="1">
                          <a:solidFill>
                            <a:srgbClr val="FFFFFF"/>
                          </a:solidFill>
                          <a:latin typeface="Calibri"/>
                        </a:defRPr>
                      </a:pPr>
                      <a:r>
                        <a:t>团队</a:t>
                      </a:r>
                    </a:p>
                  </a:txBody>
                  <a:tcPr>
                    <a:solidFill>
                      <a:srgbClr val="122E52"/>
                    </a:solidFill>
                  </a:tcPr>
                </a:tc>
                <a:tc>
                  <a:txBody>
                    <a:bodyPr/>
                    <a:lstStyle/>
                    <a:p>
                      <a:pPr algn="ctr">
                        <a:defRPr sz="1000" b="1">
                          <a:solidFill>
                            <a:srgbClr val="FFFFFF"/>
                          </a:solidFill>
                          <a:latin typeface="Calibri"/>
                        </a:defRPr>
                      </a:pPr>
                      <a:r>
                        <a:t>方法</a:t>
                      </a:r>
                    </a:p>
                  </a:txBody>
                  <a:tcPr>
                    <a:solidFill>
                      <a:srgbClr val="122E52"/>
                    </a:solidFill>
                  </a:tcPr>
                </a:tc>
                <a:tc>
                  <a:txBody>
                    <a:bodyPr/>
                    <a:lstStyle/>
                    <a:p>
                      <a:pPr algn="ctr">
                        <a:defRPr sz="1000" b="1">
                          <a:solidFill>
                            <a:srgbClr val="FFFFFF"/>
                          </a:solidFill>
                          <a:latin typeface="Calibri"/>
                        </a:defRPr>
                      </a:pPr>
                      <a:r>
                        <a:t>意义</a:t>
                      </a:r>
                    </a:p>
                  </a:txBody>
                  <a:tcPr>
                    <a:solidFill>
                      <a:srgbClr val="122E52"/>
                    </a:solidFill>
                  </a:tcPr>
                </a:tc>
              </a:tr>
              <a:tr h="292608">
                <a:tc>
                  <a:txBody>
                    <a:bodyPr/>
                    <a:lstStyle/>
                    <a:p>
                      <a:pPr algn="ctr">
                        <a:defRPr sz="800">
                          <a:solidFill>
                            <a:srgbClr val="C8D2DC"/>
                          </a:solidFill>
                          <a:latin typeface="Calibri"/>
                        </a:defRPr>
                      </a:pPr>
                      <a:r>
                        <a:t>2024.04</a:t>
                      </a:r>
                    </a:p>
                  </a:txBody>
                  <a:tcPr>
                    <a:solidFill>
                      <a:srgbClr val="122E52"/>
                    </a:solidFill>
                  </a:tcPr>
                </a:tc>
                <a:tc>
                  <a:txBody>
                    <a:bodyPr/>
                    <a:lstStyle/>
                    <a:p>
                      <a:pPr algn="ctr">
                        <a:defRPr sz="800">
                          <a:solidFill>
                            <a:srgbClr val="C8D2DC"/>
                          </a:solidFill>
                          <a:latin typeface="Calibri"/>
                        </a:defRPr>
                      </a:pPr>
                      <a:r>
                        <a:t>PRL 首次激光激发</a:t>
                      </a:r>
                    </a:p>
                    <a:p>
                      <a:pPr algn="ctr">
                        <a:defRPr sz="800">
                          <a:solidFill>
                            <a:srgbClr val="C8D2DC"/>
                          </a:solidFill>
                          <a:latin typeface="Calibri"/>
                        </a:defRPr>
                      </a:pPr>
                      <a:r>
                        <a:t>²²⁹Th核跃迁</a:t>
                      </a:r>
                    </a:p>
                  </a:txBody>
                  <a:tcPr>
                    <a:solidFill>
                      <a:srgbClr val="122E52"/>
                    </a:solidFill>
                  </a:tcPr>
                </a:tc>
                <a:tc>
                  <a:txBody>
                    <a:bodyPr/>
                    <a:lstStyle/>
                    <a:p>
                      <a:pPr algn="ctr">
                        <a:defRPr sz="800">
                          <a:solidFill>
                            <a:srgbClr val="C8D2DC"/>
                          </a:solidFill>
                          <a:latin typeface="Calibri"/>
                        </a:defRPr>
                      </a:pPr>
                      <a:r>
                        <a:t>PTB / TU Wien</a:t>
                      </a:r>
                    </a:p>
                    <a:p>
                      <a:pPr algn="ctr">
                        <a:defRPr sz="800">
                          <a:solidFill>
                            <a:srgbClr val="C8D2DC"/>
                          </a:solidFill>
                          <a:latin typeface="Calibri"/>
                        </a:defRPr>
                      </a:pPr>
                      <a:r>
                        <a:t>Tiedau, Okhapkin</a:t>
                      </a:r>
                    </a:p>
                    <a:p>
                      <a:pPr algn="ctr">
                        <a:defRPr sz="800">
                          <a:solidFill>
                            <a:srgbClr val="C8D2DC"/>
                          </a:solidFill>
                          <a:latin typeface="Calibri"/>
                        </a:defRPr>
                      </a:pPr>
                      <a:r>
                        <a:t>Peik, Schumm</a:t>
                      </a:r>
                    </a:p>
                  </a:txBody>
                  <a:tcPr>
                    <a:solidFill>
                      <a:srgbClr val="122E52"/>
                    </a:solidFill>
                  </a:tcPr>
                </a:tc>
                <a:tc>
                  <a:txBody>
                    <a:bodyPr/>
                    <a:lstStyle/>
                    <a:p>
                      <a:pPr algn="ctr">
                        <a:defRPr sz="800">
                          <a:solidFill>
                            <a:srgbClr val="C8D2DC"/>
                          </a:solidFill>
                          <a:latin typeface="Calibri"/>
                        </a:defRPr>
                      </a:pPr>
                      <a:r>
                        <a:t>脉冲宽带 FWM</a:t>
                      </a:r>
                    </a:p>
                    <a:p>
                      <a:pPr algn="ctr">
                        <a:defRPr sz="800">
                          <a:solidFill>
                            <a:srgbClr val="C8D2DC"/>
                          </a:solidFill>
                          <a:latin typeface="Calibri"/>
                        </a:defRPr>
                      </a:pPr>
                      <a:r>
                        <a:t>+ 荧光检测</a:t>
                      </a:r>
                    </a:p>
                  </a:txBody>
                  <a:tcPr>
                    <a:solidFill>
                      <a:srgbClr val="122E52"/>
                    </a:solidFill>
                  </a:tcPr>
                </a:tc>
                <a:tc>
                  <a:txBody>
                    <a:bodyPr/>
                    <a:lstStyle/>
                    <a:p>
                      <a:pPr algn="ctr">
                        <a:defRPr sz="800">
                          <a:solidFill>
                            <a:srgbClr val="C8D2DC"/>
                          </a:solidFill>
                          <a:latin typeface="Calibri"/>
                        </a:defRPr>
                      </a:pPr>
                      <a:r>
                        <a:t>核光钟概念验证</a:t>
                      </a:r>
                    </a:p>
                    <a:p>
                      <a:pPr algn="ctr">
                        <a:defRPr sz="800">
                          <a:solidFill>
                            <a:srgbClr val="C8D2DC"/>
                          </a:solidFill>
                          <a:latin typeface="Calibri"/>
                        </a:defRPr>
                      </a:pPr>
                      <a:r>
                        <a:t>首次实现可控核激发</a:t>
                      </a:r>
                    </a:p>
                  </a:txBody>
                  <a:tcPr>
                    <a:solidFill>
                      <a:srgbClr val="122E52"/>
                    </a:solidFill>
                  </a:tcPr>
                </a:tc>
              </a:tr>
              <a:tr h="292608">
                <a:tc>
                  <a:txBody>
                    <a:bodyPr/>
                    <a:lstStyle/>
                    <a:p>
                      <a:pPr algn="ctr">
                        <a:defRPr sz="800">
                          <a:solidFill>
                            <a:srgbClr val="C8D2DC"/>
                          </a:solidFill>
                          <a:latin typeface="Calibri"/>
                        </a:defRPr>
                      </a:pPr>
                      <a:r>
                        <a:t>2024.07</a:t>
                      </a:r>
                    </a:p>
                  </a:txBody>
                  <a:tcPr>
                    <a:solidFill>
                      <a:srgbClr val="0B1D3A"/>
                    </a:solidFill>
                  </a:tcPr>
                </a:tc>
                <a:tc>
                  <a:txBody>
                    <a:bodyPr/>
                    <a:lstStyle/>
                    <a:p>
                      <a:pPr algn="ctr">
                        <a:defRPr sz="800">
                          <a:solidFill>
                            <a:srgbClr val="C8D2DC"/>
                          </a:solidFill>
                          <a:latin typeface="Calibri"/>
                        </a:defRPr>
                      </a:pPr>
                      <a:r>
                        <a:t>²²⁹ᵐTh/Sr</a:t>
                      </a:r>
                    </a:p>
                    <a:p>
                      <a:pPr algn="ctr">
                        <a:defRPr sz="800">
                          <a:solidFill>
                            <a:srgbClr val="C8D2DC"/>
                          </a:solidFill>
                          <a:latin typeface="Calibri"/>
                        </a:defRPr>
                      </a:pPr>
                      <a:r>
                        <a:t>频率比测量</a:t>
                      </a:r>
                    </a:p>
                  </a:txBody>
                  <a:tcPr>
                    <a:solidFill>
                      <a:srgbClr val="0B1D3A"/>
                    </a:solidFill>
                  </a:tcPr>
                </a:tc>
                <a:tc>
                  <a:txBody>
                    <a:bodyPr/>
                    <a:lstStyle/>
                    <a:p>
                      <a:pPr algn="ctr">
                        <a:defRPr sz="800">
                          <a:solidFill>
                            <a:srgbClr val="C8D2DC"/>
                          </a:solidFill>
                          <a:latin typeface="Calibri"/>
                        </a:defRPr>
                      </a:pPr>
                      <a:r>
                        <a:t>JILA</a:t>
                      </a:r>
                    </a:p>
                    <a:p>
                      <a:pPr algn="ctr">
                        <a:defRPr sz="800">
                          <a:solidFill>
                            <a:srgbClr val="C8D2DC"/>
                          </a:solidFill>
                          <a:latin typeface="Calibri"/>
                        </a:defRPr>
                      </a:pPr>
                      <a:r>
                        <a:t>Zhang, Ye et al.</a:t>
                      </a:r>
                    </a:p>
                    <a:p>
                      <a:pPr algn="ctr">
                        <a:defRPr sz="800">
                          <a:solidFill>
                            <a:srgbClr val="C8D2DC"/>
                          </a:solidFill>
                          <a:latin typeface="Calibri"/>
                        </a:defRPr>
                      </a:pPr>
                      <a:r>
                        <a:t>(Nature 2024.09)</a:t>
                      </a:r>
                    </a:p>
                  </a:txBody>
                  <a:tcPr>
                    <a:solidFill>
                      <a:srgbClr val="0B1D3A"/>
                    </a:solidFill>
                  </a:tcPr>
                </a:tc>
                <a:tc>
                  <a:txBody>
                    <a:bodyPr/>
                    <a:lstStyle/>
                    <a:p>
                      <a:pPr algn="ctr">
                        <a:defRPr sz="800">
                          <a:solidFill>
                            <a:srgbClr val="C8D2DC"/>
                          </a:solidFill>
                          <a:latin typeface="Calibri"/>
                        </a:defRPr>
                      </a:pPr>
                      <a:r>
                        <a:t>VUV频率梳</a:t>
                      </a:r>
                    </a:p>
                    <a:p>
                      <a:pPr algn="ctr">
                        <a:defRPr sz="800">
                          <a:solidFill>
                            <a:srgbClr val="C8D2DC"/>
                          </a:solidFill>
                          <a:latin typeface="Calibri"/>
                        </a:defRPr>
                      </a:pPr>
                      <a:r>
                        <a:t>第7次谐波</a:t>
                      </a:r>
                    </a:p>
                    <a:p>
                      <a:pPr algn="ctr">
                        <a:defRPr sz="800">
                          <a:solidFill>
                            <a:srgbClr val="C8D2DC"/>
                          </a:solidFill>
                          <a:latin typeface="Calibri"/>
                        </a:defRPr>
                      </a:pPr>
                      <a:r>
                        <a:t>激光增强腔</a:t>
                      </a:r>
                    </a:p>
                  </a:txBody>
                  <a:tcPr>
                    <a:solidFill>
                      <a:srgbClr val="0B1D3A"/>
                    </a:solidFill>
                  </a:tcPr>
                </a:tc>
                <a:tc>
                  <a:txBody>
                    <a:bodyPr/>
                    <a:lstStyle/>
                    <a:p>
                      <a:pPr algn="ctr">
                        <a:defRPr sz="800">
                          <a:solidFill>
                            <a:srgbClr val="C8D2DC"/>
                          </a:solidFill>
                          <a:latin typeface="Calibri"/>
                        </a:defRPr>
                      </a:pPr>
                      <a:r>
                        <a:t>首次核钟-原子钟</a:t>
                      </a:r>
                    </a:p>
                    <a:p>
                      <a:pPr algn="ctr">
                        <a:defRPr sz="800">
                          <a:solidFill>
                            <a:srgbClr val="C8D2DC"/>
                          </a:solidFill>
                          <a:latin typeface="Calibri"/>
                        </a:defRPr>
                      </a:pPr>
                      <a:r>
                        <a:t>频率比直接连接</a:t>
                      </a:r>
                    </a:p>
                    <a:p>
                      <a:pPr algn="ctr">
                        <a:defRPr sz="800">
                          <a:solidFill>
                            <a:srgbClr val="C8D2DC"/>
                          </a:solidFill>
                          <a:latin typeface="Calibri"/>
                        </a:defRPr>
                      </a:pPr>
                      <a:r>
                        <a:t>kHz级精度</a:t>
                      </a:r>
                    </a:p>
                  </a:txBody>
                  <a:tcPr>
                    <a:solidFill>
                      <a:srgbClr val="0B1D3A"/>
                    </a:solidFill>
                  </a:tcPr>
                </a:tc>
              </a:tr>
              <a:tr h="292608">
                <a:tc>
                  <a:txBody>
                    <a:bodyPr/>
                    <a:lstStyle/>
                    <a:p>
                      <a:pPr algn="ctr">
                        <a:defRPr sz="800">
                          <a:solidFill>
                            <a:srgbClr val="C8D2DC"/>
                          </a:solidFill>
                          <a:latin typeface="Calibri"/>
                        </a:defRPr>
                      </a:pPr>
                      <a:r>
                        <a:t>2025.07</a:t>
                      </a:r>
                    </a:p>
                  </a:txBody>
                  <a:tcPr>
                    <a:solidFill>
                      <a:srgbClr val="122E52"/>
                    </a:solidFill>
                  </a:tcPr>
                </a:tc>
                <a:tc>
                  <a:txBody>
                    <a:bodyPr/>
                    <a:lstStyle/>
                    <a:p>
                      <a:pPr algn="ctr">
                        <a:defRPr sz="800">
                          <a:solidFill>
                            <a:srgbClr val="C8D2DC"/>
                          </a:solidFill>
                          <a:latin typeface="Calibri"/>
                        </a:defRPr>
                      </a:pPr>
                      <a:r>
                        <a:t>CW VUV激光首次</a:t>
                      </a:r>
                    </a:p>
                    <a:p>
                      <a:pPr algn="ctr">
                        <a:defRPr sz="800">
                          <a:solidFill>
                            <a:srgbClr val="C8D2DC"/>
                          </a:solidFill>
                          <a:latin typeface="Calibri"/>
                        </a:defRPr>
                      </a:pPr>
                      <a:r>
                        <a:t>实验演示(arXiv)</a:t>
                      </a:r>
                    </a:p>
                  </a:txBody>
                  <a:tcPr>
                    <a:solidFill>
                      <a:srgbClr val="122E52"/>
                    </a:solidFill>
                  </a:tcPr>
                </a:tc>
                <a:tc>
                  <a:txBody>
                    <a:bodyPr/>
                    <a:lstStyle/>
                    <a:p>
                      <a:pPr algn="ctr">
                        <a:defRPr sz="800">
                          <a:solidFill>
                            <a:srgbClr val="C8D2DC"/>
                          </a:solidFill>
                          <a:latin typeface="Calibri"/>
                        </a:defRPr>
                      </a:pPr>
                      <a:r>
                        <a:t>清华大学</a:t>
                      </a:r>
                    </a:p>
                    <a:p>
                      <a:pPr algn="ctr">
                        <a:defRPr sz="800">
                          <a:solidFill>
                            <a:srgbClr val="C8D2DC"/>
                          </a:solidFill>
                          <a:latin typeface="Calibri"/>
                        </a:defRPr>
                      </a:pPr>
                      <a:r>
                        <a:t>丁世谦, 莫宇翔等</a:t>
                      </a:r>
                    </a:p>
                    <a:p>
                      <a:pPr algn="ctr">
                        <a:defRPr sz="800">
                          <a:solidFill>
                            <a:srgbClr val="C8D2DC"/>
                          </a:solidFill>
                          <a:latin typeface="Calibri"/>
                        </a:defRPr>
                      </a:pPr>
                      <a:r>
                        <a:t>(arXiv:2507.19449)</a:t>
                      </a:r>
                    </a:p>
                  </a:txBody>
                  <a:tcPr>
                    <a:solidFill>
                      <a:srgbClr val="122E52"/>
                    </a:solidFill>
                  </a:tcPr>
                </a:tc>
                <a:tc>
                  <a:txBody>
                    <a:bodyPr/>
                    <a:lstStyle/>
                    <a:p>
                      <a:pPr algn="ctr">
                        <a:defRPr sz="800">
                          <a:solidFill>
                            <a:srgbClr val="C8D2DC"/>
                          </a:solidFill>
                          <a:latin typeface="Calibri"/>
                        </a:defRPr>
                      </a:pPr>
                      <a:r>
                        <a:t>Cd蒸气FWM</a:t>
                      </a:r>
                    </a:p>
                    <a:p>
                      <a:pPr algn="ctr">
                        <a:defRPr sz="800">
                          <a:solidFill>
                            <a:srgbClr val="C8D2DC"/>
                          </a:solidFill>
                          <a:latin typeface="Calibri"/>
                        </a:defRPr>
                      </a:pPr>
                      <a:r>
                        <a:t>连续波148nm</a:t>
                      </a:r>
                    </a:p>
                    <a:p>
                      <a:pPr algn="ctr">
                        <a:defRPr sz="800">
                          <a:solidFill>
                            <a:srgbClr val="C8D2DC"/>
                          </a:solidFill>
                          <a:latin typeface="Calibri"/>
                        </a:defRPr>
                      </a:pPr>
                      <a:r>
                        <a:t>&gt;100 nW, &lt;100 Hz</a:t>
                      </a:r>
                    </a:p>
                  </a:txBody>
                  <a:tcPr>
                    <a:solidFill>
                      <a:srgbClr val="122E52"/>
                    </a:solidFill>
                  </a:tcPr>
                </a:tc>
                <a:tc>
                  <a:txBody>
                    <a:bodyPr/>
                    <a:lstStyle/>
                    <a:p>
                      <a:pPr algn="ctr">
                        <a:defRPr sz="800">
                          <a:solidFill>
                            <a:srgbClr val="C8D2DC"/>
                          </a:solidFill>
                          <a:latin typeface="Calibri"/>
                        </a:defRPr>
                      </a:pPr>
                      <a:r>
                        <a:t>第一个窄线宽VUV</a:t>
                      </a:r>
                    </a:p>
                    <a:p>
                      <a:pPr algn="ctr">
                        <a:defRPr sz="800">
                          <a:solidFill>
                            <a:srgbClr val="C8D2DC"/>
                          </a:solidFill>
                          <a:latin typeface="Calibri"/>
                        </a:defRPr>
                      </a:pPr>
                      <a:r>
                        <a:t>CW光源,线宽比</a:t>
                      </a:r>
                    </a:p>
                    <a:p>
                      <a:pPr algn="ctr">
                        <a:defRPr sz="800">
                          <a:solidFill>
                            <a:srgbClr val="C8D2DC"/>
                          </a:solidFill>
                          <a:latin typeface="Calibri"/>
                        </a:defRPr>
                      </a:pPr>
                      <a:r>
                        <a:t>此前提升5个量级</a:t>
                      </a:r>
                    </a:p>
                  </a:txBody>
                  <a:tcPr>
                    <a:solidFill>
                      <a:srgbClr val="122E52"/>
                    </a:solidFill>
                  </a:tcPr>
                </a:tc>
              </a:tr>
              <a:tr h="292608">
                <a:tc>
                  <a:txBody>
                    <a:bodyPr/>
                    <a:lstStyle/>
                    <a:p>
                      <a:pPr algn="ctr">
                        <a:defRPr sz="800">
                          <a:solidFill>
                            <a:srgbClr val="C8D2DC"/>
                          </a:solidFill>
                          <a:latin typeface="Calibri"/>
                        </a:defRPr>
                      </a:pPr>
                      <a:r>
                        <a:t>2025.08</a:t>
                      </a:r>
                    </a:p>
                  </a:txBody>
                  <a:tcPr>
                    <a:solidFill>
                      <a:srgbClr val="0B1D3A"/>
                    </a:solidFill>
                  </a:tcPr>
                </a:tc>
                <a:tc>
                  <a:txBody>
                    <a:bodyPr/>
                    <a:lstStyle/>
                    <a:p>
                      <a:pPr algn="ctr">
                        <a:defRPr sz="800">
                          <a:solidFill>
                            <a:srgbClr val="C8D2DC"/>
                          </a:solidFill>
                          <a:latin typeface="Calibri"/>
                        </a:defRPr>
                      </a:pPr>
                      <a:r>
                        <a:t>α敏感度精确</a:t>
                      </a:r>
                    </a:p>
                    <a:p>
                      <a:pPr algn="ctr">
                        <a:defRPr sz="800">
                          <a:solidFill>
                            <a:srgbClr val="C8D2DC"/>
                          </a:solidFill>
                          <a:latin typeface="Calibri"/>
                        </a:defRPr>
                      </a:pPr>
                      <a:r>
                        <a:t>确定(K=5900)</a:t>
                      </a:r>
                    </a:p>
                  </a:txBody>
                  <a:tcPr>
                    <a:solidFill>
                      <a:srgbClr val="0B1D3A"/>
                    </a:solidFill>
                  </a:tcPr>
                </a:tc>
                <a:tc>
                  <a:txBody>
                    <a:bodyPr/>
                    <a:lstStyle/>
                    <a:p>
                      <a:pPr algn="ctr">
                        <a:defRPr sz="800">
                          <a:solidFill>
                            <a:srgbClr val="C8D2DC"/>
                          </a:solidFill>
                          <a:latin typeface="Calibri"/>
                        </a:defRPr>
                      </a:pPr>
                      <a:r>
                        <a:t>CERN/MPIK等</a:t>
                      </a:r>
                    </a:p>
                    <a:p>
                      <a:pPr algn="ctr">
                        <a:defRPr sz="800">
                          <a:solidFill>
                            <a:srgbClr val="C8D2DC"/>
                          </a:solidFill>
                          <a:latin typeface="Calibri"/>
                        </a:defRPr>
                      </a:pPr>
                      <a:r>
                        <a:t>(Nat. Commun. 10月)</a:t>
                      </a:r>
                    </a:p>
                  </a:txBody>
                  <a:tcPr>
                    <a:solidFill>
                      <a:srgbClr val="0B1D3A"/>
                    </a:solidFill>
                  </a:tcPr>
                </a:tc>
                <a:tc>
                  <a:txBody>
                    <a:bodyPr/>
                    <a:lstStyle/>
                    <a:p>
                      <a:pPr algn="ctr">
                        <a:defRPr sz="800">
                          <a:solidFill>
                            <a:srgbClr val="C8D2DC"/>
                          </a:solidFill>
                          <a:latin typeface="Calibri"/>
                        </a:defRPr>
                      </a:pPr>
                      <a:r>
                        <a:t>核形变模型</a:t>
                      </a:r>
                    </a:p>
                    <a:p>
                      <a:pPr algn="ctr">
                        <a:defRPr sz="800">
                          <a:solidFill>
                            <a:srgbClr val="C8D2DC"/>
                          </a:solidFill>
                          <a:latin typeface="Calibri"/>
                        </a:defRPr>
                      </a:pPr>
                      <a:r>
                        <a:t>电四极矩测量</a:t>
                      </a:r>
                    </a:p>
                  </a:txBody>
                  <a:tcPr>
                    <a:solidFill>
                      <a:srgbClr val="0B1D3A"/>
                    </a:solidFill>
                  </a:tcPr>
                </a:tc>
                <a:tc>
                  <a:txBody>
                    <a:bodyPr/>
                    <a:lstStyle/>
                    <a:p>
                      <a:pPr algn="ctr">
                        <a:defRPr sz="800">
                          <a:solidFill>
                            <a:srgbClr val="C8D2DC"/>
                          </a:solidFill>
                          <a:latin typeface="Calibri"/>
                        </a:defRPr>
                      </a:pPr>
                      <a:r>
                        <a:t>定量确认核钟</a:t>
                      </a:r>
                    </a:p>
                    <a:p>
                      <a:pPr algn="ctr">
                        <a:defRPr sz="800">
                          <a:solidFill>
                            <a:srgbClr val="C8D2DC"/>
                          </a:solidFill>
                          <a:latin typeface="Calibri"/>
                        </a:defRPr>
                      </a:pPr>
                      <a:r>
                        <a:t>对新物理搜寻的</a:t>
                      </a:r>
                    </a:p>
                    <a:p>
                      <a:pPr algn="ctr">
                        <a:defRPr sz="800">
                          <a:solidFill>
                            <a:srgbClr val="C8D2DC"/>
                          </a:solidFill>
                          <a:latin typeface="Calibri"/>
                        </a:defRPr>
                      </a:pPr>
                      <a:r>
                        <a:t>巨大优势</a:t>
                      </a:r>
                    </a:p>
                  </a:txBody>
                  <a:tcPr>
                    <a:solidFill>
                      <a:srgbClr val="0B1D3A"/>
                    </a:solidFill>
                  </a:tcPr>
                </a:tc>
              </a:tr>
              <a:tr h="292608">
                <a:tc>
                  <a:txBody>
                    <a:bodyPr/>
                    <a:lstStyle/>
                    <a:p>
                      <a:pPr algn="ctr">
                        <a:defRPr sz="800">
                          <a:solidFill>
                            <a:srgbClr val="C8D2DC"/>
                          </a:solidFill>
                          <a:latin typeface="Calibri"/>
                        </a:defRPr>
                      </a:pPr>
                      <a:r>
                        <a:t>2026.02</a:t>
                      </a:r>
                    </a:p>
                  </a:txBody>
                  <a:tcPr>
                    <a:solidFill>
                      <a:srgbClr val="122E52"/>
                    </a:solidFill>
                  </a:tcPr>
                </a:tc>
                <a:tc>
                  <a:txBody>
                    <a:bodyPr/>
                    <a:lstStyle/>
                    <a:p>
                      <a:pPr algn="ctr">
                        <a:defRPr sz="800">
                          <a:solidFill>
                            <a:srgbClr val="C8D2DC"/>
                          </a:solidFill>
                          <a:latin typeface="Calibri"/>
                        </a:defRPr>
                      </a:pPr>
                      <a:r>
                        <a:t>CW VUV激光</a:t>
                      </a:r>
                    </a:p>
                    <a:p>
                      <a:pPr algn="ctr">
                        <a:defRPr sz="800">
                          <a:solidFill>
                            <a:srgbClr val="C8D2DC"/>
                          </a:solidFill>
                          <a:latin typeface="Calibri"/>
                        </a:defRPr>
                      </a:pPr>
                      <a:r>
                        <a:t>Nature正式发表</a:t>
                      </a:r>
                    </a:p>
                  </a:txBody>
                  <a:tcPr>
                    <a:solidFill>
                      <a:srgbClr val="122E52"/>
                    </a:solidFill>
                  </a:tcPr>
                </a:tc>
                <a:tc>
                  <a:txBody>
                    <a:bodyPr/>
                    <a:lstStyle/>
                    <a:p>
                      <a:pPr algn="ctr">
                        <a:defRPr sz="800">
                          <a:solidFill>
                            <a:srgbClr val="C8D2DC"/>
                          </a:solidFill>
                          <a:latin typeface="Calibri"/>
                        </a:defRPr>
                      </a:pPr>
                      <a:r>
                        <a:t>清华大学</a:t>
                      </a:r>
                    </a:p>
                    <a:p>
                      <a:pPr algn="ctr">
                        <a:defRPr sz="800">
                          <a:solidFill>
                            <a:srgbClr val="C8D2DC"/>
                          </a:solidFill>
                          <a:latin typeface="Calibri"/>
                        </a:defRPr>
                      </a:pPr>
                      <a:r>
                        <a:t>Tian, Ding, Mo et al.</a:t>
                      </a:r>
                    </a:p>
                    <a:p>
                      <a:pPr algn="ctr">
                        <a:defRPr sz="800">
                          <a:solidFill>
                            <a:srgbClr val="C8D2DC"/>
                          </a:solidFill>
                          <a:latin typeface="Calibri"/>
                        </a:defRPr>
                      </a:pPr>
                      <a:r>
                        <a:t>(Nature 2026.02.11)</a:t>
                      </a:r>
                    </a:p>
                  </a:txBody>
                  <a:tcPr>
                    <a:solidFill>
                      <a:srgbClr val="122E52"/>
                    </a:solidFill>
                  </a:tcPr>
                </a:tc>
                <a:tc>
                  <a:txBody>
                    <a:bodyPr/>
                    <a:lstStyle/>
                    <a:p>
                      <a:pPr algn="ctr">
                        <a:defRPr sz="800">
                          <a:solidFill>
                            <a:srgbClr val="C8D2DC"/>
                          </a:solidFill>
                          <a:latin typeface="Calibri"/>
                        </a:defRPr>
                      </a:pPr>
                      <a:r>
                        <a:t>Cd蒸气FWM</a:t>
                      </a:r>
                    </a:p>
                    <a:p>
                      <a:pPr algn="ctr">
                        <a:defRPr sz="800">
                          <a:solidFill>
                            <a:srgbClr val="C8D2DC"/>
                          </a:solidFill>
                          <a:latin typeface="Calibri"/>
                        </a:defRPr>
                      </a:pPr>
                      <a:r>
                        <a:t>空间分辨零差</a:t>
                      </a:r>
                    </a:p>
                    <a:p>
                      <a:pPr algn="ctr">
                        <a:defRPr sz="800">
                          <a:solidFill>
                            <a:srgbClr val="C8D2DC"/>
                          </a:solidFill>
                          <a:latin typeface="Calibri"/>
                        </a:defRPr>
                      </a:pPr>
                      <a:r>
                        <a:t>亚Hz能力</a:t>
                      </a:r>
                    </a:p>
                  </a:txBody>
                  <a:tcPr>
                    <a:solidFill>
                      <a:srgbClr val="122E52"/>
                    </a:solidFill>
                  </a:tcPr>
                </a:tc>
                <a:tc>
                  <a:txBody>
                    <a:bodyPr/>
                    <a:lstStyle/>
                    <a:p>
                      <a:pPr algn="ctr">
                        <a:defRPr sz="800">
                          <a:solidFill>
                            <a:srgbClr val="C8D2DC"/>
                          </a:solidFill>
                          <a:latin typeface="Calibri"/>
                        </a:defRPr>
                      </a:pPr>
                      <a:r>
                        <a:t>核钟"最后一个</a:t>
                      </a:r>
                    </a:p>
                    <a:p>
                      <a:pPr algn="ctr">
                        <a:defRPr sz="800">
                          <a:solidFill>
                            <a:srgbClr val="C8D2DC"/>
                          </a:solidFill>
                          <a:latin typeface="Calibri"/>
                        </a:defRPr>
                      </a:pPr>
                      <a:r>
                        <a:t>技术瓶颈"被突破</a:t>
                      </a:r>
                    </a:p>
                    <a:p>
                      <a:pPr algn="ctr">
                        <a:defRPr sz="800">
                          <a:solidFill>
                            <a:srgbClr val="C8D2DC"/>
                          </a:solidFill>
                          <a:latin typeface="Calibri"/>
                        </a:defRPr>
                      </a:pPr>
                      <a:r>
                        <a:t>获NSFC官宣</a:t>
                      </a:r>
                    </a:p>
                  </a:txBody>
                  <a:tcPr>
                    <a:solidFill>
                      <a:srgbClr val="122E52"/>
                    </a:solidFill>
                  </a:tcPr>
                </a:tc>
              </a:tr>
              <a:tr h="292608">
                <a:tc>
                  <a:txBody>
                    <a:bodyPr/>
                    <a:lstStyle/>
                    <a:p>
                      <a:pPr algn="ctr">
                        <a:defRPr sz="800">
                          <a:solidFill>
                            <a:srgbClr val="C8D2DC"/>
                          </a:solidFill>
                          <a:latin typeface="Calibri"/>
                        </a:defRPr>
                      </a:pPr>
                      <a:r>
                        <a:t>2026.02</a:t>
                      </a:r>
                    </a:p>
                  </a:txBody>
                  <a:tcPr>
                    <a:solidFill>
                      <a:srgbClr val="0B1D3A"/>
                    </a:solidFill>
                  </a:tcPr>
                </a:tc>
                <a:tc>
                  <a:txBody>
                    <a:bodyPr/>
                    <a:lstStyle/>
                    <a:p>
                      <a:pPr algn="ctr">
                        <a:defRPr sz="800">
                          <a:solidFill>
                            <a:srgbClr val="C8D2DC"/>
                          </a:solidFill>
                          <a:latin typeface="Calibri"/>
                        </a:defRPr>
                      </a:pPr>
                      <a:r>
                        <a:t>固态核钟频率</a:t>
                      </a:r>
                    </a:p>
                    <a:p>
                      <a:pPr algn="ctr">
                        <a:defRPr sz="800">
                          <a:solidFill>
                            <a:srgbClr val="C8D2DC"/>
                          </a:solidFill>
                          <a:latin typeface="Calibri"/>
                        </a:defRPr>
                      </a:pPr>
                      <a:r>
                        <a:t>复现性首次表征</a:t>
                      </a:r>
                    </a:p>
                  </a:txBody>
                  <a:tcPr>
                    <a:solidFill>
                      <a:srgbClr val="0B1D3A"/>
                    </a:solidFill>
                  </a:tcPr>
                </a:tc>
                <a:tc>
                  <a:txBody>
                    <a:bodyPr/>
                    <a:lstStyle/>
                    <a:p>
                      <a:pPr algn="ctr">
                        <a:defRPr sz="800">
                          <a:solidFill>
                            <a:srgbClr val="C8D2DC"/>
                          </a:solidFill>
                          <a:latin typeface="Calibri"/>
                        </a:defRPr>
                      </a:pPr>
                      <a:r>
                        <a:t>JILA</a:t>
                      </a:r>
                    </a:p>
                    <a:p>
                      <a:pPr algn="ctr">
                        <a:defRPr sz="800">
                          <a:solidFill>
                            <a:srgbClr val="C8D2DC"/>
                          </a:solidFill>
                          <a:latin typeface="Calibri"/>
                        </a:defRPr>
                      </a:pPr>
                      <a:r>
                        <a:t>Ooi, Ye et al.</a:t>
                      </a:r>
                    </a:p>
                    <a:p>
                      <a:pPr algn="ctr">
                        <a:defRPr sz="800">
                          <a:solidFill>
                            <a:srgbClr val="C8D2DC"/>
                          </a:solidFill>
                          <a:latin typeface="Calibri"/>
                        </a:defRPr>
                      </a:pPr>
                      <a:r>
                        <a:t>(Nature 2026.02.05)</a:t>
                      </a:r>
                    </a:p>
                  </a:txBody>
                  <a:tcPr>
                    <a:solidFill>
                      <a:srgbClr val="0B1D3A"/>
                    </a:solidFill>
                  </a:tcPr>
                </a:tc>
                <a:tc>
                  <a:txBody>
                    <a:bodyPr/>
                    <a:lstStyle/>
                    <a:p>
                      <a:pPr algn="ctr">
                        <a:defRPr sz="800">
                          <a:solidFill>
                            <a:srgbClr val="C8D2DC"/>
                          </a:solidFill>
                          <a:latin typeface="Calibri"/>
                        </a:defRPr>
                      </a:pPr>
                      <a:r>
                        <a:t>VUV梳+温控</a:t>
                      </a:r>
                    </a:p>
                    <a:p>
                      <a:pPr algn="ctr">
                        <a:defRPr sz="800">
                          <a:solidFill>
                            <a:srgbClr val="C8D2DC"/>
                          </a:solidFill>
                          <a:latin typeface="Calibri"/>
                        </a:defRPr>
                      </a:pPr>
                      <a:r>
                        <a:t>掺杂浓度扫描</a:t>
                      </a:r>
                    </a:p>
                    <a:p>
                      <a:pPr algn="ctr">
                        <a:defRPr sz="800">
                          <a:solidFill>
                            <a:srgbClr val="C8D2DC"/>
                          </a:solidFill>
                          <a:latin typeface="Calibri"/>
                        </a:defRPr>
                      </a:pPr>
                      <a:r>
                        <a:t>196K最优工作点</a:t>
                      </a:r>
                    </a:p>
                  </a:txBody>
                  <a:tcPr>
                    <a:solidFill>
                      <a:srgbClr val="0B1D3A"/>
                    </a:solidFill>
                  </a:tcPr>
                </a:tc>
                <a:tc>
                  <a:txBody>
                    <a:bodyPr/>
                    <a:lstStyle/>
                    <a:p>
                      <a:pPr algn="ctr">
                        <a:defRPr sz="800">
                          <a:solidFill>
                            <a:srgbClr val="C8D2DC"/>
                          </a:solidFill>
                          <a:latin typeface="Calibri"/>
                        </a:defRPr>
                      </a:pPr>
                      <a:r>
                        <a:t>频率复现性1.1×10⁻¹³</a:t>
                      </a:r>
                    </a:p>
                    <a:p>
                      <a:pPr algn="ctr">
                        <a:defRPr sz="800">
                          <a:solidFill>
                            <a:srgbClr val="C8D2DC"/>
                          </a:solidFill>
                          <a:latin typeface="Calibri"/>
                        </a:defRPr>
                      </a:pPr>
                      <a:r>
                        <a:t>晶体场致展宽</a:t>
                      </a:r>
                    </a:p>
                    <a:p>
                      <a:pPr algn="ctr">
                        <a:defRPr sz="800">
                          <a:solidFill>
                            <a:srgbClr val="C8D2DC"/>
                          </a:solidFill>
                          <a:latin typeface="Calibri"/>
                        </a:defRPr>
                      </a:pPr>
                      <a:r>
                        <a:t>随掺杂增大</a:t>
                      </a:r>
                    </a:p>
                  </a:txBody>
                  <a:tcPr>
                    <a:solidFill>
                      <a:srgbClr val="0B1D3A"/>
                    </a:solidFill>
                  </a:tcPr>
                </a:tc>
              </a:tr>
            </a:tbl>
          </a:graphicData>
        </a:graphic>
      </p:graphicFrame>
      <p:sp>
        <p:nvSpPr>
          <p:cNvPr id="7" name="TextBox 6"/>
          <p:cNvSpPr txBox="1"/>
          <p:nvPr/>
        </p:nvSpPr>
        <p:spPr>
          <a:xfrm>
            <a:off x="274320" y="6217920"/>
            <a:ext cx="10972800" cy="457200"/>
          </a:xfrm>
          <a:prstGeom prst="rect">
            <a:avLst/>
          </a:prstGeom>
          <a:noFill/>
        </p:spPr>
        <p:txBody>
          <a:bodyPr wrap="square">
            <a:spAutoFit/>
          </a:bodyPr>
          <a:lstStyle/>
          <a:p>
            <a:pPr algn="l">
              <a:defRPr sz="1000" b="0">
                <a:solidFill>
                  <a:srgbClr val="94A3B8"/>
                </a:solidFill>
                <a:latin typeface="Calibri"/>
              </a:defRPr>
            </a:pPr>
            <a:r>
              <a:t>来源: PRL 132, 182501 (2024); Nature 633, 63-70 (2024); Nature (2026.02.11); Nature (2026.02.05); Nat. Commun. (2025); NSFC官网 (2026.02.12)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中国在核光钟领域的贡献 — 光源突破</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清华大学丁世谦团队：攻克核光钟"最后一个核心瓶颈" — 148 nm 连续超窄线宽激光器</a:t>
            </a:r>
          </a:p>
        </p:txBody>
      </p:sp>
      <p:sp>
        <p:nvSpPr>
          <p:cNvPr id="6" name="Rectangle 5"/>
          <p:cNvSpPr/>
          <p:nvPr/>
        </p:nvSpPr>
        <p:spPr>
          <a:xfrm>
            <a:off x="457200" y="1645920"/>
            <a:ext cx="7132320" cy="48463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713232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6583680" cy="4389120"/>
          </a:xfrm>
          <a:prstGeom prst="rect">
            <a:avLst/>
          </a:prstGeom>
          <a:noFill/>
        </p:spPr>
        <p:txBody>
          <a:bodyPr wrap="square">
            <a:spAutoFit/>
          </a:bodyPr>
          <a:lstStyle/>
          <a:p>
            <a:pPr algn="l">
              <a:lnSpc>
                <a:spcPts val="2860"/>
              </a:lnSpc>
              <a:spcAft>
                <a:spcPts val="300"/>
              </a:spcAft>
              <a:defRPr sz="2200" b="1">
                <a:solidFill>
                  <a:srgbClr val="FCCC00"/>
                </a:solidFill>
                <a:latin typeface="Microsoft YaHei"/>
              </a:defRPr>
            </a:pPr>
            <a:r>
              <a:t>核心贡献：世界上第一台148 nm连续波超窄线宽激光器</a:t>
            </a:r>
          </a:p>
          <a:p>
            <a:pPr algn="l">
              <a:lnSpc>
                <a:spcPts val="780"/>
              </a:lnSpc>
              <a:spcAft>
                <a:spcPts val="300"/>
              </a:spcAft>
              <a:defRPr sz="600" b="0">
                <a:solidFill>
                  <a:srgbClr val="FFFFFF"/>
                </a:solidFill>
                <a:latin typeface="Microsoft YaHei"/>
              </a:defRPr>
            </a:pPr>
          </a:p>
          <a:p>
            <a:pPr algn="l">
              <a:lnSpc>
                <a:spcPts val="2340"/>
              </a:lnSpc>
              <a:spcAft>
                <a:spcPts val="300"/>
              </a:spcAft>
              <a:defRPr sz="1800" b="1">
                <a:solidFill>
                  <a:srgbClr val="14B8A6"/>
                </a:solidFill>
                <a:latin typeface="Microsoft YaHei"/>
              </a:defRPr>
            </a:pPr>
            <a:r>
              <a:t>关键创新</a:t>
            </a:r>
          </a:p>
          <a:p>
            <a:pPr algn="l">
              <a:lnSpc>
                <a:spcPts val="1950"/>
              </a:lnSpc>
              <a:spcAft>
                <a:spcPts val="300"/>
              </a:spcAft>
              <a:defRPr sz="1500" b="0">
                <a:solidFill>
                  <a:srgbClr val="C8D2DC"/>
                </a:solidFill>
                <a:latin typeface="Microsoft YaHei"/>
              </a:defRPr>
            </a:pPr>
            <a:r>
              <a:t>• 另辟蹊径：绕开主流非线性晶体路线，创新性提出金属镉(Cd)蒸气四波混频(FWM)方案</a:t>
            </a:r>
          </a:p>
          <a:p>
            <a:pPr algn="l">
              <a:lnSpc>
                <a:spcPts val="1820"/>
              </a:lnSpc>
              <a:spcAft>
                <a:spcPts val="300"/>
              </a:spcAft>
              <a:defRPr sz="1400" b="0">
                <a:solidFill>
                  <a:srgbClr val="94A3B8"/>
                </a:solidFill>
                <a:latin typeface="Microsoft YaHei"/>
              </a:defRPr>
            </a:pPr>
            <a:r>
              <a:t>  — 2024年6月发表理论方案 (arXiv:2406.16841)，2025年7月完成实验验证</a:t>
            </a:r>
          </a:p>
          <a:p>
            <a:pPr algn="l">
              <a:lnSpc>
                <a:spcPts val="1950"/>
              </a:lnSpc>
              <a:spcAft>
                <a:spcPts val="300"/>
              </a:spcAft>
              <a:defRPr sz="1500" b="0">
                <a:solidFill>
                  <a:srgbClr val="C8D2DC"/>
                </a:solidFill>
                <a:latin typeface="Microsoft YaHei"/>
              </a:defRPr>
            </a:pPr>
            <a:r>
              <a:t>• 关键技术发现：热金属蒸气中GHz量级多普勒展宽与碰撞展宽不会在FWM过程中引入额外相位噪声</a:t>
            </a:r>
          </a:p>
          <a:p>
            <a:pPr algn="l">
              <a:lnSpc>
                <a:spcPts val="1950"/>
              </a:lnSpc>
              <a:spcAft>
                <a:spcPts val="300"/>
              </a:spcAft>
              <a:defRPr sz="1500" b="0">
                <a:solidFill>
                  <a:srgbClr val="94A3B8"/>
                </a:solidFill>
                <a:latin typeface="Microsoft YaHei"/>
              </a:defRPr>
            </a:pPr>
            <a:r>
              <a:t>  — 即输出VUV光场的相干性主要由基频激光稳定度决定</a:t>
            </a:r>
          </a:p>
          <a:p>
            <a:pPr algn="l">
              <a:lnSpc>
                <a:spcPts val="1950"/>
              </a:lnSpc>
              <a:spcAft>
                <a:spcPts val="300"/>
              </a:spcAft>
              <a:defRPr sz="1500" b="0">
                <a:solidFill>
                  <a:srgbClr val="C8D2DC"/>
                </a:solidFill>
                <a:latin typeface="Microsoft YaHei"/>
              </a:defRPr>
            </a:pPr>
            <a:r>
              <a:t>• 自研高精度相位探测方法："空间分辨零差"技术，在极低功率下仍可稳定运行</a:t>
            </a:r>
          </a:p>
          <a:p>
            <a:pPr algn="l">
              <a:lnSpc>
                <a:spcPts val="780"/>
              </a:lnSpc>
              <a:spcAft>
                <a:spcPts val="300"/>
              </a:spcAft>
              <a:defRPr sz="600" b="0">
                <a:solidFill>
                  <a:srgbClr val="FFFFFF"/>
                </a:solidFill>
                <a:latin typeface="Microsoft YaHei"/>
              </a:defRPr>
            </a:pPr>
          </a:p>
          <a:p>
            <a:pPr algn="l">
              <a:lnSpc>
                <a:spcPts val="2340"/>
              </a:lnSpc>
              <a:spcAft>
                <a:spcPts val="300"/>
              </a:spcAft>
              <a:defRPr sz="1800" b="1">
                <a:solidFill>
                  <a:srgbClr val="14B8A6"/>
                </a:solidFill>
                <a:latin typeface="Microsoft YaHei"/>
              </a:defRPr>
            </a:pPr>
            <a:r>
              <a:t>性能指标</a:t>
            </a:r>
          </a:p>
          <a:p>
            <a:pPr algn="l">
              <a:lnSpc>
                <a:spcPts val="1950"/>
              </a:lnSpc>
              <a:spcAft>
                <a:spcPts val="300"/>
              </a:spcAft>
              <a:defRPr sz="1500" b="0">
                <a:solidFill>
                  <a:srgbClr val="C8D2DC"/>
                </a:solidFill>
                <a:latin typeface="Microsoft YaHei"/>
              </a:defRPr>
            </a:pPr>
            <a:r>
              <a:t>• 输出功率：&gt;100 nW @ 148.4 nm（目标波段）</a:t>
            </a:r>
          </a:p>
          <a:p>
            <a:pPr algn="l">
              <a:lnSpc>
                <a:spcPts val="1950"/>
              </a:lnSpc>
              <a:spcAft>
                <a:spcPts val="300"/>
              </a:spcAft>
              <a:defRPr sz="1500" b="0">
                <a:solidFill>
                  <a:srgbClr val="C8D2DC"/>
                </a:solidFill>
                <a:latin typeface="Microsoft YaHei"/>
              </a:defRPr>
            </a:pPr>
            <a:r>
              <a:t>• 线宽：远低于 100 Hz（比此前所有 &lt;190 nm 单频激光窄 ~5 个数量级）</a:t>
            </a:r>
          </a:p>
          <a:p>
            <a:pPr algn="l">
              <a:lnSpc>
                <a:spcPts val="1950"/>
              </a:lnSpc>
              <a:spcAft>
                <a:spcPts val="300"/>
              </a:spcAft>
              <a:defRPr sz="1500" b="0">
                <a:solidFill>
                  <a:srgbClr val="C8D2DC"/>
                </a:solidFill>
                <a:latin typeface="Microsoft YaHei"/>
              </a:defRPr>
            </a:pPr>
            <a:r>
              <a:t>• 调谐范围：140–175 nm 区间连续可调</a:t>
            </a:r>
          </a:p>
          <a:p>
            <a:pPr algn="l">
              <a:lnSpc>
                <a:spcPts val="1950"/>
              </a:lnSpc>
              <a:spcAft>
                <a:spcPts val="300"/>
              </a:spcAft>
              <a:defRPr sz="1500" b="0">
                <a:solidFill>
                  <a:srgbClr val="C8D2DC"/>
                </a:solidFill>
                <a:latin typeface="Microsoft YaHei"/>
              </a:defRPr>
            </a:pPr>
            <a:r>
              <a:t>• 亚赫兹线宽能力已验证（sub-Hz linewidth capability demonstrated）</a:t>
            </a:r>
          </a:p>
          <a:p>
            <a:pPr algn="l">
              <a:lnSpc>
                <a:spcPts val="780"/>
              </a:lnSpc>
              <a:spcAft>
                <a:spcPts val="300"/>
              </a:spcAft>
              <a:defRPr sz="600" b="0">
                <a:solidFill>
                  <a:srgbClr val="FFFFFF"/>
                </a:solidFill>
                <a:latin typeface="Microsoft YaHei"/>
              </a:defRPr>
            </a:pPr>
          </a:p>
          <a:p>
            <a:pPr algn="l">
              <a:lnSpc>
                <a:spcPts val="2340"/>
              </a:lnSpc>
              <a:spcAft>
                <a:spcPts val="300"/>
              </a:spcAft>
              <a:defRPr sz="1800" b="1">
                <a:solidFill>
                  <a:srgbClr val="14B8A6"/>
                </a:solidFill>
                <a:latin typeface="Microsoft YaHei"/>
              </a:defRPr>
            </a:pPr>
            <a:r>
              <a:t>发表情况</a:t>
            </a:r>
          </a:p>
          <a:p>
            <a:pPr algn="l">
              <a:lnSpc>
                <a:spcPts val="1820"/>
              </a:lnSpc>
              <a:spcAft>
                <a:spcPts val="300"/>
              </a:spcAft>
              <a:defRPr sz="1400" b="0">
                <a:solidFill>
                  <a:srgbClr val="94A3B8"/>
                </a:solidFill>
                <a:latin typeface="Microsoft YaHei"/>
              </a:defRPr>
            </a:pPr>
            <a:r>
              <a:t>• Nature (2026.02.11): "Continuous-wave narrow-linewidth vacuum ultraviolet laser source"</a:t>
            </a:r>
          </a:p>
          <a:p>
            <a:pPr algn="l">
              <a:lnSpc>
                <a:spcPts val="1820"/>
              </a:lnSpc>
              <a:spcAft>
                <a:spcPts val="300"/>
              </a:spcAft>
              <a:defRPr sz="1400" b="0">
                <a:solidFill>
                  <a:srgbClr val="94A3B8"/>
                </a:solidFill>
                <a:latin typeface="Microsoft YaHei"/>
              </a:defRPr>
            </a:pPr>
            <a:r>
              <a:t>• NSFC 官方 2026.02.12 发表专题报道，称"攻克钍-229核光钟研制的最后一个核心瓶颈"</a:t>
            </a:r>
          </a:p>
        </p:txBody>
      </p:sp>
      <p:sp>
        <p:nvSpPr>
          <p:cNvPr id="9" name="Rectangle 8"/>
          <p:cNvSpPr/>
          <p:nvPr/>
        </p:nvSpPr>
        <p:spPr>
          <a:xfrm>
            <a:off x="7863840" y="1645920"/>
            <a:ext cx="3931920" cy="48463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0" y="1645920"/>
            <a:ext cx="39319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828800"/>
            <a:ext cx="3474720" cy="4389120"/>
          </a:xfrm>
          <a:prstGeom prst="rect">
            <a:avLst/>
          </a:prstGeom>
          <a:noFill/>
        </p:spPr>
        <p:txBody>
          <a:bodyPr wrap="square">
            <a:spAutoFit/>
          </a:bodyPr>
          <a:lstStyle/>
          <a:p>
            <a:pPr algn="l">
              <a:lnSpc>
                <a:spcPts val="2600"/>
              </a:lnSpc>
              <a:spcAft>
                <a:spcPts val="300"/>
              </a:spcAft>
              <a:defRPr sz="2000" b="1">
                <a:solidFill>
                  <a:srgbClr val="3B82F6"/>
                </a:solidFill>
                <a:latin typeface="Microsoft YaHei"/>
              </a:defRPr>
            </a:pPr>
            <a:r>
              <a:t>研究团队</a:t>
            </a:r>
          </a:p>
          <a:p>
            <a:pPr algn="l">
              <a:lnSpc>
                <a:spcPts val="780"/>
              </a:lnSpc>
              <a:spcAft>
                <a:spcPts val="300"/>
              </a:spcAft>
              <a:defRPr sz="600" b="0">
                <a:solidFill>
                  <a:srgbClr val="FFFFFF"/>
                </a:solidFill>
                <a:latin typeface="Microsoft YaHei"/>
              </a:defRPr>
            </a:pPr>
          </a:p>
          <a:p>
            <a:pPr algn="l">
              <a:lnSpc>
                <a:spcPts val="2210"/>
              </a:lnSpc>
              <a:spcAft>
                <a:spcPts val="300"/>
              </a:spcAft>
              <a:defRPr sz="1700" b="1">
                <a:solidFill>
                  <a:srgbClr val="FCCC00"/>
                </a:solidFill>
                <a:latin typeface="Microsoft YaHei"/>
              </a:defRPr>
            </a:pPr>
            <a:r>
              <a:t>丁世谦 (Shiqian Ding)</a:t>
            </a:r>
          </a:p>
          <a:p>
            <a:pPr algn="l">
              <a:lnSpc>
                <a:spcPts val="1820"/>
              </a:lnSpc>
              <a:spcAft>
                <a:spcPts val="300"/>
              </a:spcAft>
              <a:defRPr sz="1400" b="0">
                <a:solidFill>
                  <a:srgbClr val="C8D2DC"/>
                </a:solidFill>
                <a:latin typeface="Microsoft YaHei"/>
              </a:defRPr>
            </a:pPr>
            <a:r>
              <a:t>清华大学物理系副教授</a:t>
            </a:r>
          </a:p>
          <a:p>
            <a:pPr algn="l">
              <a:lnSpc>
                <a:spcPts val="1820"/>
              </a:lnSpc>
              <a:spcAft>
                <a:spcPts val="300"/>
              </a:spcAft>
              <a:defRPr sz="1400" b="0">
                <a:solidFill>
                  <a:srgbClr val="C8D2DC"/>
                </a:solidFill>
                <a:latin typeface="Microsoft YaHei"/>
              </a:defRPr>
            </a:pPr>
            <a:r>
              <a:t>北京量子信息科学研究院兼聘</a:t>
            </a:r>
          </a:p>
          <a:p>
            <a:pPr algn="l">
              <a:lnSpc>
                <a:spcPts val="520"/>
              </a:lnSpc>
              <a:spcAft>
                <a:spcPts val="300"/>
              </a:spcAft>
              <a:defRPr sz="400" b="0">
                <a:solidFill>
                  <a:srgbClr val="FFFFFF"/>
                </a:solidFill>
                <a:latin typeface="Microsoft YaHei"/>
              </a:defRPr>
            </a:pPr>
          </a:p>
          <a:p>
            <a:pPr algn="l">
              <a:lnSpc>
                <a:spcPts val="1950"/>
              </a:lnSpc>
              <a:spcAft>
                <a:spcPts val="300"/>
              </a:spcAft>
              <a:defRPr sz="1500" b="1">
                <a:solidFill>
                  <a:srgbClr val="14B8A6"/>
                </a:solidFill>
                <a:latin typeface="Microsoft YaHei"/>
              </a:defRPr>
            </a:pPr>
            <a:r>
              <a:t>学术背景:</a:t>
            </a:r>
          </a:p>
          <a:p>
            <a:pPr algn="l">
              <a:lnSpc>
                <a:spcPts val="1690"/>
              </a:lnSpc>
              <a:spcAft>
                <a:spcPts val="300"/>
              </a:spcAft>
              <a:defRPr sz="1300" b="0">
                <a:solidFill>
                  <a:srgbClr val="C8D2DC"/>
                </a:solidFill>
                <a:latin typeface="Microsoft YaHei"/>
              </a:defRPr>
            </a:pPr>
            <a:r>
              <a:t>2010-2016 NUS/CQT 博士</a:t>
            </a:r>
            <a:br/>
            <a:r>
              <a:t>(离子阱量子计算)</a:t>
            </a:r>
          </a:p>
          <a:p>
            <a:pPr algn="l">
              <a:lnSpc>
                <a:spcPts val="1690"/>
              </a:lnSpc>
              <a:spcAft>
                <a:spcPts val="300"/>
              </a:spcAft>
              <a:defRPr sz="1300" b="0">
                <a:solidFill>
                  <a:srgbClr val="C8D2DC"/>
                </a:solidFill>
                <a:latin typeface="Microsoft YaHei"/>
              </a:defRPr>
            </a:pPr>
            <a:r>
              <a:t>2016-2021 JILA 博士后</a:t>
            </a:r>
            <a:br/>
            <a:r>
              <a:t>(Jun Ye 组, 分子激光冷却)</a:t>
            </a:r>
          </a:p>
          <a:p>
            <a:pPr algn="l">
              <a:lnSpc>
                <a:spcPts val="1690"/>
              </a:lnSpc>
              <a:spcAft>
                <a:spcPts val="300"/>
              </a:spcAft>
              <a:defRPr sz="1300" b="0">
                <a:solidFill>
                  <a:srgbClr val="C8D2DC"/>
                </a:solidFill>
                <a:latin typeface="Microsoft YaHei"/>
              </a:defRPr>
            </a:pPr>
            <a:r>
              <a:t>2021 LMU Munich 访问</a:t>
            </a:r>
            <a:br/>
            <a:r>
              <a:t>(Thirolf 组, 8个月)</a:t>
            </a:r>
          </a:p>
          <a:p>
            <a:pPr algn="l">
              <a:lnSpc>
                <a:spcPts val="1690"/>
              </a:lnSpc>
              <a:spcAft>
                <a:spcPts val="300"/>
              </a:spcAft>
              <a:defRPr sz="1300" b="0">
                <a:solidFill>
                  <a:srgbClr val="C8D2DC"/>
                </a:solidFill>
                <a:latin typeface="Microsoft YaHei"/>
              </a:defRPr>
            </a:pPr>
            <a:r>
              <a:t>2021底 加入清华大学</a:t>
            </a:r>
          </a:p>
          <a:p>
            <a:pPr algn="l">
              <a:lnSpc>
                <a:spcPts val="780"/>
              </a:lnSpc>
              <a:spcAft>
                <a:spcPts val="300"/>
              </a:spcAft>
              <a:defRPr sz="600" b="0">
                <a:solidFill>
                  <a:srgbClr val="FFFFFF"/>
                </a:solidFill>
                <a:latin typeface="Microsoft YaHei"/>
              </a:defRPr>
            </a:pPr>
          </a:p>
          <a:p>
            <a:pPr algn="l">
              <a:lnSpc>
                <a:spcPts val="1950"/>
              </a:lnSpc>
              <a:spcAft>
                <a:spcPts val="300"/>
              </a:spcAft>
              <a:defRPr sz="1500" b="1">
                <a:solidFill>
                  <a:srgbClr val="14B8A6"/>
                </a:solidFill>
                <a:latin typeface="Microsoft YaHei"/>
              </a:defRPr>
            </a:pPr>
            <a:r>
              <a:t>合作者:</a:t>
            </a:r>
          </a:p>
          <a:p>
            <a:pPr algn="l">
              <a:lnSpc>
                <a:spcPts val="1690"/>
              </a:lnSpc>
              <a:spcAft>
                <a:spcPts val="300"/>
              </a:spcAft>
              <a:defRPr sz="1300" b="0">
                <a:solidFill>
                  <a:srgbClr val="C8D2DC"/>
                </a:solidFill>
                <a:latin typeface="Microsoft YaHei"/>
              </a:defRPr>
            </a:pPr>
            <a:r>
              <a:t>莫宇翔 (Yuxiang Mo)</a:t>
            </a:r>
          </a:p>
          <a:p>
            <a:pPr algn="l">
              <a:lnSpc>
                <a:spcPts val="1690"/>
              </a:lnSpc>
              <a:spcAft>
                <a:spcPts val="300"/>
              </a:spcAft>
              <a:defRPr sz="1300" b="0">
                <a:solidFill>
                  <a:srgbClr val="C8D2DC"/>
                </a:solidFill>
                <a:latin typeface="Microsoft YaHei"/>
              </a:defRPr>
            </a:pPr>
            <a:r>
              <a:t>清华大学物理系</a:t>
            </a:r>
          </a:p>
          <a:p>
            <a:pPr algn="l">
              <a:lnSpc>
                <a:spcPts val="520"/>
              </a:lnSpc>
              <a:spcAft>
                <a:spcPts val="300"/>
              </a:spcAft>
              <a:defRPr sz="400" b="0">
                <a:solidFill>
                  <a:srgbClr val="FFFFFF"/>
                </a:solidFill>
                <a:latin typeface="Microsoft YaHei"/>
              </a:defRPr>
            </a:pPr>
          </a:p>
          <a:p>
            <a:pPr algn="l">
              <a:lnSpc>
                <a:spcPts val="1690"/>
              </a:lnSpc>
              <a:spcAft>
                <a:spcPts val="300"/>
              </a:spcAft>
              <a:defRPr sz="1300" b="0">
                <a:solidFill>
                  <a:srgbClr val="C8D2DC"/>
                </a:solidFill>
                <a:latin typeface="Microsoft YaHei"/>
              </a:defRPr>
            </a:pPr>
            <a:r>
              <a:t>田远鸿 (Yuanhong Tian)</a:t>
            </a:r>
          </a:p>
          <a:p>
            <a:pPr algn="l">
              <a:lnSpc>
                <a:spcPts val="1690"/>
              </a:lnSpc>
              <a:spcAft>
                <a:spcPts val="300"/>
              </a:spcAft>
              <a:defRPr sz="1300" b="0">
                <a:solidFill>
                  <a:srgbClr val="C8D2DC"/>
                </a:solidFill>
                <a:latin typeface="Microsoft YaHei"/>
              </a:defRPr>
            </a:pPr>
            <a:r>
              <a:t>清华大学物理系</a:t>
            </a:r>
          </a:p>
          <a:p>
            <a:pPr algn="l">
              <a:lnSpc>
                <a:spcPts val="520"/>
              </a:lnSpc>
              <a:spcAft>
                <a:spcPts val="300"/>
              </a:spcAft>
              <a:defRPr sz="400" b="0">
                <a:solidFill>
                  <a:srgbClr val="FFFFFF"/>
                </a:solidFill>
                <a:latin typeface="Microsoft YaHei"/>
              </a:defRPr>
            </a:pPr>
          </a:p>
          <a:p>
            <a:pPr algn="l">
              <a:lnSpc>
                <a:spcPts val="1690"/>
              </a:lnSpc>
              <a:spcAft>
                <a:spcPts val="300"/>
              </a:spcAft>
              <a:defRPr sz="1300" b="0">
                <a:solidFill>
                  <a:srgbClr val="94A3B8"/>
                </a:solidFill>
                <a:latin typeface="Microsoft YaHei"/>
              </a:defRPr>
            </a:pPr>
            <a:r>
              <a:t>资助: 中科院先导专项</a:t>
            </a:r>
            <a:br/>
            <a:r>
              <a:t>(XDB0920000), NSFC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核光钟前景展望与到2035的预测</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核光钟 vs 原子光钟 — 从10⁻¹⁹到10⁻²⁰的跨越 · 对SI秒重定义的深远影响</a:t>
            </a:r>
          </a:p>
        </p:txBody>
      </p:sp>
      <p:sp>
        <p:nvSpPr>
          <p:cNvPr id="6" name="Rectangle 5"/>
          <p:cNvSpPr/>
          <p:nvPr/>
        </p:nvSpPr>
        <p:spPr>
          <a:xfrm>
            <a:off x="457200" y="1645920"/>
            <a:ext cx="3657600" cy="21031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3657600" cy="457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3200400" cy="1737360"/>
          </a:xfrm>
          <a:prstGeom prst="rect">
            <a:avLst/>
          </a:prstGeom>
          <a:noFill/>
        </p:spPr>
        <p:txBody>
          <a:bodyPr wrap="square">
            <a:spAutoFit/>
          </a:bodyPr>
          <a:lstStyle/>
          <a:p>
            <a:pPr algn="l">
              <a:lnSpc>
                <a:spcPts val="2600"/>
              </a:lnSpc>
              <a:spcAft>
                <a:spcPts val="300"/>
              </a:spcAft>
              <a:defRPr sz="2000" b="1">
                <a:solidFill>
                  <a:srgbClr val="A855F7"/>
                </a:solidFill>
                <a:latin typeface="Microsoft YaHei"/>
              </a:defRPr>
            </a:pPr>
            <a:r>
              <a:t>短期 (2026–2028)</a:t>
            </a:r>
          </a:p>
          <a:p>
            <a:pPr algn="l">
              <a:lnSpc>
                <a:spcPts val="1820"/>
              </a:lnSpc>
              <a:spcAft>
                <a:spcPts val="300"/>
              </a:spcAft>
              <a:defRPr sz="1400" b="0">
                <a:solidFill>
                  <a:srgbClr val="C8D2DC"/>
                </a:solidFill>
                <a:latin typeface="Microsoft YaHei"/>
              </a:defRPr>
            </a:pPr>
            <a:r>
              <a:t>• 利用CW VUV激光实现核跃迁</a:t>
            </a:r>
            <a:br/>
            <a:r>
              <a:t>  相干操控（Rabi振荡演示）</a:t>
            </a:r>
          </a:p>
          <a:p>
            <a:pPr algn="l">
              <a:lnSpc>
                <a:spcPts val="1820"/>
              </a:lnSpc>
              <a:spcAft>
                <a:spcPts val="300"/>
              </a:spcAft>
              <a:defRPr sz="1400" b="0">
                <a:solidFill>
                  <a:srgbClr val="C8D2DC"/>
                </a:solidFill>
                <a:latin typeface="Microsoft YaHei"/>
              </a:defRPr>
            </a:pPr>
            <a:r>
              <a:t>• 固态核钟闭环锁定</a:t>
            </a:r>
          </a:p>
          <a:p>
            <a:pPr algn="l">
              <a:lnSpc>
                <a:spcPts val="1820"/>
              </a:lnSpc>
              <a:spcAft>
                <a:spcPts val="300"/>
              </a:spcAft>
              <a:defRPr sz="1400" b="0">
                <a:solidFill>
                  <a:srgbClr val="C8D2DC"/>
                </a:solidFill>
                <a:latin typeface="Microsoft YaHei"/>
              </a:defRPr>
            </a:pPr>
            <a:r>
              <a:t>• 不确定度推进到 10⁻¹⁷ 级</a:t>
            </a:r>
          </a:p>
          <a:p>
            <a:pPr algn="l">
              <a:lnSpc>
                <a:spcPts val="1820"/>
              </a:lnSpc>
              <a:spcAft>
                <a:spcPts val="300"/>
              </a:spcAft>
              <a:defRPr sz="1400" b="0">
                <a:solidFill>
                  <a:srgbClr val="C8D2DC"/>
                </a:solidFill>
                <a:latin typeface="Microsoft YaHei"/>
              </a:defRPr>
            </a:pPr>
            <a:r>
              <a:t>• 核钟-原子钟频率比至</a:t>
            </a:r>
            <a:br/>
            <a:r>
              <a:t>  10⁻¹⁷ 精度</a:t>
            </a:r>
          </a:p>
        </p:txBody>
      </p:sp>
      <p:sp>
        <p:nvSpPr>
          <p:cNvPr id="9" name="Rectangle 8"/>
          <p:cNvSpPr/>
          <p:nvPr/>
        </p:nvSpPr>
        <p:spPr>
          <a:xfrm>
            <a:off x="4297680" y="1645920"/>
            <a:ext cx="3657600" cy="21031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64592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828800"/>
            <a:ext cx="3200400" cy="1737360"/>
          </a:xfrm>
          <a:prstGeom prst="rect">
            <a:avLst/>
          </a:prstGeom>
          <a:noFill/>
        </p:spPr>
        <p:txBody>
          <a:bodyPr wrap="square">
            <a:spAutoFit/>
          </a:bodyPr>
          <a:lstStyle/>
          <a:p>
            <a:pPr algn="l">
              <a:lnSpc>
                <a:spcPts val="2600"/>
              </a:lnSpc>
              <a:spcAft>
                <a:spcPts val="300"/>
              </a:spcAft>
              <a:defRPr sz="2000" b="1">
                <a:solidFill>
                  <a:srgbClr val="3B82F6"/>
                </a:solidFill>
                <a:latin typeface="Microsoft YaHei"/>
              </a:defRPr>
            </a:pPr>
            <a:r>
              <a:t>中期 (2028–2032)</a:t>
            </a:r>
          </a:p>
          <a:p>
            <a:pPr algn="l">
              <a:lnSpc>
                <a:spcPts val="1820"/>
              </a:lnSpc>
              <a:spcAft>
                <a:spcPts val="300"/>
              </a:spcAft>
              <a:defRPr sz="1400" b="0">
                <a:solidFill>
                  <a:srgbClr val="C8D2DC"/>
                </a:solidFill>
                <a:latin typeface="Microsoft YaHei"/>
              </a:defRPr>
            </a:pPr>
            <a:r>
              <a:t>• 离子阱核钟首次演示</a:t>
            </a:r>
            <a:br/>
            <a:r>
              <a:t>  (Th³⁺, mHz自然线宽)</a:t>
            </a:r>
          </a:p>
          <a:p>
            <a:pPr algn="l">
              <a:lnSpc>
                <a:spcPts val="1820"/>
              </a:lnSpc>
              <a:spcAft>
                <a:spcPts val="300"/>
              </a:spcAft>
              <a:defRPr sz="1400" b="0">
                <a:solidFill>
                  <a:srgbClr val="C8D2DC"/>
                </a:solidFill>
                <a:latin typeface="Microsoft YaHei"/>
              </a:defRPr>
            </a:pPr>
            <a:r>
              <a:t>• 固态核钟不确定度 10⁻¹⁸</a:t>
            </a:r>
          </a:p>
          <a:p>
            <a:pPr algn="l">
              <a:lnSpc>
                <a:spcPts val="1820"/>
              </a:lnSpc>
              <a:spcAft>
                <a:spcPts val="300"/>
              </a:spcAft>
              <a:defRPr sz="1400" b="0">
                <a:solidFill>
                  <a:srgbClr val="C8D2DC"/>
                </a:solidFill>
                <a:latin typeface="Microsoft YaHei"/>
              </a:defRPr>
            </a:pPr>
            <a:r>
              <a:t>• 多晶片间频率复现性</a:t>
            </a:r>
            <a:br/>
            <a:r>
              <a:t>  达到 10⁻¹⁶–10⁻¹⁷</a:t>
            </a:r>
          </a:p>
          <a:p>
            <a:pPr algn="l">
              <a:lnSpc>
                <a:spcPts val="1820"/>
              </a:lnSpc>
              <a:spcAft>
                <a:spcPts val="300"/>
              </a:spcAft>
              <a:defRPr sz="1400" b="0">
                <a:solidFill>
                  <a:srgbClr val="C8D2DC"/>
                </a:solidFill>
                <a:latin typeface="Microsoft YaHei"/>
              </a:defRPr>
            </a:pPr>
            <a:r>
              <a:t>• 核钟首次参与α变化</a:t>
            </a:r>
            <a:br/>
            <a:r>
              <a:t>  长期监测</a:t>
            </a:r>
          </a:p>
        </p:txBody>
      </p:sp>
      <p:sp>
        <p:nvSpPr>
          <p:cNvPr id="12" name="Rectangle 11"/>
          <p:cNvSpPr/>
          <p:nvPr/>
        </p:nvSpPr>
        <p:spPr>
          <a:xfrm>
            <a:off x="8138160" y="1645920"/>
            <a:ext cx="3566160" cy="21031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0" y="1645920"/>
            <a:ext cx="356616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828800"/>
            <a:ext cx="3017520" cy="1737360"/>
          </a:xfrm>
          <a:prstGeom prst="rect">
            <a:avLst/>
          </a:prstGeom>
          <a:noFill/>
        </p:spPr>
        <p:txBody>
          <a:bodyPr wrap="square">
            <a:spAutoFit/>
          </a:bodyPr>
          <a:lstStyle/>
          <a:p>
            <a:pPr algn="l">
              <a:lnSpc>
                <a:spcPts val="2600"/>
              </a:lnSpc>
              <a:spcAft>
                <a:spcPts val="300"/>
              </a:spcAft>
              <a:defRPr sz="2000" b="1">
                <a:solidFill>
                  <a:srgbClr val="14B8A6"/>
                </a:solidFill>
                <a:latin typeface="Microsoft YaHei"/>
              </a:defRPr>
            </a:pPr>
            <a:r>
              <a:t>远期 (2032–2038)</a:t>
            </a:r>
          </a:p>
          <a:p>
            <a:pPr algn="l">
              <a:lnSpc>
                <a:spcPts val="1820"/>
              </a:lnSpc>
              <a:spcAft>
                <a:spcPts val="300"/>
              </a:spcAft>
              <a:defRPr sz="1400" b="0">
                <a:solidFill>
                  <a:srgbClr val="C8D2DC"/>
                </a:solidFill>
                <a:latin typeface="Microsoft YaHei"/>
              </a:defRPr>
            </a:pPr>
            <a:r>
              <a:t>• 固态核钟不确定度</a:t>
            </a:r>
            <a:br/>
            <a:r>
              <a:t>  进入 10⁻¹⁹ 区间</a:t>
            </a:r>
          </a:p>
          <a:p>
            <a:pPr algn="l">
              <a:lnSpc>
                <a:spcPts val="1820"/>
              </a:lnSpc>
              <a:spcAft>
                <a:spcPts val="300"/>
              </a:spcAft>
              <a:defRPr sz="1400" b="0">
                <a:solidFill>
                  <a:srgbClr val="C8D2DC"/>
                </a:solidFill>
                <a:latin typeface="Microsoft YaHei"/>
              </a:defRPr>
            </a:pPr>
            <a:r>
              <a:t>• 可搬运固态核钟演示</a:t>
            </a:r>
            <a:br/>
            <a:r>
              <a:t>  (芯片级光源+微型晶体)</a:t>
            </a:r>
          </a:p>
          <a:p>
            <a:pPr algn="l">
              <a:lnSpc>
                <a:spcPts val="1820"/>
              </a:lnSpc>
              <a:spcAft>
                <a:spcPts val="300"/>
              </a:spcAft>
              <a:defRPr sz="1400" b="0">
                <a:solidFill>
                  <a:srgbClr val="C8D2DC"/>
                </a:solidFill>
                <a:latin typeface="Microsoft YaHei"/>
              </a:defRPr>
            </a:pPr>
            <a:r>
              <a:t>• 核钟网络国际比对</a:t>
            </a:r>
          </a:p>
          <a:p>
            <a:pPr algn="l">
              <a:lnSpc>
                <a:spcPts val="1820"/>
              </a:lnSpc>
              <a:spcAft>
                <a:spcPts val="300"/>
              </a:spcAft>
              <a:defRPr sz="1400" b="0">
                <a:solidFill>
                  <a:srgbClr val="C8D2DC"/>
                </a:solidFill>
                <a:latin typeface="Microsoft YaHei"/>
              </a:defRPr>
            </a:pPr>
            <a:r>
              <a:t>• 核钟成为SI秒的</a:t>
            </a:r>
            <a:br/>
            <a:r>
              <a:t>  下一代候选标准</a:t>
            </a:r>
          </a:p>
        </p:txBody>
      </p:sp>
      <p:sp>
        <p:nvSpPr>
          <p:cNvPr id="15" name="Rectangle 14"/>
          <p:cNvSpPr/>
          <p:nvPr/>
        </p:nvSpPr>
        <p:spPr>
          <a:xfrm>
            <a:off x="457200" y="4023360"/>
            <a:ext cx="5486400" cy="25603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023360"/>
            <a:ext cx="54864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06240"/>
            <a:ext cx="5029200" cy="2194560"/>
          </a:xfrm>
          <a:prstGeom prst="rect">
            <a:avLst/>
          </a:prstGeom>
          <a:noFill/>
        </p:spPr>
        <p:txBody>
          <a:bodyPr wrap="square">
            <a:spAutoFit/>
          </a:bodyPr>
          <a:lstStyle/>
          <a:p>
            <a:pPr algn="l">
              <a:lnSpc>
                <a:spcPts val="2600"/>
              </a:lnSpc>
              <a:spcAft>
                <a:spcPts val="300"/>
              </a:spcAft>
              <a:defRPr sz="2000" b="1">
                <a:solidFill>
                  <a:srgbClr val="F59E0B"/>
                </a:solidFill>
                <a:latin typeface="Microsoft YaHei"/>
              </a:defRPr>
            </a:pPr>
            <a:r>
              <a:t>核光钟 vs 原子光钟 — 核心优势对比</a:t>
            </a:r>
          </a:p>
          <a:p>
            <a:pPr algn="l">
              <a:lnSpc>
                <a:spcPts val="520"/>
              </a:lnSpc>
              <a:spcAft>
                <a:spcPts val="300"/>
              </a:spcAft>
              <a:defRPr sz="400" b="0">
                <a:solidFill>
                  <a:srgbClr val="FFFFFF"/>
                </a:solidFill>
                <a:latin typeface="Microsoft YaHei"/>
              </a:defRPr>
            </a:pPr>
          </a:p>
          <a:p>
            <a:pPr algn="l">
              <a:lnSpc>
                <a:spcPts val="1950"/>
              </a:lnSpc>
              <a:spcAft>
                <a:spcPts val="300"/>
              </a:spcAft>
              <a:defRPr sz="1500" b="0">
                <a:solidFill>
                  <a:srgbClr val="C8D2DC"/>
                </a:solidFill>
                <a:latin typeface="Microsoft YaHei"/>
              </a:defRPr>
            </a:pPr>
            <a:r>
              <a:t>• 系统频移更小：核电磁矩 &lt;&lt; 原子电磁矩</a:t>
            </a:r>
          </a:p>
          <a:p>
            <a:pPr algn="l">
              <a:lnSpc>
                <a:spcPts val="1820"/>
              </a:lnSpc>
              <a:spcAft>
                <a:spcPts val="300"/>
              </a:spcAft>
              <a:defRPr sz="1400" b="0">
                <a:solidFill>
                  <a:srgbClr val="94A3B8"/>
                </a:solidFill>
                <a:latin typeface="Microsoft YaHei"/>
              </a:defRPr>
            </a:pPr>
            <a:r>
              <a:t>  → 不需要复杂的BBR屏蔽、磁屏蔽、Stark效应补偿</a:t>
            </a:r>
          </a:p>
          <a:p>
            <a:pPr algn="l">
              <a:lnSpc>
                <a:spcPts val="1950"/>
              </a:lnSpc>
              <a:spcAft>
                <a:spcPts val="300"/>
              </a:spcAft>
              <a:defRPr sz="1500" b="0">
                <a:solidFill>
                  <a:srgbClr val="C8D2DC"/>
                </a:solidFill>
                <a:latin typeface="Microsoft YaHei"/>
              </a:defRPr>
            </a:pPr>
            <a:r>
              <a:t>• 工程化更简单：固态方案天然紧凑、抗振动、低成本</a:t>
            </a:r>
          </a:p>
          <a:p>
            <a:pPr algn="l">
              <a:lnSpc>
                <a:spcPts val="1820"/>
              </a:lnSpc>
              <a:spcAft>
                <a:spcPts val="300"/>
              </a:spcAft>
              <a:defRPr sz="1400" b="0">
                <a:solidFill>
                  <a:srgbClr val="94A3B8"/>
                </a:solidFill>
                <a:latin typeface="Microsoft YaHei"/>
              </a:defRPr>
            </a:pPr>
            <a:r>
              <a:t>  → 可能实现"芯片级"核钟，大规模部署</a:t>
            </a:r>
          </a:p>
          <a:p>
            <a:pPr algn="l">
              <a:lnSpc>
                <a:spcPts val="1950"/>
              </a:lnSpc>
              <a:spcAft>
                <a:spcPts val="300"/>
              </a:spcAft>
              <a:defRPr sz="1500" b="0">
                <a:solidFill>
                  <a:srgbClr val="C8D2DC"/>
                </a:solidFill>
                <a:latin typeface="Microsoft YaHei"/>
              </a:defRPr>
            </a:pPr>
            <a:r>
              <a:t>• α灵敏度高约 10³–10⁴ 倍：对新物理（暗物质、基本常数变化）</a:t>
            </a:r>
          </a:p>
          <a:p>
            <a:pPr algn="l">
              <a:lnSpc>
                <a:spcPts val="1820"/>
              </a:lnSpc>
              <a:spcAft>
                <a:spcPts val="300"/>
              </a:spcAft>
              <a:defRPr sz="1400" b="0">
                <a:solidFill>
                  <a:srgbClr val="94A3B8"/>
                </a:solidFill>
                <a:latin typeface="Microsoft YaHei"/>
              </a:defRPr>
            </a:pPr>
            <a:r>
              <a:t>  搜索灵敏度远超最佳原子光钟</a:t>
            </a:r>
          </a:p>
          <a:p>
            <a:pPr algn="l">
              <a:lnSpc>
                <a:spcPts val="1950"/>
              </a:lnSpc>
              <a:spcAft>
                <a:spcPts val="300"/>
              </a:spcAft>
              <a:defRPr sz="1500" b="0">
                <a:solidFill>
                  <a:srgbClr val="C8D2DC"/>
                </a:solidFill>
                <a:latin typeface="Microsoft YaHei"/>
              </a:defRPr>
            </a:pPr>
            <a:r>
              <a:t>• 核钟不会替代原子光钟，而是互补：</a:t>
            </a:r>
          </a:p>
          <a:p>
            <a:pPr algn="l">
              <a:lnSpc>
                <a:spcPts val="1820"/>
              </a:lnSpc>
              <a:spcAft>
                <a:spcPts val="300"/>
              </a:spcAft>
              <a:defRPr sz="1400" b="0">
                <a:solidFill>
                  <a:srgbClr val="94A3B8"/>
                </a:solidFill>
                <a:latin typeface="Microsoft YaHei"/>
              </a:defRPr>
            </a:pPr>
            <a:r>
              <a:t>  不同系统效应 → 交叉验证消除隐藏系统误差</a:t>
            </a:r>
          </a:p>
        </p:txBody>
      </p:sp>
      <p:sp>
        <p:nvSpPr>
          <p:cNvPr id="18" name="Rectangle 17"/>
          <p:cNvSpPr/>
          <p:nvPr/>
        </p:nvSpPr>
        <p:spPr>
          <a:xfrm>
            <a:off x="6217920" y="4023360"/>
            <a:ext cx="5486400" cy="256032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023360"/>
            <a:ext cx="54864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206240"/>
            <a:ext cx="5029200" cy="2194560"/>
          </a:xfrm>
          <a:prstGeom prst="rect">
            <a:avLst/>
          </a:prstGeom>
          <a:noFill/>
        </p:spPr>
        <p:txBody>
          <a:bodyPr wrap="square">
            <a:spAutoFit/>
          </a:bodyPr>
          <a:lstStyle/>
          <a:p>
            <a:pPr algn="l">
              <a:lnSpc>
                <a:spcPts val="2600"/>
              </a:lnSpc>
              <a:spcAft>
                <a:spcPts val="300"/>
              </a:spcAft>
              <a:defRPr sz="2000" b="1">
                <a:solidFill>
                  <a:srgbClr val="EF4444"/>
                </a:solidFill>
                <a:latin typeface="Microsoft YaHei"/>
              </a:defRPr>
            </a:pPr>
            <a:r>
              <a:t>核光钟面临的关键挑战</a:t>
            </a:r>
          </a:p>
          <a:p>
            <a:pPr algn="l">
              <a:lnSpc>
                <a:spcPts val="520"/>
              </a:lnSpc>
              <a:spcAft>
                <a:spcPts val="300"/>
              </a:spcAft>
              <a:defRPr sz="400" b="0">
                <a:solidFill>
                  <a:srgbClr val="FFFFFF"/>
                </a:solidFill>
                <a:latin typeface="Microsoft YaHei"/>
              </a:defRPr>
            </a:pPr>
          </a:p>
          <a:p>
            <a:pPr algn="l">
              <a:lnSpc>
                <a:spcPts val="2080"/>
              </a:lnSpc>
              <a:spcAft>
                <a:spcPts val="300"/>
              </a:spcAft>
              <a:defRPr sz="1600" b="1">
                <a:solidFill>
                  <a:srgbClr val="FCCC00"/>
                </a:solidFill>
                <a:latin typeface="Microsoft YaHei"/>
              </a:defRPr>
            </a:pPr>
            <a:r>
              <a:t>1. 固态方案的根本限制：</a:t>
            </a:r>
          </a:p>
          <a:p>
            <a:pPr algn="l">
              <a:lnSpc>
                <a:spcPts val="1950"/>
              </a:lnSpc>
              <a:spcAft>
                <a:spcPts val="300"/>
              </a:spcAft>
              <a:defRPr sz="1500" b="0">
                <a:solidFill>
                  <a:srgbClr val="C8D2DC"/>
                </a:solidFill>
                <a:latin typeface="Microsoft YaHei"/>
              </a:defRPr>
            </a:pPr>
            <a:r>
              <a:t>   • 晶体场非均匀展宽 (~10–100 kHz) 掩盖自然线宽</a:t>
            </a:r>
          </a:p>
          <a:p>
            <a:pPr algn="l">
              <a:lnSpc>
                <a:spcPts val="1950"/>
              </a:lnSpc>
              <a:spcAft>
                <a:spcPts val="300"/>
              </a:spcAft>
              <a:defRPr sz="1500" b="0">
                <a:solidFill>
                  <a:srgbClr val="C8D2DC"/>
                </a:solidFill>
                <a:latin typeface="Microsoft YaHei"/>
              </a:defRPr>
            </a:pPr>
            <a:r>
              <a:t>   • 掺杂引起的晶格应变随浓度增大 → 频率复现性受限</a:t>
            </a:r>
          </a:p>
          <a:p>
            <a:pPr algn="l">
              <a:lnSpc>
                <a:spcPts val="1950"/>
              </a:lnSpc>
              <a:spcAft>
                <a:spcPts val="300"/>
              </a:spcAft>
              <a:defRPr sz="1500" b="0">
                <a:solidFill>
                  <a:srgbClr val="C8D2DC"/>
                </a:solidFill>
                <a:latin typeface="Microsoft YaHei"/>
              </a:defRPr>
            </a:pPr>
            <a:r>
              <a:t>   • 当前复现性仅 ~1×10⁻¹³（Ooi 2026），距离10⁻¹⁸还有5个量级</a:t>
            </a:r>
          </a:p>
          <a:p>
            <a:pPr algn="l">
              <a:lnSpc>
                <a:spcPts val="2080"/>
              </a:lnSpc>
              <a:spcAft>
                <a:spcPts val="300"/>
              </a:spcAft>
              <a:defRPr sz="1600" b="1">
                <a:solidFill>
                  <a:srgbClr val="FCCC00"/>
                </a:solidFill>
                <a:latin typeface="Microsoft YaHei"/>
              </a:defRPr>
            </a:pPr>
            <a:r>
              <a:t>2. 离子阱方案的工程难度：</a:t>
            </a:r>
          </a:p>
          <a:p>
            <a:pPr algn="l">
              <a:lnSpc>
                <a:spcPts val="1950"/>
              </a:lnSpc>
              <a:spcAft>
                <a:spcPts val="300"/>
              </a:spcAft>
              <a:defRPr sz="1500" b="0">
                <a:solidFill>
                  <a:srgbClr val="C8D2DC"/>
                </a:solidFill>
                <a:latin typeface="Microsoft YaHei"/>
              </a:defRPr>
            </a:pPr>
            <a:r>
              <a:t>   • Th³⁺ 离子制备与囚禁复杂</a:t>
            </a:r>
          </a:p>
          <a:p>
            <a:pPr algn="l">
              <a:lnSpc>
                <a:spcPts val="1950"/>
              </a:lnSpc>
              <a:spcAft>
                <a:spcPts val="300"/>
              </a:spcAft>
              <a:defRPr sz="1500" b="0">
                <a:solidFill>
                  <a:srgbClr val="C8D2DC"/>
                </a:solidFill>
                <a:latin typeface="Microsoft YaHei"/>
              </a:defRPr>
            </a:pPr>
            <a:r>
              <a:t>   • 电子桥(electronic bridge)激发效率有待验证</a:t>
            </a:r>
          </a:p>
          <a:p>
            <a:pPr algn="l">
              <a:lnSpc>
                <a:spcPts val="2080"/>
              </a:lnSpc>
              <a:spcAft>
                <a:spcPts val="300"/>
              </a:spcAft>
              <a:defRPr sz="1600" b="1">
                <a:solidFill>
                  <a:srgbClr val="FCCC00"/>
                </a:solidFill>
                <a:latin typeface="Microsoft YaHei"/>
              </a:defRPr>
            </a:pPr>
            <a:r>
              <a:t>3. 光源稳定性：</a:t>
            </a:r>
          </a:p>
          <a:p>
            <a:pPr algn="l">
              <a:lnSpc>
                <a:spcPts val="1950"/>
              </a:lnSpc>
              <a:spcAft>
                <a:spcPts val="300"/>
              </a:spcAft>
              <a:defRPr sz="1500" b="0">
                <a:solidFill>
                  <a:srgbClr val="C8D2DC"/>
                </a:solidFill>
                <a:latin typeface="Microsoft YaHei"/>
              </a:defRPr>
            </a:pPr>
            <a:r>
              <a:t>   • CW VUV激光的长期频率稳定度仍需改进</a:t>
            </a:r>
          </a:p>
        </p:txBody>
      </p:sp>
      <p:sp>
        <p:nvSpPr>
          <p:cNvPr id="21" name="TextBox 20"/>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来源: Ooi et al., Nature (2026); Tian/Ding/Mo et al., Nature (2026); prospects arXiv:2511.13017 (2025); C. Zhang thesis, JILA (2025)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JILA Ye Lab — 核光钟研究全景</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Jun Ye 团队：从VUV频率梳到固态核钟 — 世界领先的²²⁹Th核光钟研究</a:t>
            </a:r>
          </a:p>
        </p:txBody>
      </p:sp>
      <p:sp>
        <p:nvSpPr>
          <p:cNvPr id="6" name="Rectangle 5"/>
          <p:cNvSpPr/>
          <p:nvPr/>
        </p:nvSpPr>
        <p:spPr>
          <a:xfrm>
            <a:off x="457200" y="1645920"/>
            <a:ext cx="713232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7132320" cy="45720"/>
          </a:xfrm>
          <a:prstGeom prst="rect">
            <a:avLst/>
          </a:prstGeom>
          <a:solidFill>
            <a:srgbClr val="FC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83080"/>
            <a:ext cx="6583680" cy="1737360"/>
          </a:xfrm>
          <a:prstGeom prst="rect">
            <a:avLst/>
          </a:prstGeom>
          <a:noFill/>
        </p:spPr>
        <p:txBody>
          <a:bodyPr wrap="square">
            <a:spAutoFit/>
          </a:bodyPr>
          <a:lstStyle/>
          <a:p>
            <a:pPr algn="l">
              <a:lnSpc>
                <a:spcPts val="2600"/>
              </a:lnSpc>
              <a:spcAft>
                <a:spcPts val="300"/>
              </a:spcAft>
              <a:defRPr sz="2000" b="1">
                <a:solidFill>
                  <a:srgbClr val="FCCC00"/>
                </a:solidFill>
                <a:latin typeface="Microsoft YaHei"/>
              </a:defRPr>
            </a:pPr>
            <a:r>
              <a:t>JILA 核钟关键里程碑</a:t>
            </a:r>
          </a:p>
          <a:p>
            <a:pPr algn="l">
              <a:lnSpc>
                <a:spcPts val="520"/>
              </a:lnSpc>
              <a:spcAft>
                <a:spcPts val="300"/>
              </a:spcAft>
              <a:defRPr sz="400" b="0">
                <a:solidFill>
                  <a:srgbClr val="FFFFFF"/>
                </a:solidFill>
                <a:latin typeface="Microsoft YaHei"/>
              </a:defRPr>
            </a:pPr>
          </a:p>
          <a:p>
            <a:pPr algn="l">
              <a:lnSpc>
                <a:spcPts val="1820"/>
              </a:lnSpc>
              <a:spcAft>
                <a:spcPts val="300"/>
              </a:spcAft>
              <a:defRPr sz="1400" b="0">
                <a:solidFill>
                  <a:srgbClr val="C8D2DC"/>
                </a:solidFill>
                <a:latin typeface="Microsoft YaHei"/>
              </a:defRPr>
            </a:pPr>
            <a:r>
              <a:t>2020–2023  搭建 VUV 频率梳系统（继承 XUV 梳项目经验，飞秒增强腔 + 第7次谐波产生）</a:t>
            </a:r>
          </a:p>
          <a:p>
            <a:pPr algn="l">
              <a:lnSpc>
                <a:spcPts val="1820"/>
              </a:lnSpc>
              <a:spcAft>
                <a:spcPts val="300"/>
              </a:spcAft>
              <a:defRPr sz="1400" b="0">
                <a:solidFill>
                  <a:srgbClr val="C8D2DC"/>
                </a:solidFill>
                <a:latin typeface="Microsoft YaHei"/>
              </a:defRPr>
            </a:pPr>
            <a:r>
              <a:t>2024.09    Nature — 首次频率分辨核跃迁光谱，²²⁹ᵐTh/⁸⁷Sr频率比连接（C. Zhang et al.）</a:t>
            </a:r>
          </a:p>
          <a:p>
            <a:pPr algn="l">
              <a:lnSpc>
                <a:spcPts val="1820"/>
              </a:lnSpc>
              <a:spcAft>
                <a:spcPts val="300"/>
              </a:spcAft>
              <a:defRPr sz="1400" b="0">
                <a:solidFill>
                  <a:srgbClr val="C8D2DC"/>
                </a:solidFill>
                <a:latin typeface="Microsoft YaHei"/>
              </a:defRPr>
            </a:pPr>
            <a:r>
              <a:t>2025.05    C. Zhang 博士论文 "²²⁹Th nuclear clock using a VUV frequency comb"</a:t>
            </a:r>
          </a:p>
          <a:p>
            <a:pPr algn="l">
              <a:lnSpc>
                <a:spcPts val="1820"/>
              </a:lnSpc>
              <a:spcAft>
                <a:spcPts val="300"/>
              </a:spcAft>
              <a:defRPr sz="1400" b="0">
                <a:solidFill>
                  <a:srgbClr val="C8D2DC"/>
                </a:solidFill>
                <a:latin typeface="Microsoft YaHei"/>
              </a:defRPr>
            </a:pPr>
            <a:r>
              <a:t>2026.01    Nature — 固态核钟频率复现性全面表征（Ooi et al.）</a:t>
            </a:r>
          </a:p>
        </p:txBody>
      </p:sp>
      <p:sp>
        <p:nvSpPr>
          <p:cNvPr id="9" name="Rectangle 8"/>
          <p:cNvSpPr/>
          <p:nvPr/>
        </p:nvSpPr>
        <p:spPr>
          <a:xfrm>
            <a:off x="7863840" y="1645920"/>
            <a:ext cx="3840480" cy="201168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0" y="1645920"/>
            <a:ext cx="384048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1783080"/>
            <a:ext cx="3383280" cy="1737360"/>
          </a:xfrm>
          <a:prstGeom prst="rect">
            <a:avLst/>
          </a:prstGeom>
          <a:noFill/>
        </p:spPr>
        <p:txBody>
          <a:bodyPr wrap="square">
            <a:spAutoFit/>
          </a:bodyPr>
          <a:lstStyle/>
          <a:p>
            <a:pPr algn="l">
              <a:lnSpc>
                <a:spcPts val="2600"/>
              </a:lnSpc>
              <a:spcAft>
                <a:spcPts val="300"/>
              </a:spcAft>
              <a:defRPr sz="2000" b="1">
                <a:solidFill>
                  <a:srgbClr val="3B82F6"/>
                </a:solidFill>
                <a:latin typeface="Microsoft YaHei"/>
              </a:defRPr>
            </a:pPr>
            <a:r>
              <a:t>JILA Ye Lab 核钟团队</a:t>
            </a:r>
          </a:p>
          <a:p>
            <a:pPr algn="l">
              <a:lnSpc>
                <a:spcPts val="520"/>
              </a:lnSpc>
              <a:spcAft>
                <a:spcPts val="300"/>
              </a:spcAft>
              <a:defRPr sz="400" b="0">
                <a:solidFill>
                  <a:srgbClr val="FFFFFF"/>
                </a:solidFill>
                <a:latin typeface="Microsoft YaHei"/>
              </a:defRPr>
            </a:pPr>
          </a:p>
          <a:p>
            <a:pPr algn="l">
              <a:lnSpc>
                <a:spcPts val="1950"/>
              </a:lnSpc>
              <a:spcAft>
                <a:spcPts val="300"/>
              </a:spcAft>
              <a:defRPr sz="1500" b="0">
                <a:solidFill>
                  <a:srgbClr val="C8D2DC"/>
                </a:solidFill>
                <a:latin typeface="Microsoft YaHei"/>
              </a:defRPr>
            </a:pPr>
            <a:r>
              <a:t>• Jun Ye (PI, JILA/NIST Fellow)</a:t>
            </a:r>
          </a:p>
          <a:p>
            <a:pPr algn="l">
              <a:lnSpc>
                <a:spcPts val="1950"/>
              </a:lnSpc>
              <a:spcAft>
                <a:spcPts val="300"/>
              </a:spcAft>
              <a:defRPr sz="1500" b="0">
                <a:solidFill>
                  <a:srgbClr val="C8D2DC"/>
                </a:solidFill>
                <a:latin typeface="Microsoft YaHei"/>
              </a:defRPr>
            </a:pPr>
            <a:r>
              <a:t>• Chuankun Zhang (PhD 2025)</a:t>
            </a:r>
          </a:p>
          <a:p>
            <a:pPr algn="l">
              <a:lnSpc>
                <a:spcPts val="1690"/>
              </a:lnSpc>
              <a:spcAft>
                <a:spcPts val="300"/>
              </a:spcAft>
              <a:defRPr sz="1300" b="0">
                <a:solidFill>
                  <a:srgbClr val="94A3B8"/>
                </a:solidFill>
                <a:latin typeface="Microsoft YaHei"/>
              </a:defRPr>
            </a:pPr>
            <a:r>
              <a:t>  — VUV梳搭建、频率比测量</a:t>
            </a:r>
          </a:p>
          <a:p>
            <a:pPr algn="l">
              <a:lnSpc>
                <a:spcPts val="1950"/>
              </a:lnSpc>
              <a:spcAft>
                <a:spcPts val="300"/>
              </a:spcAft>
              <a:defRPr sz="1500" b="0">
                <a:solidFill>
                  <a:srgbClr val="C8D2DC"/>
                </a:solidFill>
                <a:latin typeface="Microsoft YaHei"/>
              </a:defRPr>
            </a:pPr>
            <a:r>
              <a:t>• Tian Ooi (PhD student)</a:t>
            </a:r>
          </a:p>
          <a:p>
            <a:pPr algn="l">
              <a:lnSpc>
                <a:spcPts val="1690"/>
              </a:lnSpc>
              <a:spcAft>
                <a:spcPts val="300"/>
              </a:spcAft>
              <a:defRPr sz="1300" b="0">
                <a:solidFill>
                  <a:srgbClr val="94A3B8"/>
                </a:solidFill>
                <a:latin typeface="Microsoft YaHei"/>
              </a:defRPr>
            </a:pPr>
            <a:r>
              <a:t>  — 固态核钟复现性研究</a:t>
            </a:r>
          </a:p>
          <a:p>
            <a:pPr algn="l">
              <a:lnSpc>
                <a:spcPts val="1950"/>
              </a:lnSpc>
              <a:spcAft>
                <a:spcPts val="300"/>
              </a:spcAft>
              <a:defRPr sz="1500" b="0">
                <a:solidFill>
                  <a:srgbClr val="C8D2DC"/>
                </a:solidFill>
                <a:latin typeface="Microsoft YaHei"/>
              </a:defRPr>
            </a:pPr>
            <a:r>
              <a:t>• Jacob Higgins, Jack Doyle</a:t>
            </a:r>
          </a:p>
          <a:p>
            <a:pPr algn="l">
              <a:lnSpc>
                <a:spcPts val="1950"/>
              </a:lnSpc>
              <a:spcAft>
                <a:spcPts val="300"/>
              </a:spcAft>
              <a:defRPr sz="1500" b="0">
                <a:solidFill>
                  <a:srgbClr val="C8D2DC"/>
                </a:solidFill>
                <a:latin typeface="Microsoft YaHei"/>
              </a:defRPr>
            </a:pPr>
            <a:r>
              <a:t>• 合作：TU Wien (Schumm组)</a:t>
            </a:r>
          </a:p>
          <a:p>
            <a:pPr algn="l">
              <a:lnSpc>
                <a:spcPts val="1690"/>
              </a:lnSpc>
              <a:spcAft>
                <a:spcPts val="300"/>
              </a:spcAft>
              <a:defRPr sz="1300" b="0">
                <a:solidFill>
                  <a:srgbClr val="94A3B8"/>
                </a:solidFill>
                <a:latin typeface="Microsoft YaHei"/>
              </a:defRPr>
            </a:pPr>
            <a:r>
              <a:t>  提供掺杂²²⁹Th:CaF₂晶体</a:t>
            </a:r>
          </a:p>
        </p:txBody>
      </p:sp>
      <p:sp>
        <p:nvSpPr>
          <p:cNvPr id="12" name="Rectangle 11"/>
          <p:cNvSpPr/>
          <p:nvPr/>
        </p:nvSpPr>
        <p:spPr>
          <a:xfrm>
            <a:off x="457200" y="3931920"/>
            <a:ext cx="7132320" cy="27432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931920"/>
            <a:ext cx="7132320" cy="457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114800"/>
            <a:ext cx="3291840" cy="2286000"/>
          </a:xfrm>
          <a:prstGeom prst="rect">
            <a:avLst/>
          </a:prstGeom>
          <a:noFill/>
        </p:spPr>
        <p:txBody>
          <a:bodyPr wrap="square">
            <a:spAutoFit/>
          </a:bodyPr>
          <a:lstStyle/>
          <a:p>
            <a:pPr algn="l">
              <a:lnSpc>
                <a:spcPts val="2600"/>
              </a:lnSpc>
              <a:spcAft>
                <a:spcPts val="300"/>
              </a:spcAft>
              <a:defRPr sz="2000" b="1">
                <a:solidFill>
                  <a:srgbClr val="A855F7"/>
                </a:solidFill>
                <a:latin typeface="Microsoft YaHei"/>
              </a:defRPr>
            </a:pPr>
            <a:r>
              <a:t>JILA VUV频率梳系统</a:t>
            </a:r>
          </a:p>
          <a:p>
            <a:pPr algn="l">
              <a:lnSpc>
                <a:spcPts val="520"/>
              </a:lnSpc>
              <a:spcAft>
                <a:spcPts val="300"/>
              </a:spcAft>
              <a:defRPr sz="400" b="0">
                <a:solidFill>
                  <a:srgbClr val="FFFFFF"/>
                </a:solidFill>
                <a:latin typeface="Microsoft YaHei"/>
              </a:defRPr>
            </a:pPr>
          </a:p>
          <a:p>
            <a:pPr algn="l">
              <a:lnSpc>
                <a:spcPts val="2080"/>
              </a:lnSpc>
              <a:spcAft>
                <a:spcPts val="300"/>
              </a:spcAft>
              <a:defRPr sz="1600" b="1">
                <a:solidFill>
                  <a:srgbClr val="14B8A6"/>
                </a:solidFill>
                <a:latin typeface="Microsoft YaHei"/>
              </a:defRPr>
            </a:pPr>
            <a:r>
              <a:t>核心技术链路：</a:t>
            </a:r>
          </a:p>
          <a:p>
            <a:pPr algn="l">
              <a:lnSpc>
                <a:spcPts val="1950"/>
              </a:lnSpc>
              <a:spcAft>
                <a:spcPts val="300"/>
              </a:spcAft>
              <a:defRPr sz="1500" b="0">
                <a:solidFill>
                  <a:srgbClr val="C8D2DC"/>
                </a:solidFill>
                <a:latin typeface="Microsoft YaHei"/>
              </a:defRPr>
            </a:pPr>
            <a:r>
              <a:t>IR频率梳</a:t>
            </a:r>
          </a:p>
          <a:p>
            <a:pPr algn="l">
              <a:lnSpc>
                <a:spcPts val="1820"/>
              </a:lnSpc>
              <a:spcAft>
                <a:spcPts val="300"/>
              </a:spcAft>
              <a:defRPr sz="1400" b="0">
                <a:solidFill>
                  <a:srgbClr val="94A3B8"/>
                </a:solidFill>
                <a:latin typeface="Microsoft YaHei"/>
              </a:defRPr>
            </a:pPr>
            <a:r>
              <a:t> ↓ 锁定至JILA ⁸⁷Sr钟</a:t>
            </a:r>
            <a:br/>
            <a:r>
              <a:t>  (Aeppli 2024, 8×10⁻¹⁹)</a:t>
            </a:r>
          </a:p>
          <a:p>
            <a:pPr algn="l">
              <a:lnSpc>
                <a:spcPts val="1950"/>
              </a:lnSpc>
              <a:spcAft>
                <a:spcPts val="300"/>
              </a:spcAft>
              <a:defRPr sz="1500" b="0">
                <a:solidFill>
                  <a:srgbClr val="C8D2DC"/>
                </a:solidFill>
                <a:latin typeface="Microsoft YaHei"/>
              </a:defRPr>
            </a:pPr>
            <a:r>
              <a:t>飞秒增强腔</a:t>
            </a:r>
          </a:p>
          <a:p>
            <a:pPr algn="l">
              <a:lnSpc>
                <a:spcPts val="1690"/>
              </a:lnSpc>
              <a:spcAft>
                <a:spcPts val="300"/>
              </a:spcAft>
              <a:defRPr sz="1300" b="0">
                <a:solidFill>
                  <a:srgbClr val="94A3B8"/>
                </a:solidFill>
                <a:latin typeface="Microsoft YaHei"/>
              </a:defRPr>
            </a:pPr>
            <a:r>
              <a:t> ↓ 相干上转换</a:t>
            </a:r>
          </a:p>
          <a:p>
            <a:pPr algn="l">
              <a:lnSpc>
                <a:spcPts val="1950"/>
              </a:lnSpc>
              <a:spcAft>
                <a:spcPts val="300"/>
              </a:spcAft>
              <a:defRPr sz="1500" b="0">
                <a:solidFill>
                  <a:srgbClr val="C8D2DC"/>
                </a:solidFill>
                <a:latin typeface="Microsoft YaHei"/>
              </a:defRPr>
            </a:pPr>
            <a:r>
              <a:t>第7次谐波 VUV 148 nm</a:t>
            </a:r>
          </a:p>
          <a:p>
            <a:pPr algn="l">
              <a:lnSpc>
                <a:spcPts val="1690"/>
              </a:lnSpc>
              <a:spcAft>
                <a:spcPts val="300"/>
              </a:spcAft>
              <a:defRPr sz="1300" b="0">
                <a:solidFill>
                  <a:srgbClr val="94A3B8"/>
                </a:solidFill>
                <a:latin typeface="Microsoft YaHei"/>
              </a:defRPr>
            </a:pPr>
            <a:r>
              <a:t> ↓ 照射 ²²⁹Th:CaF₂晶体</a:t>
            </a:r>
          </a:p>
          <a:p>
            <a:pPr algn="l">
              <a:lnSpc>
                <a:spcPts val="1950"/>
              </a:lnSpc>
              <a:spcAft>
                <a:spcPts val="300"/>
              </a:spcAft>
              <a:defRPr sz="1500" b="0">
                <a:solidFill>
                  <a:srgbClr val="C8D2DC"/>
                </a:solidFill>
                <a:latin typeface="Microsoft YaHei"/>
              </a:defRPr>
            </a:pPr>
            <a:r>
              <a:t>核荧光检测</a:t>
            </a:r>
          </a:p>
          <a:p>
            <a:pPr algn="l">
              <a:lnSpc>
                <a:spcPts val="1690"/>
              </a:lnSpc>
              <a:spcAft>
                <a:spcPts val="300"/>
              </a:spcAft>
              <a:defRPr sz="1300" b="0">
                <a:solidFill>
                  <a:srgbClr val="94A3B8"/>
                </a:solidFill>
                <a:latin typeface="Microsoft YaHei"/>
              </a:defRPr>
            </a:pPr>
            <a:r>
              <a:t> (641 s 寿命, 单光子计数)</a:t>
            </a:r>
          </a:p>
        </p:txBody>
      </p:sp>
      <p:sp>
        <p:nvSpPr>
          <p:cNvPr id="15" name="TextBox 14"/>
          <p:cNvSpPr txBox="1"/>
          <p:nvPr/>
        </p:nvSpPr>
        <p:spPr>
          <a:xfrm>
            <a:off x="4297680" y="4114800"/>
            <a:ext cx="3017520" cy="2286000"/>
          </a:xfrm>
          <a:prstGeom prst="rect">
            <a:avLst/>
          </a:prstGeom>
          <a:noFill/>
        </p:spPr>
        <p:txBody>
          <a:bodyPr wrap="square">
            <a:spAutoFit/>
          </a:bodyPr>
          <a:lstStyle/>
          <a:p>
            <a:pPr algn="l">
              <a:lnSpc>
                <a:spcPts val="2600"/>
              </a:lnSpc>
              <a:spcAft>
                <a:spcPts val="300"/>
              </a:spcAft>
              <a:defRPr sz="2000" b="1">
                <a:solidFill>
                  <a:srgbClr val="14B8A6"/>
                </a:solidFill>
                <a:latin typeface="Microsoft YaHei"/>
              </a:defRPr>
            </a:pPr>
            <a:r>
              <a:t>关键性能</a:t>
            </a:r>
          </a:p>
          <a:p>
            <a:pPr algn="l">
              <a:lnSpc>
                <a:spcPts val="520"/>
              </a:lnSpc>
              <a:spcAft>
                <a:spcPts val="300"/>
              </a:spcAft>
              <a:defRPr sz="400" b="0">
                <a:solidFill>
                  <a:srgbClr val="FFFFFF"/>
                </a:solidFill>
                <a:latin typeface="Microsoft YaHei"/>
              </a:defRPr>
            </a:pPr>
          </a:p>
          <a:p>
            <a:pPr algn="l">
              <a:lnSpc>
                <a:spcPts val="1950"/>
              </a:lnSpc>
              <a:spcAft>
                <a:spcPts val="300"/>
              </a:spcAft>
              <a:defRPr sz="1500" b="0">
                <a:solidFill>
                  <a:srgbClr val="C8D2DC"/>
                </a:solidFill>
                <a:latin typeface="Microsoft YaHei"/>
              </a:defRPr>
            </a:pPr>
            <a:r>
              <a:t>• 跃迁频率：</a:t>
            </a:r>
          </a:p>
          <a:p>
            <a:pPr algn="l">
              <a:lnSpc>
                <a:spcPts val="1820"/>
              </a:lnSpc>
              <a:spcAft>
                <a:spcPts val="300"/>
              </a:spcAft>
              <a:defRPr sz="1400" b="0">
                <a:solidFill>
                  <a:srgbClr val="FCCC00"/>
                </a:solidFill>
                <a:latin typeface="Microsoft YaHei"/>
              </a:defRPr>
            </a:pPr>
            <a:r>
              <a:t>  2,020,407,384,335(2) kHz</a:t>
            </a:r>
          </a:p>
          <a:p>
            <a:pPr algn="l">
              <a:lnSpc>
                <a:spcPts val="1690"/>
              </a:lnSpc>
              <a:spcAft>
                <a:spcPts val="300"/>
              </a:spcAft>
              <a:defRPr sz="1300" b="0">
                <a:solidFill>
                  <a:srgbClr val="94A3B8"/>
                </a:solidFill>
                <a:latin typeface="Microsoft YaHei"/>
              </a:defRPr>
            </a:pPr>
            <a:r>
              <a:t>  (在150K CaF₂晶体中)</a:t>
            </a:r>
          </a:p>
          <a:p>
            <a:pPr algn="l">
              <a:lnSpc>
                <a:spcPts val="1950"/>
              </a:lnSpc>
              <a:spcAft>
                <a:spcPts val="300"/>
              </a:spcAft>
              <a:defRPr sz="1500" b="0">
                <a:solidFill>
                  <a:srgbClr val="C8D2DC"/>
                </a:solidFill>
                <a:latin typeface="Microsoft YaHei"/>
              </a:defRPr>
            </a:pPr>
            <a:r>
              <a:t>• 激发态寿命：641(4) s</a:t>
            </a:r>
          </a:p>
          <a:p>
            <a:pPr algn="l">
              <a:lnSpc>
                <a:spcPts val="1950"/>
              </a:lnSpc>
              <a:spcAft>
                <a:spcPts val="300"/>
              </a:spcAft>
              <a:defRPr sz="1500" b="0">
                <a:solidFill>
                  <a:srgbClr val="C8D2DC"/>
                </a:solidFill>
                <a:latin typeface="Microsoft YaHei"/>
              </a:defRPr>
            </a:pPr>
            <a:r>
              <a:t>• 品质因子：≈ 2×10¹⁹</a:t>
            </a:r>
          </a:p>
          <a:p>
            <a:pPr algn="l">
              <a:lnSpc>
                <a:spcPts val="1950"/>
              </a:lnSpc>
              <a:spcAft>
                <a:spcPts val="300"/>
              </a:spcAft>
              <a:defRPr sz="1500" b="0">
                <a:solidFill>
                  <a:srgbClr val="C8D2DC"/>
                </a:solidFill>
                <a:latin typeface="Microsoft YaHei"/>
              </a:defRPr>
            </a:pPr>
            <a:r>
              <a:t>• 频率梳 ≈10⁵ 个非共振模</a:t>
            </a:r>
          </a:p>
          <a:p>
            <a:pPr algn="l">
              <a:lnSpc>
                <a:spcPts val="1690"/>
              </a:lnSpc>
              <a:spcAft>
                <a:spcPts val="300"/>
              </a:spcAft>
              <a:defRPr sz="1300" b="0">
                <a:solidFill>
                  <a:srgbClr val="94A3B8"/>
                </a:solidFill>
                <a:latin typeface="Microsoft YaHei"/>
              </a:defRPr>
            </a:pPr>
            <a:r>
              <a:t>  但仅有1个模贡献信号</a:t>
            </a:r>
          </a:p>
          <a:p>
            <a:pPr algn="l">
              <a:lnSpc>
                <a:spcPts val="1950"/>
              </a:lnSpc>
              <a:spcAft>
                <a:spcPts val="300"/>
              </a:spcAft>
              <a:defRPr sz="1500" b="0">
                <a:solidFill>
                  <a:srgbClr val="C8D2DC"/>
                </a:solidFill>
                <a:latin typeface="Microsoft YaHei"/>
              </a:defRPr>
            </a:pPr>
            <a:r>
              <a:t>• 已解析核四极分裂</a:t>
            </a:r>
          </a:p>
          <a:p>
            <a:pPr algn="l">
              <a:lnSpc>
                <a:spcPts val="1690"/>
              </a:lnSpc>
              <a:spcAft>
                <a:spcPts val="300"/>
              </a:spcAft>
              <a:defRPr sz="1300" b="0">
                <a:solidFill>
                  <a:srgbClr val="94A3B8"/>
                </a:solidFill>
                <a:latin typeface="Microsoft YaHei"/>
              </a:defRPr>
            </a:pPr>
            <a:r>
              <a:t>  → 确定 ΔQ₀/Q₀ = 1.791(2)%</a:t>
            </a:r>
          </a:p>
        </p:txBody>
      </p:sp>
      <p:sp>
        <p:nvSpPr>
          <p:cNvPr id="16" name="Rectangle 15"/>
          <p:cNvSpPr/>
          <p:nvPr/>
        </p:nvSpPr>
        <p:spPr>
          <a:xfrm>
            <a:off x="7863840" y="3931920"/>
            <a:ext cx="3840480" cy="27432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63840" y="3931920"/>
            <a:ext cx="384048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4114800"/>
            <a:ext cx="3383280" cy="2286000"/>
          </a:xfrm>
          <a:prstGeom prst="rect">
            <a:avLst/>
          </a:prstGeom>
          <a:noFill/>
        </p:spPr>
        <p:txBody>
          <a:bodyPr wrap="square">
            <a:spAutoFit/>
          </a:bodyPr>
          <a:lstStyle/>
          <a:p>
            <a:pPr algn="l">
              <a:lnSpc>
                <a:spcPts val="2600"/>
              </a:lnSpc>
              <a:spcAft>
                <a:spcPts val="300"/>
              </a:spcAft>
              <a:defRPr sz="2000" b="1">
                <a:solidFill>
                  <a:srgbClr val="22C55E"/>
                </a:solidFill>
                <a:latin typeface="Microsoft YaHei"/>
              </a:defRPr>
            </a:pPr>
            <a:r>
              <a:t>JILA核钟下一步</a:t>
            </a:r>
          </a:p>
          <a:p>
            <a:pPr algn="l">
              <a:lnSpc>
                <a:spcPts val="520"/>
              </a:lnSpc>
              <a:spcAft>
                <a:spcPts val="300"/>
              </a:spcAft>
              <a:defRPr sz="400" b="0">
                <a:solidFill>
                  <a:srgbClr val="FFFFFF"/>
                </a:solidFill>
                <a:latin typeface="Microsoft YaHei"/>
              </a:defRPr>
            </a:pPr>
          </a:p>
          <a:p>
            <a:pPr algn="l">
              <a:lnSpc>
                <a:spcPts val="2080"/>
              </a:lnSpc>
              <a:spcAft>
                <a:spcPts val="300"/>
              </a:spcAft>
              <a:defRPr sz="1600" b="1">
                <a:solidFill>
                  <a:srgbClr val="14B8A6"/>
                </a:solidFill>
                <a:latin typeface="Microsoft YaHei"/>
              </a:defRPr>
            </a:pPr>
            <a:r>
              <a:t>1. CW VUV 激光相干操控</a:t>
            </a:r>
          </a:p>
          <a:p>
            <a:pPr algn="l">
              <a:lnSpc>
                <a:spcPts val="1820"/>
              </a:lnSpc>
              <a:spcAft>
                <a:spcPts val="300"/>
              </a:spcAft>
              <a:defRPr sz="1400" b="0">
                <a:solidFill>
                  <a:srgbClr val="C8D2DC"/>
                </a:solidFill>
                <a:latin typeface="Microsoft YaHei"/>
              </a:defRPr>
            </a:pPr>
            <a:r>
              <a:t>  利用清华丁世谦组CW 148nm</a:t>
            </a:r>
            <a:br/>
            <a:r>
              <a:t>  光源,实现核Rabi振荡</a:t>
            </a:r>
          </a:p>
          <a:p>
            <a:pPr algn="l">
              <a:lnSpc>
                <a:spcPts val="520"/>
              </a:lnSpc>
              <a:spcAft>
                <a:spcPts val="300"/>
              </a:spcAft>
              <a:defRPr sz="400" b="0">
                <a:solidFill>
                  <a:srgbClr val="FFFFFF"/>
                </a:solidFill>
                <a:latin typeface="Microsoft YaHei"/>
              </a:defRPr>
            </a:pPr>
          </a:p>
          <a:p>
            <a:pPr algn="l">
              <a:lnSpc>
                <a:spcPts val="2080"/>
              </a:lnSpc>
              <a:spcAft>
                <a:spcPts val="300"/>
              </a:spcAft>
              <a:defRPr sz="1600" b="1">
                <a:solidFill>
                  <a:srgbClr val="14B8A6"/>
                </a:solidFill>
                <a:latin typeface="Microsoft YaHei"/>
              </a:defRPr>
            </a:pPr>
            <a:r>
              <a:t>2. 核钟闭环锁定</a:t>
            </a:r>
          </a:p>
          <a:p>
            <a:pPr algn="l">
              <a:lnSpc>
                <a:spcPts val="1820"/>
              </a:lnSpc>
              <a:spcAft>
                <a:spcPts val="300"/>
              </a:spcAft>
              <a:defRPr sz="1400" b="0">
                <a:solidFill>
                  <a:srgbClr val="C8D2DC"/>
                </a:solidFill>
                <a:latin typeface="Microsoft YaHei"/>
              </a:defRPr>
            </a:pPr>
            <a:r>
              <a:t>  将VUV梳(或CW光)的相位</a:t>
            </a:r>
            <a:br/>
            <a:r>
              <a:t>  锁定至核跃迁,实现"核钟"</a:t>
            </a:r>
          </a:p>
          <a:p>
            <a:pPr algn="l">
              <a:lnSpc>
                <a:spcPts val="520"/>
              </a:lnSpc>
              <a:spcAft>
                <a:spcPts val="300"/>
              </a:spcAft>
              <a:defRPr sz="400" b="0">
                <a:solidFill>
                  <a:srgbClr val="FFFFFF"/>
                </a:solidFill>
                <a:latin typeface="Microsoft YaHei"/>
              </a:defRPr>
            </a:pPr>
          </a:p>
          <a:p>
            <a:pPr algn="l">
              <a:lnSpc>
                <a:spcPts val="2080"/>
              </a:lnSpc>
              <a:spcAft>
                <a:spcPts val="300"/>
              </a:spcAft>
              <a:defRPr sz="1600" b="1">
                <a:solidFill>
                  <a:srgbClr val="14B8A6"/>
                </a:solidFill>
                <a:latin typeface="Microsoft YaHei"/>
              </a:defRPr>
            </a:pPr>
            <a:r>
              <a:t>3. 薄膜样品 + 微型化</a:t>
            </a:r>
          </a:p>
          <a:p>
            <a:pPr algn="l">
              <a:lnSpc>
                <a:spcPts val="1820"/>
              </a:lnSpc>
              <a:spcAft>
                <a:spcPts val="300"/>
              </a:spcAft>
              <a:defRPr sz="1400" b="0">
                <a:solidFill>
                  <a:srgbClr val="C8D2DC"/>
                </a:solidFill>
                <a:latin typeface="Microsoft YaHei"/>
              </a:defRPr>
            </a:pPr>
            <a:r>
              <a:t>  ²²⁹Th薄膜降低放射性与</a:t>
            </a:r>
            <a:br/>
            <a:r>
              <a:t>  成本,C.Zhang论文已尝试</a:t>
            </a:r>
          </a:p>
          <a:p>
            <a:pPr algn="l">
              <a:lnSpc>
                <a:spcPts val="520"/>
              </a:lnSpc>
              <a:spcAft>
                <a:spcPts val="300"/>
              </a:spcAft>
              <a:defRPr sz="400" b="0">
                <a:solidFill>
                  <a:srgbClr val="FFFFFF"/>
                </a:solidFill>
                <a:latin typeface="Microsoft YaHei"/>
              </a:defRPr>
            </a:pPr>
          </a:p>
          <a:p>
            <a:pPr algn="l">
              <a:lnSpc>
                <a:spcPts val="2080"/>
              </a:lnSpc>
              <a:spcAft>
                <a:spcPts val="300"/>
              </a:spcAft>
              <a:defRPr sz="1600" b="1">
                <a:solidFill>
                  <a:srgbClr val="14B8A6"/>
                </a:solidFill>
                <a:latin typeface="Microsoft YaHei"/>
              </a:defRPr>
            </a:pPr>
            <a:r>
              <a:t>4. 核钟-原子钟频率比</a:t>
            </a:r>
            <a:br/>
            <a:r>
              <a:t>  推进到10⁻¹⁷→10⁻¹⁹</a:t>
            </a:r>
          </a:p>
          <a:p>
            <a:pPr algn="l">
              <a:lnSpc>
                <a:spcPts val="1820"/>
              </a:lnSpc>
              <a:spcAft>
                <a:spcPts val="300"/>
              </a:spcAft>
              <a:defRPr sz="1400" b="0">
                <a:solidFill>
                  <a:srgbClr val="C8D2DC"/>
                </a:solidFill>
                <a:latin typeface="Microsoft YaHei"/>
              </a:defRPr>
            </a:pPr>
            <a:r>
              <a:t>  结合Sr钟8×10⁻¹⁹基线</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
            <a:ext cx="10515600" cy="640080"/>
          </a:xfrm>
          <a:prstGeom prst="rect">
            <a:avLst/>
          </a:prstGeom>
          <a:noFill/>
        </p:spPr>
        <p:txBody>
          <a:bodyPr wrap="square">
            <a:spAutoFit/>
          </a:bodyPr>
          <a:lstStyle/>
          <a:p>
            <a:pPr algn="l">
              <a:defRPr sz="3200" b="1">
                <a:solidFill>
                  <a:srgbClr val="FFFFFF"/>
                </a:solidFill>
                <a:latin typeface="Calibri Light"/>
              </a:defRPr>
            </a:pPr>
            <a:r>
              <a:t>核光钟与SI秒重定义的关系</a:t>
            </a:r>
          </a:p>
        </p:txBody>
      </p:sp>
      <p:sp>
        <p:nvSpPr>
          <p:cNvPr id="5" name="TextBox 4"/>
          <p:cNvSpPr txBox="1"/>
          <p:nvPr/>
        </p:nvSpPr>
        <p:spPr>
          <a:xfrm>
            <a:off x="640080" y="640080"/>
            <a:ext cx="10515600" cy="365760"/>
          </a:xfrm>
          <a:prstGeom prst="rect">
            <a:avLst/>
          </a:prstGeom>
          <a:noFill/>
        </p:spPr>
        <p:txBody>
          <a:bodyPr wrap="square">
            <a:spAutoFit/>
          </a:bodyPr>
          <a:lstStyle/>
          <a:p>
            <a:pPr algn="l">
              <a:defRPr sz="1600" b="0">
                <a:solidFill>
                  <a:srgbClr val="C8D2DC"/>
                </a:solidFill>
                <a:latin typeface="Calibri Light"/>
              </a:defRPr>
            </a:pPr>
            <a:r>
              <a:t>从2030年的光学秒到2040年代的核秒 — 两步走的终极频率标准</a:t>
            </a:r>
          </a:p>
        </p:txBody>
      </p:sp>
      <p:sp>
        <p:nvSpPr>
          <p:cNvPr id="6" name="Rectangle 5"/>
          <p:cNvSpPr/>
          <p:nvPr/>
        </p:nvSpPr>
        <p:spPr>
          <a:xfrm>
            <a:off x="457200" y="1645920"/>
            <a:ext cx="5486400" cy="2286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5486400" cy="45720"/>
          </a:xfrm>
          <a:prstGeom prst="rect">
            <a:avLst/>
          </a:prstGeom>
          <a:solidFill>
            <a:srgbClr val="FC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5029200" cy="1920240"/>
          </a:xfrm>
          <a:prstGeom prst="rect">
            <a:avLst/>
          </a:prstGeom>
          <a:noFill/>
        </p:spPr>
        <p:txBody>
          <a:bodyPr wrap="square">
            <a:spAutoFit/>
          </a:bodyPr>
          <a:lstStyle/>
          <a:p>
            <a:pPr algn="l">
              <a:lnSpc>
                <a:spcPts val="2860"/>
              </a:lnSpc>
              <a:spcAft>
                <a:spcPts val="300"/>
              </a:spcAft>
              <a:defRPr sz="2200" b="1">
                <a:solidFill>
                  <a:srgbClr val="FCCC00"/>
                </a:solidFill>
                <a:latin typeface="Microsoft YaHei"/>
              </a:defRPr>
            </a:pPr>
            <a:r>
              <a:t>对当前SI秒重定义路线图的影响</a:t>
            </a:r>
          </a:p>
          <a:p>
            <a:pPr algn="l">
              <a:lnSpc>
                <a:spcPts val="520"/>
              </a:lnSpc>
              <a:spcAft>
                <a:spcPts val="300"/>
              </a:spcAft>
              <a:defRPr sz="400" b="0">
                <a:solidFill>
                  <a:srgbClr val="FFFFFF"/>
                </a:solidFill>
                <a:latin typeface="Microsoft YaHei"/>
              </a:defRPr>
            </a:pPr>
          </a:p>
          <a:p>
            <a:pPr algn="l">
              <a:lnSpc>
                <a:spcPts val="2080"/>
              </a:lnSpc>
              <a:spcAft>
                <a:spcPts val="300"/>
              </a:spcAft>
              <a:defRPr sz="1600" b="0">
                <a:solidFill>
                  <a:srgbClr val="C8D2DC"/>
                </a:solidFill>
                <a:latin typeface="Microsoft YaHei"/>
              </a:defRPr>
            </a:pPr>
            <a:r>
              <a:t>• 核光钟不会影响 2030 年SI秒重定义的时间表</a:t>
            </a:r>
          </a:p>
          <a:p>
            <a:pPr algn="l">
              <a:lnSpc>
                <a:spcPts val="1820"/>
              </a:lnSpc>
              <a:spcAft>
                <a:spcPts val="300"/>
              </a:spcAft>
              <a:defRPr sz="1400" b="0">
                <a:solidFill>
                  <a:srgbClr val="94A3B8"/>
                </a:solidFill>
                <a:latin typeface="Microsoft YaHei"/>
              </a:defRPr>
            </a:pPr>
            <a:r>
              <a:t>  — 核钟技术尚在概念验证→原型阶段，远不满足强制判据</a:t>
            </a:r>
          </a:p>
          <a:p>
            <a:pPr algn="l">
              <a:lnSpc>
                <a:spcPts val="1820"/>
              </a:lnSpc>
              <a:spcAft>
                <a:spcPts val="300"/>
              </a:spcAft>
              <a:defRPr sz="1400" b="0">
                <a:solidFill>
                  <a:srgbClr val="94A3B8"/>
                </a:solidFill>
                <a:latin typeface="Microsoft YaHei"/>
              </a:defRPr>
            </a:pPr>
            <a:r>
              <a:t>  — 2030年SI秒将基于原子光钟（Sr / Al⁺ / Yb）</a:t>
            </a:r>
          </a:p>
          <a:p>
            <a:pPr algn="l">
              <a:lnSpc>
                <a:spcPts val="2080"/>
              </a:lnSpc>
              <a:spcAft>
                <a:spcPts val="300"/>
              </a:spcAft>
              <a:defRPr sz="1600" b="1">
                <a:solidFill>
                  <a:srgbClr val="14B8A6"/>
                </a:solidFill>
                <a:latin typeface="Microsoft YaHei"/>
              </a:defRPr>
            </a:pPr>
            <a:r>
              <a:t>• 但核钟提供了强大的独立验证手段：</a:t>
            </a:r>
          </a:p>
          <a:p>
            <a:pPr algn="l">
              <a:lnSpc>
                <a:spcPts val="1950"/>
              </a:lnSpc>
              <a:spcAft>
                <a:spcPts val="300"/>
              </a:spcAft>
              <a:defRPr sz="1500" b="0">
                <a:solidFill>
                  <a:srgbClr val="C8D2DC"/>
                </a:solidFill>
                <a:latin typeface="Microsoft YaHei"/>
              </a:defRPr>
            </a:pPr>
            <a:r>
              <a:t>  — 核钟-原子钟频率比比对可揭示隐藏的系统误差</a:t>
            </a:r>
          </a:p>
          <a:p>
            <a:pPr algn="l">
              <a:lnSpc>
                <a:spcPts val="1950"/>
              </a:lnSpc>
              <a:spcAft>
                <a:spcPts val="300"/>
              </a:spcAft>
              <a:defRPr sz="1500" b="0">
                <a:solidFill>
                  <a:srgbClr val="C8D2DC"/>
                </a:solidFill>
                <a:latin typeface="Microsoft YaHei"/>
              </a:defRPr>
            </a:pPr>
            <a:r>
              <a:t>  — 2030年前核钟频率比精度可望达到10⁻¹⁷，</a:t>
            </a:r>
          </a:p>
          <a:p>
            <a:pPr algn="l">
              <a:lnSpc>
                <a:spcPts val="1950"/>
              </a:lnSpc>
              <a:spcAft>
                <a:spcPts val="300"/>
              </a:spcAft>
              <a:defRPr sz="1500" b="0">
                <a:solidFill>
                  <a:srgbClr val="C8D2DC"/>
                </a:solidFill>
                <a:latin typeface="Microsoft YaHei"/>
              </a:defRPr>
            </a:pPr>
            <a:r>
              <a:t>    对当前原子光钟的不一致性排查具有重要价值</a:t>
            </a:r>
          </a:p>
        </p:txBody>
      </p:sp>
      <p:sp>
        <p:nvSpPr>
          <p:cNvPr id="9" name="Rectangle 8"/>
          <p:cNvSpPr/>
          <p:nvPr/>
        </p:nvSpPr>
        <p:spPr>
          <a:xfrm>
            <a:off x="6217920" y="1645920"/>
            <a:ext cx="5486400" cy="228600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486400" cy="45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5029200" cy="1920240"/>
          </a:xfrm>
          <a:prstGeom prst="rect">
            <a:avLst/>
          </a:prstGeom>
          <a:noFill/>
        </p:spPr>
        <p:txBody>
          <a:bodyPr wrap="square">
            <a:spAutoFit/>
          </a:bodyPr>
          <a:lstStyle/>
          <a:p>
            <a:pPr algn="l">
              <a:lnSpc>
                <a:spcPts val="2860"/>
              </a:lnSpc>
              <a:spcAft>
                <a:spcPts val="300"/>
              </a:spcAft>
              <a:defRPr sz="2200" b="1">
                <a:solidFill>
                  <a:srgbClr val="14B8A6"/>
                </a:solidFill>
                <a:latin typeface="Microsoft YaHei"/>
              </a:defRPr>
            </a:pPr>
            <a:r>
              <a:t>对基本物理的独特价值</a:t>
            </a:r>
          </a:p>
          <a:p>
            <a:pPr algn="l">
              <a:lnSpc>
                <a:spcPts val="520"/>
              </a:lnSpc>
              <a:spcAft>
                <a:spcPts val="300"/>
              </a:spcAft>
              <a:defRPr sz="400" b="0">
                <a:solidFill>
                  <a:srgbClr val="FFFFFF"/>
                </a:solidFill>
                <a:latin typeface="Microsoft YaHei"/>
              </a:defRPr>
            </a:pPr>
          </a:p>
          <a:p>
            <a:pPr algn="l">
              <a:lnSpc>
                <a:spcPts val="2080"/>
              </a:lnSpc>
              <a:spcAft>
                <a:spcPts val="300"/>
              </a:spcAft>
              <a:defRPr sz="1600" b="0">
                <a:solidFill>
                  <a:srgbClr val="C8D2DC"/>
                </a:solidFill>
                <a:latin typeface="Microsoft YaHei"/>
              </a:defRPr>
            </a:pPr>
            <a:r>
              <a:t>• 暗物质搜索：核钟对超轻玻色子暗物质的</a:t>
            </a:r>
          </a:p>
          <a:p>
            <a:pPr algn="l">
              <a:lnSpc>
                <a:spcPts val="1820"/>
              </a:lnSpc>
              <a:spcAft>
                <a:spcPts val="300"/>
              </a:spcAft>
              <a:defRPr sz="1400" b="0">
                <a:solidFill>
                  <a:srgbClr val="94A3B8"/>
                </a:solidFill>
                <a:latin typeface="Microsoft YaHei"/>
              </a:defRPr>
            </a:pPr>
            <a:r>
              <a:t>  耦合灵敏度可比原子钟高10³–10⁴倍</a:t>
            </a:r>
          </a:p>
          <a:p>
            <a:pPr algn="l">
              <a:lnSpc>
                <a:spcPts val="2080"/>
              </a:lnSpc>
              <a:spcAft>
                <a:spcPts val="300"/>
              </a:spcAft>
              <a:defRPr sz="1600" b="0">
                <a:solidFill>
                  <a:srgbClr val="C8D2DC"/>
                </a:solidFill>
                <a:latin typeface="Microsoft YaHei"/>
              </a:defRPr>
            </a:pPr>
            <a:r>
              <a:t>• 精细结构常数α时间变化：Δα/α ~ 10⁻²⁰/年精度</a:t>
            </a:r>
          </a:p>
          <a:p>
            <a:pPr algn="l">
              <a:lnSpc>
                <a:spcPts val="2080"/>
              </a:lnSpc>
              <a:spcAft>
                <a:spcPts val="300"/>
              </a:spcAft>
              <a:defRPr sz="1600" b="0">
                <a:solidFill>
                  <a:srgbClr val="C8D2DC"/>
                </a:solidFill>
                <a:latin typeface="Microsoft YaHei"/>
              </a:defRPr>
            </a:pPr>
            <a:r>
              <a:t>• 爱因斯坦等效原理检验：核-原子频率比</a:t>
            </a:r>
          </a:p>
          <a:p>
            <a:pPr algn="l">
              <a:lnSpc>
                <a:spcPts val="1820"/>
              </a:lnSpc>
              <a:spcAft>
                <a:spcPts val="300"/>
              </a:spcAft>
              <a:defRPr sz="1400" b="0">
                <a:solidFill>
                  <a:srgbClr val="94A3B8"/>
                </a:solidFill>
                <a:latin typeface="Microsoft YaHei"/>
              </a:defRPr>
            </a:pPr>
            <a:r>
              <a:t>  对引力势变化的响应不同</a:t>
            </a:r>
          </a:p>
          <a:p>
            <a:pPr algn="l">
              <a:lnSpc>
                <a:spcPts val="2080"/>
              </a:lnSpc>
              <a:spcAft>
                <a:spcPts val="300"/>
              </a:spcAft>
              <a:defRPr sz="1600" b="0">
                <a:solidFill>
                  <a:srgbClr val="C8D2DC"/>
                </a:solidFill>
                <a:latin typeface="Microsoft YaHei"/>
              </a:defRPr>
            </a:pPr>
            <a:r>
              <a:t>• 量子引力效应：核钟的极端Q因子</a:t>
            </a:r>
          </a:p>
          <a:p>
            <a:pPr algn="l">
              <a:lnSpc>
                <a:spcPts val="1820"/>
              </a:lnSpc>
              <a:spcAft>
                <a:spcPts val="300"/>
              </a:spcAft>
              <a:defRPr sz="1400" b="0">
                <a:solidFill>
                  <a:srgbClr val="94A3B8"/>
                </a:solidFill>
                <a:latin typeface="Microsoft YaHei"/>
              </a:defRPr>
            </a:pPr>
            <a:r>
              <a:t>  可能触及量子引力修正可探测范围</a:t>
            </a:r>
          </a:p>
        </p:txBody>
      </p:sp>
      <p:sp>
        <p:nvSpPr>
          <p:cNvPr id="12" name="Rectangle 11"/>
          <p:cNvSpPr/>
          <p:nvPr/>
        </p:nvSpPr>
        <p:spPr>
          <a:xfrm>
            <a:off x="457200" y="4206240"/>
            <a:ext cx="11247120" cy="2377440"/>
          </a:xfrm>
          <a:prstGeom prst="rect">
            <a:avLst/>
          </a:prstGeom>
          <a:solidFill>
            <a:srgbClr val="122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206240"/>
            <a:ext cx="112471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89120"/>
            <a:ext cx="10515600" cy="2011680"/>
          </a:xfrm>
          <a:prstGeom prst="rect">
            <a:avLst/>
          </a:prstGeom>
          <a:noFill/>
        </p:spPr>
        <p:txBody>
          <a:bodyPr wrap="square">
            <a:spAutoFit/>
          </a:bodyPr>
          <a:lstStyle/>
          <a:p>
            <a:pPr algn="l">
              <a:lnSpc>
                <a:spcPts val="2860"/>
              </a:lnSpc>
              <a:spcAft>
                <a:spcPts val="300"/>
              </a:spcAft>
              <a:defRPr sz="2200" b="1">
                <a:solidFill>
                  <a:srgbClr val="F59E0B"/>
                </a:solidFill>
                <a:latin typeface="Microsoft YaHei"/>
              </a:defRPr>
            </a:pPr>
            <a:r>
              <a:t>远景：核秒（Nuclear Second）？</a:t>
            </a:r>
          </a:p>
          <a:p>
            <a:pPr algn="l">
              <a:lnSpc>
                <a:spcPts val="520"/>
              </a:lnSpc>
              <a:spcAft>
                <a:spcPts val="300"/>
              </a:spcAft>
              <a:defRPr sz="400" b="0">
                <a:solidFill>
                  <a:srgbClr val="FFFFFF"/>
                </a:solidFill>
                <a:latin typeface="Microsoft YaHei"/>
              </a:defRPr>
            </a:pPr>
          </a:p>
          <a:p>
            <a:pPr algn="l">
              <a:lnSpc>
                <a:spcPts val="2080"/>
              </a:lnSpc>
              <a:spcAft>
                <a:spcPts val="300"/>
              </a:spcAft>
              <a:defRPr sz="1600" b="0">
                <a:solidFill>
                  <a:srgbClr val="C8D2DC"/>
                </a:solidFill>
                <a:latin typeface="Microsoft YaHei"/>
              </a:defRPr>
            </a:pPr>
            <a:r>
              <a:t>2040年代的可能性：如果固态核钟工程化成功，并验证优于10⁻¹⁹的不确定度，</a:t>
            </a:r>
          </a:p>
          <a:p>
            <a:pPr algn="l">
              <a:lnSpc>
                <a:spcPts val="2080"/>
              </a:lnSpc>
              <a:spcAft>
                <a:spcPts val="300"/>
              </a:spcAft>
              <a:defRPr sz="1600" b="0">
                <a:solidFill>
                  <a:srgbClr val="C8D2DC"/>
                </a:solidFill>
                <a:latin typeface="Microsoft YaHei"/>
              </a:defRPr>
            </a:pPr>
            <a:r>
              <a:t>它将成为SI秒"再重定义"的最强候选。关键场景：</a:t>
            </a:r>
          </a:p>
          <a:p>
            <a:pPr algn="l">
              <a:lnSpc>
                <a:spcPts val="260"/>
              </a:lnSpc>
              <a:spcAft>
                <a:spcPts val="300"/>
              </a:spcAft>
              <a:defRPr sz="200" b="0">
                <a:solidFill>
                  <a:srgbClr val="FFFFFF"/>
                </a:solidFill>
                <a:latin typeface="Microsoft YaHei"/>
              </a:defRPr>
            </a:pPr>
          </a:p>
          <a:p>
            <a:pPr algn="l">
              <a:lnSpc>
                <a:spcPts val="1950"/>
              </a:lnSpc>
              <a:spcAft>
                <a:spcPts val="300"/>
              </a:spcAft>
              <a:defRPr sz="1500" b="0">
                <a:solidFill>
                  <a:srgbClr val="C8D2DC"/>
                </a:solidFill>
                <a:latin typeface="Microsoft YaHei"/>
              </a:defRPr>
            </a:pPr>
            <a:r>
              <a:t>• 可搬运性 vs 精度：固态核钟可能同时实现"芯片级"与"10⁻¹⁹"——这是传统原子光钟无法同时满足的</a:t>
            </a:r>
          </a:p>
          <a:p>
            <a:pPr algn="l">
              <a:lnSpc>
                <a:spcPts val="1950"/>
              </a:lnSpc>
              <a:spcAft>
                <a:spcPts val="300"/>
              </a:spcAft>
              <a:defRPr sz="1500" b="0">
                <a:solidFill>
                  <a:srgbClr val="C8D2DC"/>
                </a:solidFill>
                <a:latin typeface="Microsoft YaHei"/>
              </a:defRPr>
            </a:pPr>
            <a:r>
              <a:t>• 大规模部署：低成本的固态核钟可实现全球计量网络覆盖，彻底解决时频传递链路瓶颈</a:t>
            </a:r>
          </a:p>
          <a:p>
            <a:pPr algn="l">
              <a:lnSpc>
                <a:spcPts val="1950"/>
              </a:lnSpc>
              <a:spcAft>
                <a:spcPts val="300"/>
              </a:spcAft>
              <a:defRPr sz="1500" b="0">
                <a:solidFill>
                  <a:srgbClr val="C8D2DC"/>
                </a:solidFill>
                <a:latin typeface="Microsoft YaHei"/>
              </a:defRPr>
            </a:pPr>
            <a:r>
              <a:t>• 两级体系：原子光钟→核光钟的两级频率标准体系，可提供冗余和交叉验证</a:t>
            </a:r>
          </a:p>
          <a:p>
            <a:pPr algn="l">
              <a:lnSpc>
                <a:spcPts val="1950"/>
              </a:lnSpc>
              <a:spcAft>
                <a:spcPts val="300"/>
              </a:spcAft>
              <a:defRPr sz="1500" b="0">
                <a:solidFill>
                  <a:srgbClr val="F59E0B"/>
                </a:solidFill>
                <a:latin typeface="Microsoft YaHei"/>
              </a:defRPr>
            </a:pPr>
            <a:r>
              <a:t>• 但目前核钟仍处于基础研究阶段——从概念验证到实用化还有至少10–15年路程</a:t>
            </a:r>
          </a:p>
        </p:txBody>
      </p:sp>
      <p:sp>
        <p:nvSpPr>
          <p:cNvPr id="15" name="TextBox 14"/>
          <p:cNvSpPr txBox="1"/>
          <p:nvPr/>
        </p:nvSpPr>
        <p:spPr>
          <a:xfrm>
            <a:off x="457200" y="6400800"/>
            <a:ext cx="10972800" cy="274320"/>
          </a:xfrm>
          <a:prstGeom prst="rect">
            <a:avLst/>
          </a:prstGeom>
          <a:noFill/>
        </p:spPr>
        <p:txBody>
          <a:bodyPr wrap="square">
            <a:spAutoFit/>
          </a:bodyPr>
          <a:lstStyle/>
          <a:p>
            <a:pPr algn="l">
              <a:defRPr sz="1000" b="0">
                <a:solidFill>
                  <a:srgbClr val="94A3B8"/>
                </a:solidFill>
                <a:latin typeface="Calibri"/>
              </a:defRPr>
            </a:pPr>
            <a:r>
              <a:t>来源: prospects arXiv:2511.13017 (2025); Ooi et al., Nature (2026); Beeks et al., Nat. Rev. Phys. (2025); PMC review (2026); MDPI Photonics (2026); CCTF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