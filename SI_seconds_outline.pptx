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SI秒的重新定义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意义 · 进程 · 条件 · 现状</a:t>
            </a:r>
            <a:br/>
            <a:r>
              <a:t>精选大纲 — 标注每页素材来源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报告结构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一、为什么秒重要？            → 秒定义.pptx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二、重定义路线图与判据        → CCTF议题.pptx + 光钟介绍.pptx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三、超稳激光 — 光钟的心脏      → EFTF 2024会议小结.pptx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四、光钟网络与比对            → BACON + PTB上海2024.pptx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五、时频传递 — 比对的桥梁      → 自由空间TFT.pptx + 百公里TFT.pptx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六、核光钟 — 下一代标准        → BD交流.pptx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七、中国贡献与全球版图         → 中高轨项目.pptx + BD交流.pptx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八、总结与展望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一、为什么秒重要？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秒的核心地位与重定义动机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秒定义.pptx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第1页 → 精密测量进入量子时代 — 开篇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秒定义.pptx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第2页 → SI基本单位溯源关系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秒定义.pptx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第3页 → 秒重定义的意义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光钟介绍.pptx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第1页 → 精密计时的需求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光钟介绍.pptx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第2页 → 光钟 vs 微波钟对比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光钟介绍.pptx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第3页 → 光钟技术路线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二、重定义路线图与判据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CCTF路线图与强制性判据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CCTF议题.pptx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第1页 → 国际时频咨询委员会介绍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CCTF议题.pptx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第5页 → 秒重定义路线图时间线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CCTF议题.pptx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第10页 → 强制性判据详述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CCTF议题.pptx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第15页 → 判据满足进度评估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CCTF议题.pptx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第20页 → 关键挑战讨论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光钟介绍.pptx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第4页 → 主要光钟类型概览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三、超稳激光 — 光钟的心脏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超稳激光进展 (EFTF 2024 会议小结)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EFTF 2024会议小结.pptx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第2页 → 68cm超稳激光 — 概述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EFTF 2024会议小结.pptx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第3页 → 超稳激光性能对比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EFTF 2024会议小结.pptx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第5页 → 低温硅腔进展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EFTF 2024会议小结.pptx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第8页 → 晶体镀层超稳腔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EFTF 2024会议小结.pptx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第13页 → PTB 超稳激光漂移率测量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EFTF 2024会议小结.pptx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第16页 → 多腔频率平均方案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四、光钟网络与比对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国际光钟比对活动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PTB上海2024.pptx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第1页 → 多离子钟 — PTB Tanja Mehlstäubler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PTB上海2024.pptx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第3页 → In⁺/Yb⁺ 离子钟进展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PTB上海2024.pptx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第5页 → 多离子钟比对方案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BD交流.pptx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第5页 → 中国光钟网络规划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BD交流.pptx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第8页 → 光钟比对技术路线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BD交流.pptx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第15页 → 国际光钟比对现状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五、时频传递 — 比对的桥梁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自由空间时频传递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自由空间TFT.pptx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第1页 → 计量标准量子化 — 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自由空间TFT.pptx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第2页 → 113km LOS 光学设计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自由空间TFT.pptx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第4页 → 400mm光学收发望远镜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自由空间TFT.pptx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第10页 → 时间传递 TDEV 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自由空间TFT.pptx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第12页 → CCTF 时频传递链路要求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自由空间TFT.pptx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第14页 → 频率传递 MDEV 结果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光纤时频传递与卫星方案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百公里TFT.pptx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第1页 → 百公里自由空间时频传递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百公里TFT.pptx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第10页 → 光纤频率传递链路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百公里TFT.pptx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第25页 → 自由空间 vs 光纤性能对比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中高轨项目.pptx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第1页 → 中高轨量子卫星时频比对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中高轨项目.pptx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第5页 → 卫星共视光钟比对方案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中高轨项目.pptx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第10页 → 星地链路预算分析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六、核光钟 — 下一代标准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钍-229核光钟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BD交流.pptx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第20页 → 核光钟原理 — ²²⁹Th跃迁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BD交流.pptx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第22页 → 固态核钟方案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BD交流.pptx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第25页 → 核光钟最新进展 (2024-2025)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CW VUV 激光突破 — 清华丁世谦 Nature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JILA Ye 组核钟复现性 Nature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核钟 vs 原子钟频率比现状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七、中国贡献与全球版图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中国时频技术能力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百公里TFT.pptx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第5页 → 113km实验系统架构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中高轨项目.pptx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第3页 → 中高轨量子卫星载荷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中高轨项目.pptx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第8页 → 卫星时频比对覆盖分析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BD交流.pptx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第30页 → 中国光钟实验室分布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BD交流.pptx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第35页 → 国际光钟网络比较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NTSC NimSrI 4.8×10⁻¹⁸ 成果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八、总结与展望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9BBB59"/>
                </a:solidFill>
                <a:latin typeface="微软雅黑"/>
              </a:defRPr>
            </a:pPr>
            <a:r>
              <a:t>✅ 已达成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   光钟不确定度突破 10⁻¹⁸ (Sr 8×10⁻¹⁹, Al⁺ 5.5×10⁻¹⁹)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   BACON 频率比 ≤3.2×10⁻¹⁸ — 满足判据 I.2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   光纤链路达 10⁻¹⁹ 级，自由空间 113km 已验证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F497D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2200" b="1">
                <a:solidFill>
                  <a:srgbClr val="ED7D31"/>
                </a:solidFill>
                <a:latin typeface="微软雅黑"/>
              </a:defRPr>
            </a:pPr>
            <a:r>
              <a:t>⚠️ 进行中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   系统不一致性排查 (Sr 偏差 ~10⁻¹⁶)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   OFS 对 TAI 常态化贡献尚未满足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   大地水准面精度需提升至 cm 级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F497D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2200" b="1">
                <a:solidFill>
                  <a:srgbClr val="C0504D"/>
                </a:solidFill>
                <a:latin typeface="微软雅黑"/>
              </a:defRPr>
            </a:pPr>
            <a:r>
              <a:t>🎯 2026-2030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   2026 CGPM 提交草案 → 2030 CGPM 投票批准 → 光秒时代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使用说明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F497D"/>
                </a:solidFill>
                <a:latin typeface="微软雅黑"/>
              </a:defRPr>
            </a:pPr>
            <a:r>
              <a:t>这是一个"大纲+素材索引"PPT。制作完整版的方法：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F497D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1. 打开本PPT和源PPT（位于 /data/交流/ 目录）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2. 按每页标注的"📄 源PPT名 → 第N页"找到对应的幻灯片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3. 在PowerPoint中将源幻灯片复制→粘贴到本PPT对应位置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4. 标记"(需补充)"的页面需新建 — 建议模仿已有幻灯片排版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5. 最后删除本"使用说明"页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1F497D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C0504D"/>
                </a:solidFill>
                <a:latin typeface="微软雅黑"/>
              </a:defRPr>
            </a:pPr>
            <a:r>
              <a:t>源PPT位置（均为完整路径）：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1F497D"/>
                </a:solidFill>
                <a:latin typeface="微软雅黑"/>
              </a:defRPr>
            </a:pPr>
            <a:r>
              <a:t>   /data/交流/old/秒定义.pptx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1F497D"/>
                </a:solidFill>
                <a:latin typeface="微软雅黑"/>
              </a:defRPr>
            </a:pPr>
            <a:r>
              <a:t>   /data/交流/old/光钟介绍.pptx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1F497D"/>
                </a:solidFill>
                <a:latin typeface="微软雅黑"/>
              </a:defRPr>
            </a:pPr>
            <a:r>
              <a:t>   /data/交流/old/国际时间频率咨询委员会议题讨论介绍.pptx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1F497D"/>
                </a:solidFill>
                <a:latin typeface="微软雅黑"/>
              </a:defRPr>
            </a:pPr>
            <a:r>
              <a:t>   /data/交流/0.EFTF 2024会议小结.pptx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1F497D"/>
                </a:solidFill>
                <a:latin typeface="微软雅黑"/>
              </a:defRPr>
            </a:pPr>
            <a:r>
              <a:t>   /data/交流/PTB Tanja_Shanghai 2024 4月.pptx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1F497D"/>
                </a:solidFill>
                <a:latin typeface="微软雅黑"/>
              </a:defRPr>
            </a:pPr>
            <a:r>
              <a:t>   /data/交流/2024-3-29 BD交流.pptx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1F497D"/>
                </a:solidFill>
                <a:latin typeface="微软雅黑"/>
              </a:defRPr>
            </a:pPr>
            <a:r>
              <a:t>   /data/交流/2024西安504/自由空间时间频率传递.pptx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1F497D"/>
                </a:solidFill>
                <a:latin typeface="微软雅黑"/>
              </a:defRPr>
            </a:pPr>
            <a:r>
              <a:t>   /data/交流/old/百公里自由空间时频传递20210924.pptx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1F497D"/>
                </a:solidFill>
                <a:latin typeface="微软雅黑"/>
              </a:defRPr>
            </a:pPr>
            <a:r>
              <a:t>   /data/交流/中高轨项目介绍-v4.1 hj.pptx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